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png" ContentType="image/png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71c10193847a4188" /><Relationship Type="http://schemas.openxmlformats.org/package/2006/relationships/metadata/core-properties" Target="/docProps/core.xml" Id="Rb30d611cc9a149d9" /><Relationship Type="http://schemas.openxmlformats.org/officeDocument/2006/relationships/extended-properties" Target="/docProps/app.xml" Id="Rcb1529f89fa0499f" /><Relationship Type="http://schemas.openxmlformats.org/officeDocument/2006/relationships/custom-properties" Target="/docProps/custom.xml" Id="R2caad1dbde9b45d4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fb6db0f7faa64067"/>
  </p:notesMasterIdLst>
  <p:sldIdLst>
    <p:sldId id="256" r:id="R6e4fc06da445474d"/>
    <p:sldId id="257" r:id="R2f623d22775a403a"/>
    <p:sldId id="258" r:id="R8a39f26133cf4656"/>
    <p:sldId id="259" r:id="R47c221e310c74f50"/>
  </p:sldIdLst>
  <p:sldSz cx="12192000" cy="6858000" type="custom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6e4fc06da445474d" /><Relationship Type="http://schemas.openxmlformats.org/officeDocument/2006/relationships/notesMaster" Target="/ppt/notesMasters/notesMaster1.xml" Id="Rfb6db0f7faa64067" /><Relationship Type="http://schemas.openxmlformats.org/officeDocument/2006/relationships/slide" Target="/ppt/slides/slide2.xml" Id="R2f623d22775a403a" /><Relationship Type="http://schemas.openxmlformats.org/officeDocument/2006/relationships/slide" Target="/ppt/slides/slide3.xml" Id="R8a39f26133cf4656" /><Relationship Type="http://schemas.openxmlformats.org/officeDocument/2006/relationships/slide" Target="/ppt/slides/slide4.xml" Id="R47c221e310c74f5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be6c60435a04944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d2dcd4773afc44bf" /><Relationship Type="http://schemas.openxmlformats.org/officeDocument/2006/relationships/slide" Target="/ppt/slides/slide1.xml" Id="R456d7cc717c648a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bc890b4a0e074113" /><Relationship Type="http://schemas.openxmlformats.org/officeDocument/2006/relationships/slide" Target="/ppt/slides/slide2.xml" Id="Rdf770d8125ce4be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997eed9c57b0408f" /><Relationship Type="http://schemas.openxmlformats.org/officeDocument/2006/relationships/slide" Target="/ppt/slides/slide3.xml" Id="R813c059b1adc4a1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2676a5b85dfb479f" /><Relationship Type="http://schemas.openxmlformats.org/officeDocument/2006/relationships/slide" Target="/ppt/slides/slide4.xml" Id="Rbad8b18f8ecb417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Duration: about 20 seconds.</a:t>
            </a:r>
          </a:p>
          <a:p xmlns:a="http://schemas.openxmlformats.org/drawingml/2006/main">
            <a:r>
              <a:rPr lang="en-US"/>
              <a:t>Cover. Say: this is a progress report, not a results talk.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Duration: about 60 seconds.</a:t>
            </a:r>
          </a:p>
          <a:p xmlns:a="http://schemas.openxmlformats.org/drawingml/2006/main">
            <a:r>
              <a:rPr lang="en-US"/>
              <a:t>One sentence on the left, three commitments on the right. Do not read the three rows aloud; they qualify the sentence, they do not repeat it. Close on the last line: training is not on the critical path.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Duration: about 50 seconds.</a:t>
            </a:r>
          </a:p>
          <a:p xmlns:a="http://schemas.openxmlformats.org/drawingml/2006/main">
            <a:r>
              <a:rPr lang="en-US"/>
              <a:t>A chain, read top to bottom. Three pieces, three roles; the model sits inside the middle one. The last line is the methodological point: a run means nothing without a network whose truth is known.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Duration: about 80 seconds.</a:t>
            </a:r>
          </a:p>
          <a:p xmlns:a="http://schemas.openxmlformats.org/drawingml/2006/main">
            <a:r>
              <a:rPr lang="en-US"/>
              <a:t>Two halves. Left: we recompute from the log, never from the conclusion. Right: the same trial runs on both configurations, so a false positive is visible. The bottom band is the second half of the rule.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d048a29832487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883d182177442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ce821d524b48c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dcbaeab08f419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50391e24634e3f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f23aafff5912416d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a38bd8d94e4fcb" /><Relationship Type="http://schemas.openxmlformats.org/officeDocument/2006/relationships/notesSlide" Target="/ppt/notesSlides/notesSlide1.xml" Id="R84a23a56a31a486a" /><Relationship Type="http://schemas.openxmlformats.org/officeDocument/2006/relationships/image" Target="/ppt/media/image.png" Id="R8540c212ed73484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0ea181440348d9" /><Relationship Type="http://schemas.openxmlformats.org/officeDocument/2006/relationships/notesSlide" Target="/ppt/notesSlides/notesSlide2.xml" Id="R28dea1acc8134d0b" /><Relationship Type="http://schemas.openxmlformats.org/officeDocument/2006/relationships/image" Target="/ppt/media/image2.png" Id="R7463a3db8ccf473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ba4be58d224bd5" /><Relationship Type="http://schemas.openxmlformats.org/officeDocument/2006/relationships/notesSlide" Target="/ppt/notesSlides/notesSlide3.xml" Id="R7652609113764057" /><Relationship Type="http://schemas.openxmlformats.org/officeDocument/2006/relationships/image" Target="/ppt/media/image3.png" Id="R1c8d80b3d56f481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d1fcb57ad44c62" /><Relationship Type="http://schemas.openxmlformats.org/officeDocument/2006/relationships/notesSlide" Target="/ppt/notesSlides/notesSlide4.xml" Id="R162b6c28f98e42db" /><Relationship Type="http://schemas.openxmlformats.org/officeDocument/2006/relationships/image" Target="/ppt/media/image4.png" Id="R0e0c216dbd0b4c2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00" name="Element-3"/>
          <p:cNvSpPr/>
          <p:nvPr/>
        </p:nvSpPr>
        <p:spPr>
          <a:xfrm xmlns:a="http://schemas.openxmlformats.org/drawingml/2006/main">
            <a:off x="792000" y="990000"/>
            <a:ext cx="50400" cy="21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0036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20252D"/>
              </a:solidFill>
              <a:latin typeface="Arial"/>
              <a:ea typeface="Arial"/>
            </a:endParaRPr>
          </a:p>
        </p:txBody>
      </p:sp>
      <p:sp>
        <p:nvSpPr>
          <p:cNvPr id="100001" name="Element-4"/>
          <p:cNvSpPr/>
          <p:nvPr/>
        </p:nvSpPr>
        <p:spPr>
          <a:xfrm xmlns:a="http://schemas.openxmlformats.org/drawingml/2006/main">
            <a:off x="1206000" y="918000"/>
            <a:ext cx="7920000" cy="93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4600" b="1" i="0">
                <a:solidFill>
                  <a:srgbClr val="20252D"/>
                </a:solidFill>
                <a:latin typeface="Arial"/>
                <a:ea typeface="Arial"/>
              </a:rPr>
              <a:t>LANCE</a:t>
            </a:r>
          </a:p>
        </p:txBody>
      </p:sp>
      <p:sp>
        <p:nvSpPr>
          <p:cNvPr id="100002" name="Element-5"/>
          <p:cNvSpPr/>
          <p:nvPr/>
        </p:nvSpPr>
        <p:spPr>
          <a:xfrm xmlns:a="http://schemas.openxmlformats.org/drawingml/2006/main">
            <a:off x="1206000" y="1926000"/>
            <a:ext cx="7020000" cy="75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850" b="0" i="0">
                <a:solidFill>
                  <a:srgbClr val="5C626C"/>
                </a:solidFill>
                <a:latin typeface="Arial"/>
                <a:ea typeface="Arial"/>
              </a:rPr>
              <a:t>An autonomous and verifiable auditor</a:t>
            </a:r>
          </a:p>
          <a:p xmlns:a="http://schemas.openxmlformats.org/drawingml/2006/main">
            <a:pPr algn="l"/>
            <a:r>
              <a:rPr lang="en-US" sz="1850" b="0" i="0">
                <a:solidFill>
                  <a:srgbClr val="5C626C"/>
                </a:solidFill>
                <a:latin typeface="Arial"/>
                <a:ea typeface="Arial"/>
              </a:rPr>
              <a:t>for IoT/IIoT networks</a:t>
            </a:r>
          </a:p>
        </p:txBody>
      </p:sp>
      <p:sp>
        <p:nvSpPr>
          <p:cNvPr id="100003" name="Element-6"/>
          <p:cNvSpPr/>
          <p:nvPr/>
        </p:nvSpPr>
        <p:spPr>
          <a:xfrm xmlns:a="http://schemas.openxmlformats.org/drawingml/2006/main">
            <a:off x="792000" y="3330000"/>
            <a:ext cx="10608000" cy="1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20252D"/>
              </a:solidFill>
              <a:latin typeface="Arial"/>
              <a:ea typeface="Arial"/>
            </a:endParaRPr>
          </a:p>
        </p:txBody>
      </p:sp>
      <p:sp>
        <p:nvSpPr>
          <p:cNvPr id="100004" name="Element-7"/>
          <p:cNvSpPr/>
          <p:nvPr/>
        </p:nvSpPr>
        <p:spPr>
          <a:xfrm xmlns:a="http://schemas.openxmlformats.org/drawingml/2006/main">
            <a:off x="1206000" y="3474000"/>
            <a:ext cx="720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700" b="1" i="0">
                <a:solidFill>
                  <a:srgbClr val="B60036"/>
                </a:solidFill>
                <a:latin typeface="Arial"/>
                <a:ea typeface="Arial"/>
              </a:rPr>
              <a:t>Progress report — NATO SPS G6259</a:t>
            </a:r>
          </a:p>
        </p:txBody>
      </p:sp>
      <p:sp>
        <p:nvSpPr>
          <p:cNvPr id="100005" name="Element-8"/>
          <p:cNvSpPr/>
          <p:nvPr/>
        </p:nvSpPr>
        <p:spPr>
          <a:xfrm xmlns:a="http://schemas.openxmlformats.org/drawingml/2006/main">
            <a:off x="1206000" y="3870000"/>
            <a:ext cx="720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350" b="0" i="0">
                <a:solidFill>
                  <a:srgbClr val="5C626C"/>
                </a:solidFill>
                <a:latin typeface="Arial"/>
                <a:ea typeface="Arial"/>
              </a:rPr>
              <a:t>23 October 2026  ·  Université de Mons, ILIA</a:t>
            </a:r>
          </a:p>
        </p:txBody>
      </p:sp>
      <p:sp>
        <p:nvSpPr>
          <p:cNvPr id="100006" name="Element-9"/>
          <p:cNvSpPr/>
          <p:nvPr/>
        </p:nvSpPr>
        <p:spPr>
          <a:xfrm xmlns:a="http://schemas.openxmlformats.org/drawingml/2006/main">
            <a:off x="792000" y="4806000"/>
            <a:ext cx="4176000" cy="55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CF0F4"/>
          </a:solidFill>
          <a:ln xmlns:a="http://schemas.openxmlformats.org/drawingml/2006/main" w="12700">
            <a:solidFill>
              <a:srgbClr val="FCF0F4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20252D"/>
              </a:solidFill>
              <a:latin typeface="Arial"/>
              <a:ea typeface="Arial"/>
            </a:endParaRPr>
          </a:p>
        </p:txBody>
      </p:sp>
      <p:sp>
        <p:nvSpPr>
          <p:cNvPr id="100007" name="Element-10"/>
          <p:cNvSpPr/>
          <p:nvPr/>
        </p:nvSpPr>
        <p:spPr>
          <a:xfrm xmlns:a="http://schemas.openxmlformats.org/drawingml/2006/main">
            <a:off x="1008000" y="5022000"/>
            <a:ext cx="180000" cy="5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0036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20252D"/>
              </a:solidFill>
              <a:latin typeface="Arial"/>
              <a:ea typeface="Arial"/>
            </a:endParaRPr>
          </a:p>
        </p:txBody>
      </p:sp>
      <p:sp>
        <p:nvSpPr>
          <p:cNvPr id="100008" name="Element-11"/>
          <p:cNvSpPr/>
          <p:nvPr/>
        </p:nvSpPr>
        <p:spPr>
          <a:xfrm xmlns:a="http://schemas.openxmlformats.org/drawingml/2006/main">
            <a:off x="1224000" y="4824000"/>
            <a:ext cx="3672000" cy="52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400" b="0" i="1">
                <a:solidFill>
                  <a:srgbClr val="5C626C"/>
                </a:solidFill>
                <a:latin typeface="Arial"/>
                <a:ea typeface="Arial"/>
              </a:rPr>
              <a:t>Status: work in progress.</a:t>
            </a:r>
          </a:p>
        </p:txBody>
      </p:sp>
      <p:pic>
        <p:nvPicPr>
          <p:cNvPr id="100009" name="Picture 1" descr="SMart ILIA — UMON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40c212ed734847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9702000" y="504000"/>
            <a:ext cx="1872000" cy="641551"/>
          </a:xfrm>
          <a:prstGeom xmlns:a="http://schemas.openxmlformats.org/drawingml/2006/main" prst="rect">
            <a:avLst/>
          </a:prstGeom>
        </p:spPr>
      </p:pic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pic>
        <p:nvPicPr>
          <p:cNvPr id="100010" name="Picture 1" descr="SMart ILIA — UMON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63a3db8ccf4733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9702000" y="216000"/>
            <a:ext cx="1699200" cy="582331"/>
          </a:xfrm>
          <a:prstGeom xmlns:a="http://schemas.openxmlformats.org/drawingml/2006/main" prst="rect">
            <a:avLst/>
          </a:prstGeom>
        </p:spPr>
      </p:pic>
      <p:sp>
        <p:nvSpPr>
          <p:cNvPr id="100011" name="Element-4"/>
          <p:cNvSpPr/>
          <p:nvPr/>
        </p:nvSpPr>
        <p:spPr>
          <a:xfrm xmlns:a="http://schemas.openxmlformats.org/drawingml/2006/main">
            <a:off x="792000" y="309600"/>
            <a:ext cx="1764000" cy="20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950" b="0" i="0">
                <a:solidFill>
                  <a:srgbClr val="B60036"/>
                </a:solidFill>
                <a:latin typeface="Arial"/>
                <a:ea typeface="Arial"/>
              </a:rPr>
              <a:t>Objective</a:t>
            </a:r>
          </a:p>
        </p:txBody>
      </p:sp>
      <p:sp>
        <p:nvSpPr>
          <p:cNvPr id="100012" name="Element-5"/>
          <p:cNvSpPr/>
          <p:nvPr/>
        </p:nvSpPr>
        <p:spPr>
          <a:xfrm xmlns:a="http://schemas.openxmlformats.org/drawingml/2006/main">
            <a:off x="792000" y="529200"/>
            <a:ext cx="1764000" cy="1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0036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20252D"/>
              </a:solidFill>
              <a:latin typeface="Arial"/>
              <a:ea typeface="Arial"/>
            </a:endParaRPr>
          </a:p>
        </p:txBody>
      </p:sp>
      <p:sp>
        <p:nvSpPr>
          <p:cNvPr id="100013" name="Element-6"/>
          <p:cNvSpPr/>
          <p:nvPr/>
        </p:nvSpPr>
        <p:spPr>
          <a:xfrm xmlns:a="http://schemas.openxmlformats.org/drawingml/2006/main">
            <a:off x="2736000" y="309600"/>
            <a:ext cx="1764000" cy="20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950" b="0" i="0">
                <a:solidFill>
                  <a:srgbClr val="5C626C"/>
                </a:solidFill>
                <a:latin typeface="Arial"/>
                <a:ea typeface="Arial"/>
              </a:rPr>
              <a:t>Instrument</a:t>
            </a:r>
          </a:p>
        </p:txBody>
      </p:sp>
      <p:sp>
        <p:nvSpPr>
          <p:cNvPr id="100014" name="Element-7"/>
          <p:cNvSpPr/>
          <p:nvPr/>
        </p:nvSpPr>
        <p:spPr>
          <a:xfrm xmlns:a="http://schemas.openxmlformats.org/drawingml/2006/main">
            <a:off x="4680000" y="309600"/>
            <a:ext cx="1764000" cy="20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950" b="0" i="0">
                <a:solidFill>
                  <a:srgbClr val="5C626C"/>
                </a:solidFill>
                <a:latin typeface="Arial"/>
                <a:ea typeface="Arial"/>
              </a:rPr>
              <a:t>Hypotheses</a:t>
            </a:r>
          </a:p>
        </p:txBody>
      </p:sp>
      <p:sp>
        <p:nvSpPr>
          <p:cNvPr id="100015" name="Element-8"/>
          <p:cNvSpPr/>
          <p:nvPr/>
        </p:nvSpPr>
        <p:spPr>
          <a:xfrm xmlns:a="http://schemas.openxmlformats.org/drawingml/2006/main">
            <a:off x="6624000" y="309600"/>
            <a:ext cx="1764000" cy="20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950" b="0" i="0">
                <a:solidFill>
                  <a:srgbClr val="5C626C"/>
                </a:solidFill>
                <a:latin typeface="Arial"/>
                <a:ea typeface="Arial"/>
              </a:rPr>
              <a:t>Outlook</a:t>
            </a:r>
          </a:p>
        </p:txBody>
      </p:sp>
      <p:sp>
        <p:nvSpPr>
          <p:cNvPr id="100016" name="Title"/>
          <p:cNvSpPr/>
          <p:nvPr/>
        </p:nvSpPr>
        <p:spPr>
          <a:xfrm xmlns:a="http://schemas.openxmlformats.org/drawingml/2006/main">
            <a:off x="792000" y="612000"/>
            <a:ext cx="8748000" cy="6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2900" b="1" i="0">
                <a:solidFill>
                  <a:srgbClr val="20252D"/>
                </a:solidFill>
                <a:latin typeface="Arial"/>
                <a:ea typeface="Arial"/>
              </a:rPr>
              <a:t>The objective</a:t>
            </a:r>
          </a:p>
        </p:txBody>
      </p:sp>
      <p:sp>
        <p:nvSpPr>
          <p:cNvPr id="100017" name="Element-10"/>
          <p:cNvSpPr/>
          <p:nvPr/>
        </p:nvSpPr>
        <p:spPr>
          <a:xfrm xmlns:a="http://schemas.openxmlformats.org/drawingml/2006/main">
            <a:off x="792000" y="1303200"/>
            <a:ext cx="1224000" cy="2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0036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20252D"/>
              </a:solidFill>
              <a:latin typeface="Arial"/>
              <a:ea typeface="Arial"/>
            </a:endParaRPr>
          </a:p>
        </p:txBody>
      </p:sp>
      <p:sp>
        <p:nvSpPr>
          <p:cNvPr id="100018" name="Element-11"/>
          <p:cNvSpPr/>
          <p:nvPr/>
        </p:nvSpPr>
        <p:spPr>
          <a:xfrm xmlns:a="http://schemas.openxmlformats.org/drawingml/2006/main">
            <a:off x="792000" y="1944000"/>
            <a:ext cx="4302400" cy="151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2500" b="1" i="0">
                <a:solidFill>
                  <a:srgbClr val="20252D"/>
                </a:solidFill>
                <a:latin typeface="Arial"/>
                <a:ea typeface="Arial"/>
              </a:rPr>
              <a:t>An auditor that explores, identifies, verifies and reports.</a:t>
            </a:r>
          </a:p>
        </p:txBody>
      </p:sp>
      <p:sp>
        <p:nvSpPr>
          <p:cNvPr id="100019" name="Element-12"/>
          <p:cNvSpPr/>
          <p:nvPr/>
        </p:nvSpPr>
        <p:spPr>
          <a:xfrm xmlns:a="http://schemas.openxmlformats.org/drawingml/2006/main">
            <a:off x="792000" y="3636000"/>
            <a:ext cx="936000" cy="3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0036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20252D"/>
              </a:solidFill>
              <a:latin typeface="Arial"/>
              <a:ea typeface="Arial"/>
            </a:endParaRPr>
          </a:p>
        </p:txBody>
      </p:sp>
      <p:sp>
        <p:nvSpPr>
          <p:cNvPr id="100020" name="Element-13"/>
          <p:cNvSpPr/>
          <p:nvPr/>
        </p:nvSpPr>
        <p:spPr>
          <a:xfrm xmlns:a="http://schemas.openxmlformats.org/drawingml/2006/main">
            <a:off x="5296000" y="1764000"/>
            <a:ext cx="6104000" cy="91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12700">
            <a:solidFill>
              <a:srgbClr val="D9DEE5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20252D"/>
              </a:solidFill>
              <a:latin typeface="Arial"/>
              <a:ea typeface="Arial"/>
            </a:endParaRPr>
          </a:p>
        </p:txBody>
      </p:sp>
      <p:sp>
        <p:nvSpPr>
          <p:cNvPr id="100021" name="Element-14"/>
          <p:cNvSpPr/>
          <p:nvPr/>
        </p:nvSpPr>
        <p:spPr>
          <a:xfrm xmlns:a="http://schemas.openxmlformats.org/drawingml/2006/main">
            <a:off x="5296000" y="1962000"/>
            <a:ext cx="57600" cy="52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0036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20252D"/>
              </a:solidFill>
              <a:latin typeface="Arial"/>
              <a:ea typeface="Arial"/>
            </a:endParaRPr>
          </a:p>
        </p:txBody>
      </p:sp>
      <p:sp>
        <p:nvSpPr>
          <p:cNvPr id="100022" name="Element-15"/>
          <p:cNvSpPr/>
          <p:nvPr/>
        </p:nvSpPr>
        <p:spPr>
          <a:xfrm xmlns:a="http://schemas.openxmlformats.org/drawingml/2006/main">
            <a:off x="5602000" y="1915200"/>
            <a:ext cx="55640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600" b="1" i="0">
                <a:solidFill>
                  <a:srgbClr val="20252D"/>
                </a:solidFill>
                <a:latin typeface="Arial"/>
                <a:ea typeface="Arial"/>
              </a:rPr>
              <a:t>Under which conditions</a:t>
            </a:r>
          </a:p>
        </p:txBody>
      </p:sp>
      <p:sp>
        <p:nvSpPr>
          <p:cNvPr id="100023" name="Element-16"/>
          <p:cNvSpPr/>
          <p:nvPr/>
        </p:nvSpPr>
        <p:spPr>
          <a:xfrm xmlns:a="http://schemas.openxmlformats.org/drawingml/2006/main">
            <a:off x="5602000" y="2286000"/>
            <a:ext cx="5564000" cy="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250" b="0" i="0">
                <a:solidFill>
                  <a:srgbClr val="5C626C"/>
                </a:solidFill>
                <a:latin typeface="Arial"/>
                <a:ea typeface="Arial"/>
              </a:rPr>
              <a:t>rather than which model prevails</a:t>
            </a:r>
          </a:p>
        </p:txBody>
      </p:sp>
      <p:sp>
        <p:nvSpPr>
          <p:cNvPr id="100024" name="Element-17"/>
          <p:cNvSpPr/>
          <p:nvPr/>
        </p:nvSpPr>
        <p:spPr>
          <a:xfrm xmlns:a="http://schemas.openxmlformats.org/drawingml/2006/main">
            <a:off x="5296000" y="2862000"/>
            <a:ext cx="6104000" cy="91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12700">
            <a:solidFill>
              <a:srgbClr val="D9DEE5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20252D"/>
              </a:solidFill>
              <a:latin typeface="Arial"/>
              <a:ea typeface="Arial"/>
            </a:endParaRPr>
          </a:p>
        </p:txBody>
      </p:sp>
      <p:sp>
        <p:nvSpPr>
          <p:cNvPr id="100025" name="Element-18"/>
          <p:cNvSpPr/>
          <p:nvPr/>
        </p:nvSpPr>
        <p:spPr>
          <a:xfrm xmlns:a="http://schemas.openxmlformats.org/drawingml/2006/main">
            <a:off x="5296000" y="3060000"/>
            <a:ext cx="57600" cy="52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0036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20252D"/>
              </a:solidFill>
              <a:latin typeface="Arial"/>
              <a:ea typeface="Arial"/>
            </a:endParaRPr>
          </a:p>
        </p:txBody>
      </p:sp>
      <p:sp>
        <p:nvSpPr>
          <p:cNvPr id="100026" name="Element-19"/>
          <p:cNvSpPr/>
          <p:nvPr/>
        </p:nvSpPr>
        <p:spPr>
          <a:xfrm xmlns:a="http://schemas.openxmlformats.org/drawingml/2006/main">
            <a:off x="5602000" y="3013200"/>
            <a:ext cx="55640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600" b="1" i="0">
                <a:solidFill>
                  <a:srgbClr val="20252D"/>
                </a:solidFill>
                <a:latin typeface="Arial"/>
                <a:ea typeface="Arial"/>
              </a:rPr>
              <a:t>Identical tools and budget</a:t>
            </a:r>
          </a:p>
        </p:txBody>
      </p:sp>
      <p:sp>
        <p:nvSpPr>
          <p:cNvPr id="100027" name="Element-20"/>
          <p:cNvSpPr/>
          <p:nvPr/>
        </p:nvSpPr>
        <p:spPr>
          <a:xfrm xmlns:a="http://schemas.openxmlformats.org/drawingml/2006/main">
            <a:off x="5602000" y="3384000"/>
            <a:ext cx="5564000" cy="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250" b="0" i="0">
                <a:solidFill>
                  <a:srgbClr val="5C626C"/>
                </a:solidFill>
                <a:latin typeface="Arial"/>
                <a:ea typeface="Arial"/>
              </a:rPr>
              <a:t>for both approaches</a:t>
            </a:r>
          </a:p>
        </p:txBody>
      </p:sp>
      <p:sp>
        <p:nvSpPr>
          <p:cNvPr id="100028" name="Element-21"/>
          <p:cNvSpPr/>
          <p:nvPr/>
        </p:nvSpPr>
        <p:spPr>
          <a:xfrm xmlns:a="http://schemas.openxmlformats.org/drawingml/2006/main">
            <a:off x="5296000" y="3960000"/>
            <a:ext cx="6104000" cy="91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12700">
            <a:solidFill>
              <a:srgbClr val="D9DEE5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20252D"/>
              </a:solidFill>
              <a:latin typeface="Arial"/>
              <a:ea typeface="Arial"/>
            </a:endParaRPr>
          </a:p>
        </p:txBody>
      </p:sp>
      <p:sp>
        <p:nvSpPr>
          <p:cNvPr id="100029" name="Element-22"/>
          <p:cNvSpPr/>
          <p:nvPr/>
        </p:nvSpPr>
        <p:spPr>
          <a:xfrm xmlns:a="http://schemas.openxmlformats.org/drawingml/2006/main">
            <a:off x="5296000" y="4158000"/>
            <a:ext cx="57600" cy="52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0036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20252D"/>
              </a:solidFill>
              <a:latin typeface="Arial"/>
              <a:ea typeface="Arial"/>
            </a:endParaRPr>
          </a:p>
        </p:txBody>
      </p:sp>
      <p:sp>
        <p:nvSpPr>
          <p:cNvPr id="100030" name="Element-23"/>
          <p:cNvSpPr/>
          <p:nvPr/>
        </p:nvSpPr>
        <p:spPr>
          <a:xfrm xmlns:a="http://schemas.openxmlformats.org/drawingml/2006/main">
            <a:off x="5602000" y="4111200"/>
            <a:ext cx="55640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600" b="1" i="0">
                <a:solidFill>
                  <a:srgbClr val="20252D"/>
                </a:solidFill>
                <a:latin typeface="Arial"/>
                <a:ea typeface="Arial"/>
              </a:rPr>
              <a:t>Evidence, not assertion</a:t>
            </a:r>
          </a:p>
        </p:txBody>
      </p:sp>
      <p:sp>
        <p:nvSpPr>
          <p:cNvPr id="100031" name="Element-24"/>
          <p:cNvSpPr/>
          <p:nvPr/>
        </p:nvSpPr>
        <p:spPr>
          <a:xfrm xmlns:a="http://schemas.openxmlformats.org/drawingml/2006/main">
            <a:off x="5602000" y="4482000"/>
            <a:ext cx="5564000" cy="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250" b="0" i="0">
                <a:solidFill>
                  <a:srgbClr val="5C626C"/>
                </a:solidFill>
                <a:latin typeface="Arial"/>
                <a:ea typeface="Arial"/>
              </a:rPr>
              <a:t>recomputed from the log</a:t>
            </a:r>
          </a:p>
        </p:txBody>
      </p:sp>
      <p:sp>
        <p:nvSpPr>
          <p:cNvPr id="100032" name="Element-25"/>
          <p:cNvSpPr/>
          <p:nvPr/>
        </p:nvSpPr>
        <p:spPr>
          <a:xfrm xmlns:a="http://schemas.openxmlformats.org/drawingml/2006/main">
            <a:off x="792000" y="5335200"/>
            <a:ext cx="10608000" cy="1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20252D"/>
              </a:solidFill>
              <a:latin typeface="Arial"/>
              <a:ea typeface="Arial"/>
            </a:endParaRPr>
          </a:p>
        </p:txBody>
      </p:sp>
      <p:sp>
        <p:nvSpPr>
          <p:cNvPr id="100033" name="Element-26"/>
          <p:cNvSpPr/>
          <p:nvPr/>
        </p:nvSpPr>
        <p:spPr>
          <a:xfrm xmlns:a="http://schemas.openxmlformats.org/drawingml/2006/main">
            <a:off x="792000" y="5364000"/>
            <a:ext cx="10608000" cy="5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2100" b="1" i="0">
                <a:solidFill>
                  <a:srgbClr val="B60036"/>
                </a:solidFill>
                <a:latin typeface="Arial"/>
                <a:ea typeface="Arial"/>
              </a:rPr>
              <a:t>Model training is not a current priority.</a:t>
            </a:r>
          </a:p>
        </p:txBody>
      </p:sp>
      <p:sp>
        <p:nvSpPr>
          <p:cNvPr id="100034" name="Element-27"/>
          <p:cNvSpPr/>
          <p:nvPr/>
        </p:nvSpPr>
        <p:spPr>
          <a:xfrm xmlns:a="http://schemas.openxmlformats.org/drawingml/2006/main">
            <a:off x="792000" y="6444000"/>
            <a:ext cx="504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800" b="0" i="0">
                <a:solidFill>
                  <a:srgbClr val="5C626C"/>
                </a:solidFill>
                <a:latin typeface="Arial"/>
                <a:ea typeface="Arial"/>
              </a:rPr>
              <a:t>Project LANCE — NATO SPS G6259</a:t>
            </a:r>
          </a:p>
        </p:txBody>
      </p:sp>
      <p:sp>
        <p:nvSpPr>
          <p:cNvPr id="100035" name="Element-28"/>
          <p:cNvSpPr/>
          <p:nvPr/>
        </p:nvSpPr>
        <p:spPr>
          <a:xfrm xmlns:a="http://schemas.openxmlformats.org/drawingml/2006/main">
            <a:off x="10752000" y="6444000"/>
            <a:ext cx="648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/>
            <a:r>
              <a:rPr lang="en-US" sz="800" b="0" i="0">
                <a:solidFill>
                  <a:srgbClr val="5C626C"/>
                </a:solidFill>
                <a:latin typeface="Arial"/>
                <a:ea typeface="Arial"/>
              </a:rPr>
              <a:t>2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pic>
        <p:nvPicPr>
          <p:cNvPr id="100036" name="Picture 1" descr="SMart ILIA — UMON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8d80b3d56f481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9702000" y="216000"/>
            <a:ext cx="1699200" cy="582331"/>
          </a:xfrm>
          <a:prstGeom xmlns:a="http://schemas.openxmlformats.org/drawingml/2006/main" prst="rect">
            <a:avLst/>
          </a:prstGeom>
        </p:spPr>
      </p:pic>
      <p:sp>
        <p:nvSpPr>
          <p:cNvPr id="100037" name="Element-4"/>
          <p:cNvSpPr/>
          <p:nvPr/>
        </p:nvSpPr>
        <p:spPr>
          <a:xfrm xmlns:a="http://schemas.openxmlformats.org/drawingml/2006/main">
            <a:off x="792000" y="309600"/>
            <a:ext cx="1764000" cy="20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950" b="0" i="0">
                <a:solidFill>
                  <a:srgbClr val="5C626C"/>
                </a:solidFill>
                <a:latin typeface="Arial"/>
                <a:ea typeface="Arial"/>
              </a:rPr>
              <a:t>Objective</a:t>
            </a:r>
          </a:p>
        </p:txBody>
      </p:sp>
      <p:sp>
        <p:nvSpPr>
          <p:cNvPr id="100038" name="Element-5"/>
          <p:cNvSpPr/>
          <p:nvPr/>
        </p:nvSpPr>
        <p:spPr>
          <a:xfrm xmlns:a="http://schemas.openxmlformats.org/drawingml/2006/main">
            <a:off x="2736000" y="309600"/>
            <a:ext cx="1764000" cy="20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950" b="0" i="0">
                <a:solidFill>
                  <a:srgbClr val="B60036"/>
                </a:solidFill>
                <a:latin typeface="Arial"/>
                <a:ea typeface="Arial"/>
              </a:rPr>
              <a:t>Instrument</a:t>
            </a:r>
          </a:p>
        </p:txBody>
      </p:sp>
      <p:sp>
        <p:nvSpPr>
          <p:cNvPr id="100039" name="Element-6"/>
          <p:cNvSpPr/>
          <p:nvPr/>
        </p:nvSpPr>
        <p:spPr>
          <a:xfrm xmlns:a="http://schemas.openxmlformats.org/drawingml/2006/main">
            <a:off x="2736000" y="529200"/>
            <a:ext cx="1764000" cy="1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0036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20252D"/>
              </a:solidFill>
              <a:latin typeface="Arial"/>
              <a:ea typeface="Arial"/>
            </a:endParaRPr>
          </a:p>
        </p:txBody>
      </p:sp>
      <p:sp>
        <p:nvSpPr>
          <p:cNvPr id="100040" name="Element-7"/>
          <p:cNvSpPr/>
          <p:nvPr/>
        </p:nvSpPr>
        <p:spPr>
          <a:xfrm xmlns:a="http://schemas.openxmlformats.org/drawingml/2006/main">
            <a:off x="4680000" y="309600"/>
            <a:ext cx="1764000" cy="20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950" b="0" i="0">
                <a:solidFill>
                  <a:srgbClr val="5C626C"/>
                </a:solidFill>
                <a:latin typeface="Arial"/>
                <a:ea typeface="Arial"/>
              </a:rPr>
              <a:t>Hypotheses</a:t>
            </a:r>
          </a:p>
        </p:txBody>
      </p:sp>
      <p:sp>
        <p:nvSpPr>
          <p:cNvPr id="100041" name="Element-8"/>
          <p:cNvSpPr/>
          <p:nvPr/>
        </p:nvSpPr>
        <p:spPr>
          <a:xfrm xmlns:a="http://schemas.openxmlformats.org/drawingml/2006/main">
            <a:off x="6624000" y="309600"/>
            <a:ext cx="1764000" cy="20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950" b="0" i="0">
                <a:solidFill>
                  <a:srgbClr val="5C626C"/>
                </a:solidFill>
                <a:latin typeface="Arial"/>
                <a:ea typeface="Arial"/>
              </a:rPr>
              <a:t>Outlook</a:t>
            </a:r>
          </a:p>
        </p:txBody>
      </p:sp>
      <p:sp>
        <p:nvSpPr>
          <p:cNvPr id="100042" name="Title"/>
          <p:cNvSpPr/>
          <p:nvPr/>
        </p:nvSpPr>
        <p:spPr>
          <a:xfrm xmlns:a="http://schemas.openxmlformats.org/drawingml/2006/main">
            <a:off x="792000" y="612000"/>
            <a:ext cx="8748000" cy="6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2900" b="1" i="0">
                <a:solidFill>
                  <a:srgbClr val="20252D"/>
                </a:solidFill>
                <a:latin typeface="Arial"/>
                <a:ea typeface="Arial"/>
              </a:rPr>
              <a:t>The instrument</a:t>
            </a:r>
          </a:p>
        </p:txBody>
      </p:sp>
      <p:sp>
        <p:nvSpPr>
          <p:cNvPr id="100043" name="Element-10"/>
          <p:cNvSpPr/>
          <p:nvPr/>
        </p:nvSpPr>
        <p:spPr>
          <a:xfrm xmlns:a="http://schemas.openxmlformats.org/drawingml/2006/main">
            <a:off x="792000" y="1303200"/>
            <a:ext cx="1224000" cy="2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0036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20252D"/>
              </a:solidFill>
              <a:latin typeface="Arial"/>
              <a:ea typeface="Arial"/>
            </a:endParaRPr>
          </a:p>
        </p:txBody>
      </p:sp>
      <p:sp>
        <p:nvSpPr>
          <p:cNvPr id="100044" name="Element-11"/>
          <p:cNvSpPr/>
          <p:nvPr/>
        </p:nvSpPr>
        <p:spPr>
          <a:xfrm xmlns:a="http://schemas.openxmlformats.org/drawingml/2006/main">
            <a:off x="792000" y="1692000"/>
            <a:ext cx="10608000" cy="103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12700">
            <a:solidFill>
              <a:srgbClr val="D9DEE5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20252D"/>
              </a:solidFill>
              <a:latin typeface="Arial"/>
              <a:ea typeface="Arial"/>
            </a:endParaRPr>
          </a:p>
        </p:txBody>
      </p:sp>
      <p:sp>
        <p:nvSpPr>
          <p:cNvPr id="100045" name="Element-12"/>
          <p:cNvSpPr/>
          <p:nvPr/>
        </p:nvSpPr>
        <p:spPr>
          <a:xfrm xmlns:a="http://schemas.openxmlformats.org/drawingml/2006/main">
            <a:off x="792000" y="1692000"/>
            <a:ext cx="151200" cy="103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626C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20252D"/>
              </a:solidFill>
              <a:latin typeface="Arial"/>
              <a:ea typeface="Arial"/>
            </a:endParaRPr>
          </a:p>
        </p:txBody>
      </p:sp>
      <p:sp>
        <p:nvSpPr>
          <p:cNvPr id="100046" name="Element-13"/>
          <p:cNvSpPr/>
          <p:nvPr/>
        </p:nvSpPr>
        <p:spPr>
          <a:xfrm xmlns:a="http://schemas.openxmlformats.org/drawingml/2006/main">
            <a:off x="1206000" y="1692000"/>
            <a:ext cx="2952000" cy="103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2300" b="1" i="0">
                <a:solidFill>
                  <a:srgbClr val="20252D"/>
                </a:solidFill>
                <a:latin typeface="Arial"/>
                <a:ea typeface="Arial"/>
              </a:rPr>
              <a:t>Laboratory</a:t>
            </a:r>
          </a:p>
        </p:txBody>
      </p:sp>
      <p:sp>
        <p:nvSpPr>
          <p:cNvPr id="100047" name="Element-14"/>
          <p:cNvSpPr/>
          <p:nvPr/>
        </p:nvSpPr>
        <p:spPr>
          <a:xfrm xmlns:a="http://schemas.openxmlformats.org/drawingml/2006/main">
            <a:off x="4248000" y="1692000"/>
            <a:ext cx="6864000" cy="103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500" b="0" i="0">
                <a:solidFill>
                  <a:srgbClr val="5C626C"/>
                </a:solidFill>
                <a:latin typeface="Arial"/>
                <a:ea typeface="Arial"/>
              </a:rPr>
              <a:t>networks with known ground truth</a:t>
            </a:r>
          </a:p>
        </p:txBody>
      </p:sp>
      <p:sp>
        <p:nvSpPr>
          <p:cNvPr id="100048" name="Element-15"/>
          <p:cNvSpPr/>
          <p:nvPr/>
        </p:nvSpPr>
        <p:spPr>
          <a:xfrm xmlns:a="http://schemas.openxmlformats.org/drawingml/2006/main">
            <a:off x="855000" y="2728800"/>
            <a:ext cx="25200" cy="7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626C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20252D"/>
              </a:solidFill>
              <a:latin typeface="Arial"/>
              <a:ea typeface="Arial"/>
            </a:endParaRPr>
          </a:p>
        </p:txBody>
      </p:sp>
      <p:sp>
        <p:nvSpPr>
          <p:cNvPr id="100049" name="Element-16"/>
          <p:cNvSpPr/>
          <p:nvPr/>
        </p:nvSpPr>
        <p:spPr>
          <a:xfrm xmlns:a="http://schemas.openxmlformats.org/drawingml/2006/main">
            <a:off x="792000" y="2808000"/>
            <a:ext cx="10608000" cy="103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C"/>
          </a:solidFill>
          <a:ln xmlns:a="http://schemas.openxmlformats.org/drawingml/2006/main" w="12700">
            <a:solidFill>
              <a:srgbClr val="1D5C9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20252D"/>
              </a:solidFill>
              <a:latin typeface="Arial"/>
              <a:ea typeface="Arial"/>
            </a:endParaRPr>
          </a:p>
        </p:txBody>
      </p:sp>
      <p:sp>
        <p:nvSpPr>
          <p:cNvPr id="100050" name="Element-17"/>
          <p:cNvSpPr/>
          <p:nvPr/>
        </p:nvSpPr>
        <p:spPr>
          <a:xfrm xmlns:a="http://schemas.openxmlformats.org/drawingml/2006/main">
            <a:off x="792000" y="2808000"/>
            <a:ext cx="151200" cy="103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C96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20252D"/>
              </a:solidFill>
              <a:latin typeface="Arial"/>
              <a:ea typeface="Arial"/>
            </a:endParaRPr>
          </a:p>
        </p:txBody>
      </p:sp>
      <p:sp>
        <p:nvSpPr>
          <p:cNvPr id="100051" name="Element-18"/>
          <p:cNvSpPr/>
          <p:nvPr/>
        </p:nvSpPr>
        <p:spPr>
          <a:xfrm xmlns:a="http://schemas.openxmlformats.org/drawingml/2006/main">
            <a:off x="1206000" y="2808000"/>
            <a:ext cx="2952000" cy="103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2300" b="1" i="0">
                <a:solidFill>
                  <a:srgbClr val="1D5C96"/>
                </a:solidFill>
                <a:latin typeface="Arial"/>
                <a:ea typeface="Arial"/>
              </a:rPr>
              <a:t>Platform</a:t>
            </a:r>
          </a:p>
        </p:txBody>
      </p:sp>
      <p:sp>
        <p:nvSpPr>
          <p:cNvPr id="100052" name="Element-19"/>
          <p:cNvSpPr/>
          <p:nvPr/>
        </p:nvSpPr>
        <p:spPr>
          <a:xfrm xmlns:a="http://schemas.openxmlformats.org/drawingml/2006/main">
            <a:off x="4248000" y="2808000"/>
            <a:ext cx="6864000" cy="103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500" b="0" i="0">
                <a:solidFill>
                  <a:srgbClr val="5C626C"/>
                </a:solidFill>
                <a:latin typeface="Arial"/>
                <a:ea typeface="Arial"/>
              </a:rPr>
              <a:t>conducts the audit</a:t>
            </a:r>
          </a:p>
        </p:txBody>
      </p:sp>
      <p:sp>
        <p:nvSpPr>
          <p:cNvPr id="100053" name="Element-20"/>
          <p:cNvSpPr/>
          <p:nvPr/>
        </p:nvSpPr>
        <p:spPr>
          <a:xfrm xmlns:a="http://schemas.openxmlformats.org/drawingml/2006/main">
            <a:off x="855000" y="3844800"/>
            <a:ext cx="25200" cy="7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C96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20252D"/>
              </a:solidFill>
              <a:latin typeface="Arial"/>
              <a:ea typeface="Arial"/>
            </a:endParaRPr>
          </a:p>
        </p:txBody>
      </p:sp>
      <p:sp>
        <p:nvSpPr>
          <p:cNvPr id="100054" name="Element-21"/>
          <p:cNvSpPr/>
          <p:nvPr/>
        </p:nvSpPr>
        <p:spPr>
          <a:xfrm xmlns:a="http://schemas.openxmlformats.org/drawingml/2006/main">
            <a:off x="792000" y="3924000"/>
            <a:ext cx="10608000" cy="103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0F4"/>
          </a:solidFill>
          <a:ln xmlns:a="http://schemas.openxmlformats.org/drawingml/2006/main" w="12700">
            <a:solidFill>
              <a:srgbClr val="B6003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20252D"/>
              </a:solidFill>
              <a:latin typeface="Arial"/>
              <a:ea typeface="Arial"/>
            </a:endParaRPr>
          </a:p>
        </p:txBody>
      </p:sp>
      <p:sp>
        <p:nvSpPr>
          <p:cNvPr id="100055" name="Element-22"/>
          <p:cNvSpPr/>
          <p:nvPr/>
        </p:nvSpPr>
        <p:spPr>
          <a:xfrm xmlns:a="http://schemas.openxmlformats.org/drawingml/2006/main">
            <a:off x="792000" y="3924000"/>
            <a:ext cx="151200" cy="103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0036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20252D"/>
              </a:solidFill>
              <a:latin typeface="Arial"/>
              <a:ea typeface="Arial"/>
            </a:endParaRPr>
          </a:p>
        </p:txBody>
      </p:sp>
      <p:sp>
        <p:nvSpPr>
          <p:cNvPr id="100056" name="Element-23"/>
          <p:cNvSpPr/>
          <p:nvPr/>
        </p:nvSpPr>
        <p:spPr>
          <a:xfrm xmlns:a="http://schemas.openxmlformats.org/drawingml/2006/main">
            <a:off x="1206000" y="3924000"/>
            <a:ext cx="2952000" cy="103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2300" b="1" i="0">
                <a:solidFill>
                  <a:srgbClr val="B60036"/>
                </a:solidFill>
                <a:latin typeface="Arial"/>
                <a:ea typeface="Arial"/>
              </a:rPr>
              <a:t>Benchmark</a:t>
            </a:r>
          </a:p>
        </p:txBody>
      </p:sp>
      <p:sp>
        <p:nvSpPr>
          <p:cNvPr id="100057" name="Element-24"/>
          <p:cNvSpPr/>
          <p:nvPr/>
        </p:nvSpPr>
        <p:spPr>
          <a:xfrm xmlns:a="http://schemas.openxmlformats.org/drawingml/2006/main">
            <a:off x="4248000" y="3924000"/>
            <a:ext cx="6864000" cy="103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500" b="0" i="0">
                <a:solidFill>
                  <a:srgbClr val="5C626C"/>
                </a:solidFill>
                <a:latin typeface="Arial"/>
                <a:ea typeface="Arial"/>
              </a:rPr>
              <a:t>assesses the result</a:t>
            </a:r>
          </a:p>
        </p:txBody>
      </p:sp>
      <p:sp>
        <p:nvSpPr>
          <p:cNvPr id="100058" name="Element-25"/>
          <p:cNvSpPr/>
          <p:nvPr/>
        </p:nvSpPr>
        <p:spPr>
          <a:xfrm xmlns:a="http://schemas.openxmlformats.org/drawingml/2006/main">
            <a:off x="792000" y="5335200"/>
            <a:ext cx="10608000" cy="1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20252D"/>
              </a:solidFill>
              <a:latin typeface="Arial"/>
              <a:ea typeface="Arial"/>
            </a:endParaRPr>
          </a:p>
        </p:txBody>
      </p:sp>
      <p:sp>
        <p:nvSpPr>
          <p:cNvPr id="100059" name="Element-26"/>
          <p:cNvSpPr/>
          <p:nvPr/>
        </p:nvSpPr>
        <p:spPr>
          <a:xfrm xmlns:a="http://schemas.openxmlformats.org/drawingml/2006/main">
            <a:off x="792000" y="5364000"/>
            <a:ext cx="10608000" cy="5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2100" b="1" i="0">
                <a:solidFill>
                  <a:srgbClr val="B60036"/>
                </a:solidFill>
                <a:latin typeface="Arial"/>
                <a:ea typeface="Arial"/>
              </a:rPr>
              <a:t>The model is one component among them.</a:t>
            </a:r>
          </a:p>
        </p:txBody>
      </p:sp>
      <p:sp>
        <p:nvSpPr>
          <p:cNvPr id="100060" name="Element-27"/>
          <p:cNvSpPr/>
          <p:nvPr/>
        </p:nvSpPr>
        <p:spPr>
          <a:xfrm xmlns:a="http://schemas.openxmlformats.org/drawingml/2006/main">
            <a:off x="792000" y="5940000"/>
            <a:ext cx="10608000" cy="22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000" b="0" i="0">
                <a:solidFill>
                  <a:srgbClr val="5C626C"/>
                </a:solidFill>
                <a:latin typeface="Arial"/>
                <a:ea typeface="Arial"/>
              </a:rPr>
              <a:t>A run constitutes a measurement only against known ground truth.</a:t>
            </a:r>
          </a:p>
        </p:txBody>
      </p:sp>
      <p:sp>
        <p:nvSpPr>
          <p:cNvPr id="100061" name="Element-28"/>
          <p:cNvSpPr/>
          <p:nvPr/>
        </p:nvSpPr>
        <p:spPr>
          <a:xfrm xmlns:a="http://schemas.openxmlformats.org/drawingml/2006/main">
            <a:off x="792000" y="6444000"/>
            <a:ext cx="504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800" b="0" i="0">
                <a:solidFill>
                  <a:srgbClr val="5C626C"/>
                </a:solidFill>
                <a:latin typeface="Arial"/>
                <a:ea typeface="Arial"/>
              </a:rPr>
              <a:t>Project LANCE — NATO SPS G6259</a:t>
            </a:r>
          </a:p>
        </p:txBody>
      </p:sp>
      <p:sp>
        <p:nvSpPr>
          <p:cNvPr id="100062" name="Element-29"/>
          <p:cNvSpPr/>
          <p:nvPr/>
        </p:nvSpPr>
        <p:spPr>
          <a:xfrm xmlns:a="http://schemas.openxmlformats.org/drawingml/2006/main">
            <a:off x="10752000" y="6444000"/>
            <a:ext cx="648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/>
            <a:r>
              <a:rPr lang="en-US" sz="800" b="0" i="0">
                <a:solidFill>
                  <a:srgbClr val="5C626C"/>
                </a:solidFill>
                <a:latin typeface="Arial"/>
                <a:ea typeface="Arial"/>
              </a:rPr>
              <a:t>3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pic>
        <p:nvPicPr>
          <p:cNvPr id="100063" name="Picture 1" descr="SMart ILIA — UMON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0c216dbd0b4c2c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9702000" y="216000"/>
            <a:ext cx="1699200" cy="582331"/>
          </a:xfrm>
          <a:prstGeom xmlns:a="http://schemas.openxmlformats.org/drawingml/2006/main" prst="rect">
            <a:avLst/>
          </a:prstGeom>
        </p:spPr>
      </p:pic>
      <p:sp>
        <p:nvSpPr>
          <p:cNvPr id="100064" name="Element-4"/>
          <p:cNvSpPr/>
          <p:nvPr/>
        </p:nvSpPr>
        <p:spPr>
          <a:xfrm xmlns:a="http://schemas.openxmlformats.org/drawingml/2006/main">
            <a:off x="792000" y="309600"/>
            <a:ext cx="1764000" cy="20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950" b="0" i="0">
                <a:solidFill>
                  <a:srgbClr val="5C626C"/>
                </a:solidFill>
                <a:latin typeface="Arial"/>
                <a:ea typeface="Arial"/>
              </a:rPr>
              <a:t>Objective</a:t>
            </a:r>
          </a:p>
        </p:txBody>
      </p:sp>
      <p:sp>
        <p:nvSpPr>
          <p:cNvPr id="100065" name="Element-5"/>
          <p:cNvSpPr/>
          <p:nvPr/>
        </p:nvSpPr>
        <p:spPr>
          <a:xfrm xmlns:a="http://schemas.openxmlformats.org/drawingml/2006/main">
            <a:off x="2736000" y="309600"/>
            <a:ext cx="1764000" cy="20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950" b="0" i="0">
                <a:solidFill>
                  <a:srgbClr val="B60036"/>
                </a:solidFill>
                <a:latin typeface="Arial"/>
                <a:ea typeface="Arial"/>
              </a:rPr>
              <a:t>Instrument</a:t>
            </a:r>
          </a:p>
        </p:txBody>
      </p:sp>
      <p:sp>
        <p:nvSpPr>
          <p:cNvPr id="100066" name="Element-6"/>
          <p:cNvSpPr/>
          <p:nvPr/>
        </p:nvSpPr>
        <p:spPr>
          <a:xfrm xmlns:a="http://schemas.openxmlformats.org/drawingml/2006/main">
            <a:off x="2736000" y="529200"/>
            <a:ext cx="1764000" cy="1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0036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20252D"/>
              </a:solidFill>
              <a:latin typeface="Arial"/>
              <a:ea typeface="Arial"/>
            </a:endParaRPr>
          </a:p>
        </p:txBody>
      </p:sp>
      <p:sp>
        <p:nvSpPr>
          <p:cNvPr id="100067" name="Element-7"/>
          <p:cNvSpPr/>
          <p:nvPr/>
        </p:nvSpPr>
        <p:spPr>
          <a:xfrm xmlns:a="http://schemas.openxmlformats.org/drawingml/2006/main">
            <a:off x="4680000" y="309600"/>
            <a:ext cx="1764000" cy="20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950" b="0" i="0">
                <a:solidFill>
                  <a:srgbClr val="5C626C"/>
                </a:solidFill>
                <a:latin typeface="Arial"/>
                <a:ea typeface="Arial"/>
              </a:rPr>
              <a:t>Hypotheses</a:t>
            </a:r>
          </a:p>
        </p:txBody>
      </p:sp>
      <p:sp>
        <p:nvSpPr>
          <p:cNvPr id="100068" name="Element-8"/>
          <p:cNvSpPr/>
          <p:nvPr/>
        </p:nvSpPr>
        <p:spPr>
          <a:xfrm xmlns:a="http://schemas.openxmlformats.org/drawingml/2006/main">
            <a:off x="6624000" y="309600"/>
            <a:ext cx="1764000" cy="20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950" b="0" i="0">
                <a:solidFill>
                  <a:srgbClr val="5C626C"/>
                </a:solidFill>
                <a:latin typeface="Arial"/>
                <a:ea typeface="Arial"/>
              </a:rPr>
              <a:t>Outlook</a:t>
            </a:r>
          </a:p>
        </p:txBody>
      </p:sp>
      <p:sp>
        <p:nvSpPr>
          <p:cNvPr id="100069" name="Title"/>
          <p:cNvSpPr/>
          <p:nvPr/>
        </p:nvSpPr>
        <p:spPr>
          <a:xfrm xmlns:a="http://schemas.openxmlformats.org/drawingml/2006/main">
            <a:off x="792000" y="612000"/>
            <a:ext cx="8748000" cy="6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2900" b="1" i="0">
                <a:solidFill>
                  <a:srgbClr val="20252D"/>
                </a:solidFill>
                <a:latin typeface="Arial"/>
                <a:ea typeface="Arial"/>
              </a:rPr>
              <a:t>What constitutes a finding</a:t>
            </a:r>
          </a:p>
        </p:txBody>
      </p:sp>
      <p:sp>
        <p:nvSpPr>
          <p:cNvPr id="100070" name="Element-10"/>
          <p:cNvSpPr/>
          <p:nvPr/>
        </p:nvSpPr>
        <p:spPr>
          <a:xfrm xmlns:a="http://schemas.openxmlformats.org/drawingml/2006/main">
            <a:off x="792000" y="1303200"/>
            <a:ext cx="1224000" cy="2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0036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20252D"/>
              </a:solidFill>
              <a:latin typeface="Arial"/>
              <a:ea typeface="Arial"/>
            </a:endParaRPr>
          </a:p>
        </p:txBody>
      </p:sp>
      <p:sp>
        <p:nvSpPr>
          <p:cNvPr id="100071" name="Element-11"/>
          <p:cNvSpPr/>
          <p:nvPr/>
        </p:nvSpPr>
        <p:spPr>
          <a:xfrm xmlns:a="http://schemas.openxmlformats.org/drawingml/2006/main">
            <a:off x="792000" y="1710000"/>
            <a:ext cx="5112000" cy="217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12700">
            <a:solidFill>
              <a:srgbClr val="D9DEE5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20252D"/>
              </a:solidFill>
              <a:latin typeface="Arial"/>
              <a:ea typeface="Arial"/>
            </a:endParaRPr>
          </a:p>
        </p:txBody>
      </p:sp>
      <p:sp>
        <p:nvSpPr>
          <p:cNvPr id="100072" name="Element-12"/>
          <p:cNvSpPr/>
          <p:nvPr/>
        </p:nvSpPr>
        <p:spPr>
          <a:xfrm xmlns:a="http://schemas.openxmlformats.org/drawingml/2006/main">
            <a:off x="1044000" y="1908000"/>
            <a:ext cx="4608000" cy="68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1650" b="0" i="1">
                <a:solidFill>
                  <a:srgbClr val="5C626C"/>
                </a:solidFill>
                <a:latin typeface="Arial"/>
                <a:ea typeface="Arial"/>
              </a:rPr>
              <a:t>“I have read another organisation's data.”</a:t>
            </a:r>
          </a:p>
        </p:txBody>
      </p:sp>
      <p:sp>
        <p:nvSpPr>
          <p:cNvPr id="100073" name="Element-13"/>
          <p:cNvSpPr/>
          <p:nvPr/>
        </p:nvSpPr>
        <p:spPr>
          <a:xfrm xmlns:a="http://schemas.openxmlformats.org/drawingml/2006/main">
            <a:off x="3078000" y="2772000"/>
            <a:ext cx="540000" cy="1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20252D"/>
              </a:solidFill>
              <a:latin typeface="Arial"/>
              <a:ea typeface="Arial"/>
            </a:endParaRPr>
          </a:p>
        </p:txBody>
      </p:sp>
      <p:sp>
        <p:nvSpPr>
          <p:cNvPr id="100074" name="Element-14"/>
          <p:cNvSpPr/>
          <p:nvPr/>
        </p:nvSpPr>
        <p:spPr>
          <a:xfrm xmlns:a="http://schemas.openxmlformats.org/drawingml/2006/main">
            <a:off x="1044000" y="2862000"/>
            <a:ext cx="4608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2600" b="1" i="0">
                <a:solidFill>
                  <a:srgbClr val="B60036"/>
                </a:solidFill>
                <a:latin typeface="Arial"/>
                <a:ea typeface="Arial"/>
              </a:rPr>
              <a:t>✕   Not admitted</a:t>
            </a:r>
          </a:p>
        </p:txBody>
      </p:sp>
      <p:sp>
        <p:nvSpPr>
          <p:cNvPr id="100075" name="Element-15"/>
          <p:cNvSpPr/>
          <p:nvPr/>
        </p:nvSpPr>
        <p:spPr>
          <a:xfrm xmlns:a="http://schemas.openxmlformats.org/drawingml/2006/main">
            <a:off x="6288000" y="1710000"/>
            <a:ext cx="5112000" cy="217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CF0F4"/>
          </a:solidFill>
          <a:ln xmlns:a="http://schemas.openxmlformats.org/drawingml/2006/main" w="12700">
            <a:solidFill>
              <a:srgbClr val="B6003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20252D"/>
              </a:solidFill>
              <a:latin typeface="Arial"/>
              <a:ea typeface="Arial"/>
            </a:endParaRPr>
          </a:p>
        </p:txBody>
      </p:sp>
      <p:sp>
        <p:nvSpPr>
          <p:cNvPr id="100076" name="Element-16"/>
          <p:cNvSpPr/>
          <p:nvPr/>
        </p:nvSpPr>
        <p:spPr>
          <a:xfrm xmlns:a="http://schemas.openxmlformats.org/drawingml/2006/main">
            <a:off x="6540000" y="1908000"/>
            <a:ext cx="4608000" cy="68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1650" b="0" i="0">
                <a:solidFill>
                  <a:srgbClr val="20252D"/>
                </a:solidFill>
                <a:latin typeface="Arial"/>
                <a:ea typeface="Arial"/>
              </a:rPr>
              <a:t>The request and its response</a:t>
            </a:r>
          </a:p>
          <a:p xmlns:a="http://schemas.openxmlformats.org/drawingml/2006/main">
            <a:pPr algn="ctr"/>
            <a:r>
              <a:rPr lang="en-US" sz="1650" b="0" i="0">
                <a:solidFill>
                  <a:srgbClr val="20252D"/>
                </a:solidFill>
                <a:latin typeface="Arial"/>
                <a:ea typeface="Arial"/>
              </a:rPr>
              <a:t>contain the data.</a:t>
            </a:r>
          </a:p>
        </p:txBody>
      </p:sp>
      <p:sp>
        <p:nvSpPr>
          <p:cNvPr id="100077" name="Element-17"/>
          <p:cNvSpPr/>
          <p:nvPr/>
        </p:nvSpPr>
        <p:spPr>
          <a:xfrm xmlns:a="http://schemas.openxmlformats.org/drawingml/2006/main">
            <a:off x="8574000" y="2772000"/>
            <a:ext cx="540000" cy="1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0036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20252D"/>
              </a:solidFill>
              <a:latin typeface="Arial"/>
              <a:ea typeface="Arial"/>
            </a:endParaRPr>
          </a:p>
        </p:txBody>
      </p:sp>
      <p:sp>
        <p:nvSpPr>
          <p:cNvPr id="100078" name="Element-18"/>
          <p:cNvSpPr/>
          <p:nvPr/>
        </p:nvSpPr>
        <p:spPr>
          <a:xfrm xmlns:a="http://schemas.openxmlformats.org/drawingml/2006/main">
            <a:off x="6540000" y="2862000"/>
            <a:ext cx="4608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2600" b="1" i="0">
                <a:solidFill>
                  <a:srgbClr val="2E7D5B"/>
                </a:solidFill>
                <a:latin typeface="Arial"/>
                <a:ea typeface="Arial"/>
              </a:rPr>
              <a:t>✓   Admitted</a:t>
            </a:r>
          </a:p>
        </p:txBody>
      </p:sp>
      <p:sp>
        <p:nvSpPr>
          <p:cNvPr id="100079" name="Element-19"/>
          <p:cNvSpPr/>
          <p:nvPr/>
        </p:nvSpPr>
        <p:spPr>
          <a:xfrm xmlns:a="http://schemas.openxmlformats.org/drawingml/2006/main">
            <a:off x="792000" y="4158000"/>
            <a:ext cx="10608000" cy="88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6FC"/>
          </a:solidFill>
          <a:ln xmlns:a="http://schemas.openxmlformats.org/drawingml/2006/main" w="12700">
            <a:solidFill>
              <a:srgbClr val="D9DEE5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20252D"/>
              </a:solidFill>
              <a:latin typeface="Arial"/>
              <a:ea typeface="Arial"/>
            </a:endParaRPr>
          </a:p>
        </p:txBody>
      </p:sp>
      <p:sp>
        <p:nvSpPr>
          <p:cNvPr id="100080" name="Element-20"/>
          <p:cNvSpPr/>
          <p:nvPr/>
        </p:nvSpPr>
        <p:spPr>
          <a:xfrm xmlns:a="http://schemas.openxmlformats.org/drawingml/2006/main">
            <a:off x="792000" y="4158000"/>
            <a:ext cx="50400" cy="8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C96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20252D"/>
              </a:solidFill>
              <a:latin typeface="Arial"/>
              <a:ea typeface="Arial"/>
            </a:endParaRPr>
          </a:p>
        </p:txBody>
      </p:sp>
      <p:sp>
        <p:nvSpPr>
          <p:cNvPr id="100081" name="Element-21"/>
          <p:cNvSpPr/>
          <p:nvPr/>
        </p:nvSpPr>
        <p:spPr>
          <a:xfrm xmlns:a="http://schemas.openxmlformats.org/drawingml/2006/main">
            <a:off x="1152000" y="4158000"/>
            <a:ext cx="10032000" cy="88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500" b="0" i="0">
                <a:solidFill>
                  <a:srgbClr val="20252D"/>
                </a:solidFill>
                <a:latin typeface="Arial"/>
                <a:ea typeface="Arial"/>
              </a:rPr>
              <a:t>The same trial is conducted on a healthy and on a vulnerable network.   A finding reported on the healthy one is recorded as an error.</a:t>
            </a:r>
          </a:p>
        </p:txBody>
      </p:sp>
      <p:sp>
        <p:nvSpPr>
          <p:cNvPr id="100082" name="Element-22"/>
          <p:cNvSpPr/>
          <p:nvPr/>
        </p:nvSpPr>
        <p:spPr>
          <a:xfrm xmlns:a="http://schemas.openxmlformats.org/drawingml/2006/main">
            <a:off x="792000" y="5335200"/>
            <a:ext cx="10608000" cy="1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endParaRPr lang="en-US" sz="1800" b="0" i="0">
              <a:solidFill>
                <a:srgbClr val="20252D"/>
              </a:solidFill>
              <a:latin typeface="Arial"/>
              <a:ea typeface="Arial"/>
            </a:endParaRPr>
          </a:p>
        </p:txBody>
      </p:sp>
      <p:sp>
        <p:nvSpPr>
          <p:cNvPr id="100083" name="Element-23"/>
          <p:cNvSpPr/>
          <p:nvPr/>
        </p:nvSpPr>
        <p:spPr>
          <a:xfrm xmlns:a="http://schemas.openxmlformats.org/drawingml/2006/main">
            <a:off x="792000" y="5364000"/>
            <a:ext cx="10608000" cy="5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850" b="1" i="0">
                <a:solidFill>
                  <a:srgbClr val="B60036"/>
                </a:solidFill>
                <a:latin typeface="Arial"/>
                <a:ea typeface="Arial"/>
              </a:rPr>
              <a:t>The finding is recomputed from the log; the conclusion is never taken on trust.</a:t>
            </a:r>
          </a:p>
        </p:txBody>
      </p:sp>
      <p:sp>
        <p:nvSpPr>
          <p:cNvPr id="100084" name="Element-24"/>
          <p:cNvSpPr/>
          <p:nvPr/>
        </p:nvSpPr>
        <p:spPr>
          <a:xfrm xmlns:a="http://schemas.openxmlformats.org/drawingml/2006/main">
            <a:off x="792000" y="6444000"/>
            <a:ext cx="504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800" b="0" i="0">
                <a:solidFill>
                  <a:srgbClr val="5C626C"/>
                </a:solidFill>
                <a:latin typeface="Arial"/>
                <a:ea typeface="Arial"/>
              </a:rPr>
              <a:t>Project LANCE — NATO SPS G6259</a:t>
            </a:r>
          </a:p>
        </p:txBody>
      </p:sp>
      <p:sp>
        <p:nvSpPr>
          <p:cNvPr id="100085" name="Element-25"/>
          <p:cNvSpPr/>
          <p:nvPr/>
        </p:nvSpPr>
        <p:spPr>
          <a:xfrm xmlns:a="http://schemas.openxmlformats.org/drawingml/2006/main">
            <a:off x="10752000" y="6444000"/>
            <a:ext cx="648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/>
            <a:r>
              <a:rPr lang="en-US" sz="800" b="0" i="0">
                <a:solidFill>
                  <a:srgbClr val="5C626C"/>
                </a:solidFill>
                <a:latin typeface="Arial"/>
                <a:ea typeface="Arial"/>
              </a:rPr>
              <a:t>4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OfficeCLI/1.0.158</ap:Application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Project LANCE</dc:creator>
  <dcterms:created xsi:type="dcterms:W3CDTF">2026-10-21T20:50:36.0000000Z</dcterms:created>
  <lastModifiedBy>OfficeCLI</lastModifiedBy>
  <dcterms:modified xsi:type="dcterms:W3CDTF">2026-10-21T20:50:37.0231730Z</dcterms:modified>
</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1.0.158</vt:lpwstr>
  </op:property>
  <op:property fmtid="{D5CDD505-2E9C-101B-9397-08002B2CF9AE}" pid="3" name="OfficeCLI.LastModified">
    <vt:lpwstr xmlns:vt="http://schemas.openxmlformats.org/officeDocument/2006/docPropsVTypes">2026-10-21T20:50:39Z</vt:lpwstr>
  </op:property>
</op:Properties>
</file>