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e4ce3c12ac34bf0" /><Relationship Type="http://schemas.openxmlformats.org/package/2006/relationships/metadata/core-properties" Target="/docProps/core.xml" Id="Rd77210ae149049ad" /><Relationship Type="http://schemas.openxmlformats.org/officeDocument/2006/relationships/extended-properties" Target="/docProps/app.xml" Id="R57e3708a289d46e9" /><Relationship Type="http://schemas.openxmlformats.org/officeDocument/2006/relationships/custom-properties" Target="/docProps/custom.xml" Id="Re132aa4d88c7438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ad7b5387ecf04192"/>
  </p:notesMasterIdLst>
  <p:sldIdLst>
    <p:sldId id="256" r:id="Rbaff7c87c5dc4104"/>
    <p:sldId id="257" r:id="R388ee1c251f44d42"/>
    <p:sldId id="258" r:id="R0280acef368344b1"/>
    <p:sldId id="259" r:id="R53efe31aa448490e"/>
    <p:sldId id="260" r:id="R276c2380d0c34725"/>
    <p:sldId id="261" r:id="Rd973e5ec24324f79"/>
    <p:sldId id="262" r:id="R87b4b0bc38ca43d2"/>
    <p:sldId id="263" r:id="R5c2a6cca10324ffc"/>
    <p:sldId id="264" r:id="R87a5628ed2414248"/>
    <p:sldId id="265" r:id="R4c199a3886834a3f"/>
  </p:sldIdLst>
  <p:sldSz cx="12192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aff7c87c5dc4104" /><Relationship Type="http://schemas.openxmlformats.org/officeDocument/2006/relationships/notesMaster" Target="/ppt/notesMasters/notesMaster1.xml" Id="Rad7b5387ecf04192" /><Relationship Type="http://schemas.openxmlformats.org/officeDocument/2006/relationships/slide" Target="/ppt/slides/slide2.xml" Id="R388ee1c251f44d42" /><Relationship Type="http://schemas.openxmlformats.org/officeDocument/2006/relationships/slide" Target="/ppt/slides/slide3.xml" Id="R0280acef368344b1" /><Relationship Type="http://schemas.openxmlformats.org/officeDocument/2006/relationships/slide" Target="/ppt/slides/slide4.xml" Id="R53efe31aa448490e" /><Relationship Type="http://schemas.openxmlformats.org/officeDocument/2006/relationships/slide" Target="/ppt/slides/slide5.xml" Id="R276c2380d0c34725" /><Relationship Type="http://schemas.openxmlformats.org/officeDocument/2006/relationships/slide" Target="/ppt/slides/slide6.xml" Id="Rd973e5ec24324f79" /><Relationship Type="http://schemas.openxmlformats.org/officeDocument/2006/relationships/slide" Target="/ppt/slides/slide7.xml" Id="R87b4b0bc38ca43d2" /><Relationship Type="http://schemas.openxmlformats.org/officeDocument/2006/relationships/slide" Target="/ppt/slides/slide8.xml" Id="R5c2a6cca10324ffc" /><Relationship Type="http://schemas.openxmlformats.org/officeDocument/2006/relationships/slide" Target="/ppt/slides/slide9.xml" Id="R87a5628ed2414248" /><Relationship Type="http://schemas.openxmlformats.org/officeDocument/2006/relationships/slide" Target="/ppt/slides/slide10.xml" Id="R4c199a3886834a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00b25109f764854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e56e29dc2ad4f8c" /><Relationship Type="http://schemas.openxmlformats.org/officeDocument/2006/relationships/slide" Target="/ppt/slides/slide1.xml" Id="R8ba0e7a9f2a545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5ac78634514309" /><Relationship Type="http://schemas.openxmlformats.org/officeDocument/2006/relationships/slide" Target="/ppt/slides/slide2.xml" Id="Ra1f862cd0f1c4a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879873552d41c9" /><Relationship Type="http://schemas.openxmlformats.org/officeDocument/2006/relationships/slide" Target="/ppt/slides/slide3.xml" Id="Rcfa4e098ee114e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54636a7b73f40b1" /><Relationship Type="http://schemas.openxmlformats.org/officeDocument/2006/relationships/slide" Target="/ppt/slides/slide4.xml" Id="Re1c19073ecc346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c255da865f4e98" /><Relationship Type="http://schemas.openxmlformats.org/officeDocument/2006/relationships/slide" Target="/ppt/slides/slide5.xml" Id="R6138c43c590847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36e57d1df1040fe" /><Relationship Type="http://schemas.openxmlformats.org/officeDocument/2006/relationships/slide" Target="/ppt/slides/slide6.xml" Id="R05873fd94c7345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c527eac8ad4bc7" /><Relationship Type="http://schemas.openxmlformats.org/officeDocument/2006/relationships/slide" Target="/ppt/slides/slide7.xml" Id="Rd834bb8820c44b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63ce30acb84a96" /><Relationship Type="http://schemas.openxmlformats.org/officeDocument/2006/relationships/slide" Target="/ppt/slides/slide8.xml" Id="R7b053878367749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30c3e5725f9448d" /><Relationship Type="http://schemas.openxmlformats.org/officeDocument/2006/relationships/slide" Target="/ppt/slides/slide9.xml" Id="R49597632458a45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3d059579b94767" /><Relationship Type="http://schemas.openxmlformats.org/officeDocument/2006/relationships/slide" Target="/ppt/slides/slide10.xml" Id="R70e1b0ef20144d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20 seconds.</a:t>
            </a:r>
          </a:p>
          <a:p xmlns:a="http://schemas.openxmlformats.org/drawingml/2006/main">
            <a:r>
              <a:rPr lang="en-US"/>
              <a:t>Cover. Say: this is a progress report, not a results talk.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One sentence on the left, three commitments on the right. Do not read the three rows aloud; they qualify the sentence, they do not repeat it. Close on the last 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A chain, read top to bottom. Three pieces, three roles; the model sits inside the middle one. The last line is the methodological point: a run means nothing without a network whose truth is known.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80 seconds.</a:t>
            </a:r>
          </a:p>
          <a:p xmlns:a="http://schemas.openxmlformats.org/drawingml/2006/main">
            <a:r>
              <a:rPr lang="en-US"/>
              <a:t>Two halves. Left: we recompute from the log, never from the conclusion. Right: the same trial runs on both configurations, so a false positive is visible. The bottom band is the second half of the rule.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Both approaches succeed everywhere. That is a property of the instrument, not a verdict on the model: the scale is saturated, so the bars carry no difference.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The objective does not change, its form does. Six network properties, six tests. H6 is detached on purpose: it is a risk, not a gain.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The gate is the condition of interpretation for everything else, and it binds both arms. Read the matrix by cells: the only cell that opens the register is the one where both arms pass — script check and model check.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Be explicit. This is the slide that buys credibility. Three limits, each stated as a claim we are not making, then the reason.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Order follows conditions, not dates. Then the ask: vendor artifacts and an adversarial review of the register. Close on the deadline.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A benchmark that states its gaps is stronger than one that claims full coverage. One line each, no discussion unless asked.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10ba12f2244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d00a811c6b48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bd99d9e0a447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2e632c764c41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b7fb741af34c1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a0df3c5d1ab4db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0c2cc8b704ee3" /><Relationship Type="http://schemas.openxmlformats.org/officeDocument/2006/relationships/notesSlide" Target="/ppt/notesSlides/notesSlide1.xml" Id="R40c4dd0f0720434b" /><Relationship Type="http://schemas.openxmlformats.org/officeDocument/2006/relationships/image" Target="/ppt/media/image.png" Id="R952af91480c345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8addb76f84e03" /><Relationship Type="http://schemas.openxmlformats.org/officeDocument/2006/relationships/notesSlide" Target="/ppt/notesSlides/notesSlide2.xml" Id="Rc0c2528035564188" /><Relationship Type="http://schemas.openxmlformats.org/officeDocument/2006/relationships/image" Target="/ppt/media/image2.png" Id="Rb5b7fc578da741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abbff669149c6" /><Relationship Type="http://schemas.openxmlformats.org/officeDocument/2006/relationships/notesSlide" Target="/ppt/notesSlides/notesSlide3.xml" Id="R4bd4fa21b8d541ae" /><Relationship Type="http://schemas.openxmlformats.org/officeDocument/2006/relationships/image" Target="/ppt/media/image3.png" Id="R6bf601aedc314b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cc3e3e3f0498f" /><Relationship Type="http://schemas.openxmlformats.org/officeDocument/2006/relationships/notesSlide" Target="/ppt/notesSlides/notesSlide4.xml" Id="Raa2594a02cde49c4" /><Relationship Type="http://schemas.openxmlformats.org/officeDocument/2006/relationships/image" Target="/ppt/media/image4.png" Id="R700efcafeca34c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9c54df08743f6" /><Relationship Type="http://schemas.openxmlformats.org/officeDocument/2006/relationships/notesSlide" Target="/ppt/notesSlides/notesSlide5.xml" Id="Rdd78470fe7c6423e" /><Relationship Type="http://schemas.openxmlformats.org/officeDocument/2006/relationships/image" Target="/ppt/media/image5.png" Id="R4f7f222a939c47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52589bde54753" /><Relationship Type="http://schemas.openxmlformats.org/officeDocument/2006/relationships/notesSlide" Target="/ppt/notesSlides/notesSlide6.xml" Id="R8d59bde9da2845f9" /><Relationship Type="http://schemas.openxmlformats.org/officeDocument/2006/relationships/image" Target="/ppt/media/image6.png" Id="R2944d1b4524642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dc434c83c455e" /><Relationship Type="http://schemas.openxmlformats.org/officeDocument/2006/relationships/notesSlide" Target="/ppt/notesSlides/notesSlide7.xml" Id="Ra55b7e61500d43f1" /><Relationship Type="http://schemas.openxmlformats.org/officeDocument/2006/relationships/image" Target="/ppt/media/image7.png" Id="Red121f57629141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005082a8248c0" /><Relationship Type="http://schemas.openxmlformats.org/officeDocument/2006/relationships/notesSlide" Target="/ppt/notesSlides/notesSlide8.xml" Id="Ra6c253e4e3f549e3" /><Relationship Type="http://schemas.openxmlformats.org/officeDocument/2006/relationships/image" Target="/ppt/media/image8.png" Id="R5e3dae17e1bf4e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a04c2a54f4c63" /><Relationship Type="http://schemas.openxmlformats.org/officeDocument/2006/relationships/notesSlide" Target="/ppt/notesSlides/notesSlide9.xml" Id="Rbdcae0a1cfdb4c96" /><Relationship Type="http://schemas.openxmlformats.org/officeDocument/2006/relationships/image" Target="/ppt/media/image9.png" Id="R60c590c97f374b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264df2e05425f" /><Relationship Type="http://schemas.openxmlformats.org/officeDocument/2006/relationships/notesSlide" Target="/ppt/notesSlides/notesSlide10.xml" Id="R189692bb98a14f38" /><Relationship Type="http://schemas.openxmlformats.org/officeDocument/2006/relationships/image" Target="/ppt/media/image10.png" Id="R68b8817411f94e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Element-3"/>
          <p:cNvSpPr/>
          <p:nvPr/>
        </p:nvSpPr>
        <p:spPr>
          <a:xfrm xmlns:a="http://schemas.openxmlformats.org/drawingml/2006/main">
            <a:off x="792000" y="990000"/>
            <a:ext cx="50400" cy="21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1" name="Element-4"/>
          <p:cNvSpPr/>
          <p:nvPr/>
        </p:nvSpPr>
        <p:spPr>
          <a:xfrm xmlns:a="http://schemas.openxmlformats.org/drawingml/2006/main">
            <a:off x="1206000" y="918000"/>
            <a:ext cx="792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4600" b="1" i="0">
                <a:solidFill>
                  <a:srgbClr val="20252D"/>
                </a:solidFill>
                <a:latin typeface="Arial"/>
                <a:ea typeface="Arial"/>
              </a:rPr>
              <a:t>LANCE</a:t>
            </a:r>
          </a:p>
        </p:txBody>
      </p:sp>
      <p:sp>
        <p:nvSpPr>
          <p:cNvPr id="100002" name="Element-5"/>
          <p:cNvSpPr/>
          <p:nvPr/>
        </p:nvSpPr>
        <p:spPr>
          <a:xfrm xmlns:a="http://schemas.openxmlformats.org/drawingml/2006/main">
            <a:off x="1206000" y="1926000"/>
            <a:ext cx="702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850" b="0" i="0">
                <a:solidFill>
                  <a:srgbClr val="5C626C"/>
                </a:solidFill>
                <a:latin typeface="Arial"/>
                <a:ea typeface="Arial"/>
              </a:rPr>
              <a:t>An autonomous and verifiable auditor</a:t>
            </a:r>
          </a:p>
          <a:p xmlns:a="http://schemas.openxmlformats.org/drawingml/2006/main">
            <a:pPr algn="l"/>
            <a:r>
              <a:rPr lang="en-US" sz="1850" b="0" i="0">
                <a:solidFill>
                  <a:srgbClr val="5C626C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03" name="Element-6"/>
          <p:cNvSpPr/>
          <p:nvPr/>
        </p:nvSpPr>
        <p:spPr>
          <a:xfrm xmlns:a="http://schemas.openxmlformats.org/drawingml/2006/main">
            <a:off x="792000" y="333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4" name="Element-7"/>
          <p:cNvSpPr/>
          <p:nvPr/>
        </p:nvSpPr>
        <p:spPr>
          <a:xfrm xmlns:a="http://schemas.openxmlformats.org/drawingml/2006/main">
            <a:off x="1206000" y="34740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Progress report — NATO SPS G6259</a:t>
            </a:r>
          </a:p>
        </p:txBody>
      </p:sp>
      <p:sp>
        <p:nvSpPr>
          <p:cNvPr id="100005" name="Element-8"/>
          <p:cNvSpPr/>
          <p:nvPr/>
        </p:nvSpPr>
        <p:spPr>
          <a:xfrm xmlns:a="http://schemas.openxmlformats.org/drawingml/2006/main">
            <a:off x="1206000" y="3870000"/>
            <a:ext cx="72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23 October 2026  ·  Université de Mons, ILIA</a:t>
            </a:r>
          </a:p>
        </p:txBody>
      </p:sp>
      <p:sp>
        <p:nvSpPr>
          <p:cNvPr id="100006" name="Element-9"/>
          <p:cNvSpPr/>
          <p:nvPr/>
        </p:nvSpPr>
        <p:spPr>
          <a:xfrm xmlns:a="http://schemas.openxmlformats.org/drawingml/2006/main">
            <a:off x="792000" y="4788000"/>
            <a:ext cx="4536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7" name="Element-10"/>
          <p:cNvSpPr/>
          <p:nvPr/>
        </p:nvSpPr>
        <p:spPr>
          <a:xfrm xmlns:a="http://schemas.openxmlformats.org/drawingml/2006/main">
            <a:off x="792000" y="4788000"/>
            <a:ext cx="504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8" name="Element-11"/>
          <p:cNvSpPr/>
          <p:nvPr/>
        </p:nvSpPr>
        <p:spPr>
          <a:xfrm xmlns:a="http://schemas.openxmlformats.org/drawingml/2006/main">
            <a:off x="1134000" y="4788000"/>
            <a:ext cx="403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1">
                <a:solidFill>
                  <a:srgbClr val="5C626C"/>
                </a:solidFill>
                <a:latin typeface="Arial"/>
                <a:ea typeface="Arial"/>
              </a:rPr>
              <a:t>Status: work in progress.</a:t>
            </a:r>
          </a:p>
        </p:txBody>
      </p:sp>
      <p:pic>
        <p:nvPicPr>
          <p:cNvPr id="100009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af91480c345f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504000"/>
            <a:ext cx="1872000" cy="641551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1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7fc578da7410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11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12" name="Element-5"/>
          <p:cNvSpPr/>
          <p:nvPr/>
        </p:nvSpPr>
        <p:spPr>
          <a:xfrm xmlns:a="http://schemas.openxmlformats.org/drawingml/2006/main">
            <a:off x="792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3" name="Element-6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14" name="Element-7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15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1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</a:t>
            </a:r>
          </a:p>
        </p:txBody>
      </p:sp>
      <p:sp>
        <p:nvSpPr>
          <p:cNvPr id="10001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8" name="Element-11"/>
          <p:cNvSpPr/>
          <p:nvPr/>
        </p:nvSpPr>
        <p:spPr>
          <a:xfrm xmlns:a="http://schemas.openxmlformats.org/drawingml/2006/main">
            <a:off x="792000" y="1944000"/>
            <a:ext cx="4302400" cy="15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500" b="1" i="0">
                <a:solidFill>
                  <a:srgbClr val="20252D"/>
                </a:solidFill>
                <a:latin typeface="Arial"/>
                <a:ea typeface="Arial"/>
              </a:rPr>
              <a:t>An auditor that explores, identifies, verifies and reports.</a:t>
            </a:r>
          </a:p>
        </p:txBody>
      </p:sp>
      <p:sp>
        <p:nvSpPr>
          <p:cNvPr id="100019" name="Element-12"/>
          <p:cNvSpPr/>
          <p:nvPr/>
        </p:nvSpPr>
        <p:spPr>
          <a:xfrm xmlns:a="http://schemas.openxmlformats.org/drawingml/2006/main">
            <a:off x="5296000" y="1764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0" name="Element-13"/>
          <p:cNvSpPr/>
          <p:nvPr/>
        </p:nvSpPr>
        <p:spPr>
          <a:xfrm xmlns:a="http://schemas.openxmlformats.org/drawingml/2006/main">
            <a:off x="5296000" y="1962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1" name="Element-14"/>
          <p:cNvSpPr/>
          <p:nvPr/>
        </p:nvSpPr>
        <p:spPr>
          <a:xfrm xmlns:a="http://schemas.openxmlformats.org/drawingml/2006/main">
            <a:off x="5602000" y="1915200"/>
            <a:ext cx="5564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1" i="0">
                <a:solidFill>
                  <a:srgbClr val="20252D"/>
                </a:solidFill>
                <a:latin typeface="Arial"/>
                <a:ea typeface="Arial"/>
              </a:rPr>
              <a:t>Under which conditions</a:t>
            </a:r>
          </a:p>
        </p:txBody>
      </p:sp>
      <p:sp>
        <p:nvSpPr>
          <p:cNvPr id="100022" name="Element-15"/>
          <p:cNvSpPr/>
          <p:nvPr/>
        </p:nvSpPr>
        <p:spPr>
          <a:xfrm xmlns:a="http://schemas.openxmlformats.org/drawingml/2006/main">
            <a:off x="5602000" y="2286000"/>
            <a:ext cx="55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0" i="0">
                <a:solidFill>
                  <a:srgbClr val="5C626C"/>
                </a:solidFill>
                <a:latin typeface="Arial"/>
                <a:ea typeface="Arial"/>
              </a:rPr>
              <a:t>rather than which model prevails</a:t>
            </a:r>
          </a:p>
        </p:txBody>
      </p:sp>
      <p:sp>
        <p:nvSpPr>
          <p:cNvPr id="100023" name="Element-16"/>
          <p:cNvSpPr/>
          <p:nvPr/>
        </p:nvSpPr>
        <p:spPr>
          <a:xfrm xmlns:a="http://schemas.openxmlformats.org/drawingml/2006/main">
            <a:off x="5296000" y="2862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4" name="Element-17"/>
          <p:cNvSpPr/>
          <p:nvPr/>
        </p:nvSpPr>
        <p:spPr>
          <a:xfrm xmlns:a="http://schemas.openxmlformats.org/drawingml/2006/main">
            <a:off x="5296000" y="3060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5" name="Element-18"/>
          <p:cNvSpPr/>
          <p:nvPr/>
        </p:nvSpPr>
        <p:spPr>
          <a:xfrm xmlns:a="http://schemas.openxmlformats.org/drawingml/2006/main">
            <a:off x="5602000" y="3013200"/>
            <a:ext cx="5564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1" i="0">
                <a:solidFill>
                  <a:srgbClr val="20252D"/>
                </a:solidFill>
                <a:latin typeface="Arial"/>
                <a:ea typeface="Arial"/>
              </a:rPr>
              <a:t>Identical tools and budget</a:t>
            </a:r>
          </a:p>
        </p:txBody>
      </p:sp>
      <p:sp>
        <p:nvSpPr>
          <p:cNvPr id="100026" name="Element-19"/>
          <p:cNvSpPr/>
          <p:nvPr/>
        </p:nvSpPr>
        <p:spPr>
          <a:xfrm xmlns:a="http://schemas.openxmlformats.org/drawingml/2006/main">
            <a:off x="5602000" y="3384000"/>
            <a:ext cx="55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0" i="0">
                <a:solidFill>
                  <a:srgbClr val="5C626C"/>
                </a:solidFill>
                <a:latin typeface="Arial"/>
                <a:ea typeface="Arial"/>
              </a:rPr>
              <a:t>for both approaches</a:t>
            </a:r>
          </a:p>
        </p:txBody>
      </p:sp>
      <p:sp>
        <p:nvSpPr>
          <p:cNvPr id="100027" name="Element-20"/>
          <p:cNvSpPr/>
          <p:nvPr/>
        </p:nvSpPr>
        <p:spPr>
          <a:xfrm xmlns:a="http://schemas.openxmlformats.org/drawingml/2006/main">
            <a:off x="5296000" y="3960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8" name="Element-21"/>
          <p:cNvSpPr/>
          <p:nvPr/>
        </p:nvSpPr>
        <p:spPr>
          <a:xfrm xmlns:a="http://schemas.openxmlformats.org/drawingml/2006/main">
            <a:off x="5296000" y="4158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9" name="Element-22"/>
          <p:cNvSpPr/>
          <p:nvPr/>
        </p:nvSpPr>
        <p:spPr>
          <a:xfrm xmlns:a="http://schemas.openxmlformats.org/drawingml/2006/main">
            <a:off x="5602000" y="4111200"/>
            <a:ext cx="5564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1" i="0">
                <a:solidFill>
                  <a:srgbClr val="20252D"/>
                </a:solidFill>
                <a:latin typeface="Arial"/>
                <a:ea typeface="Arial"/>
              </a:rPr>
              <a:t>Evidence, not assertion</a:t>
            </a:r>
          </a:p>
        </p:txBody>
      </p:sp>
      <p:sp>
        <p:nvSpPr>
          <p:cNvPr id="100030" name="Element-23"/>
          <p:cNvSpPr/>
          <p:nvPr/>
        </p:nvSpPr>
        <p:spPr>
          <a:xfrm xmlns:a="http://schemas.openxmlformats.org/drawingml/2006/main">
            <a:off x="5602000" y="4482000"/>
            <a:ext cx="55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0" i="0">
                <a:solidFill>
                  <a:srgbClr val="5C626C"/>
                </a:solidFill>
                <a:latin typeface="Arial"/>
                <a:ea typeface="Arial"/>
              </a:rPr>
              <a:t>recomputed from the log</a:t>
            </a:r>
          </a:p>
        </p:txBody>
      </p:sp>
      <p:sp>
        <p:nvSpPr>
          <p:cNvPr id="100031" name="Element-24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2" name="Caption-2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Model training is not a current priority.</a:t>
            </a:r>
          </a:p>
        </p:txBody>
      </p:sp>
      <p:sp>
        <p:nvSpPr>
          <p:cNvPr id="100033" name="Element-26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34" name="Element-27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2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35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601aedc314b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36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37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38" name="Element-6"/>
          <p:cNvSpPr/>
          <p:nvPr/>
        </p:nvSpPr>
        <p:spPr>
          <a:xfrm xmlns:a="http://schemas.openxmlformats.org/drawingml/2006/main">
            <a:off x="2736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9" name="Element-7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40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41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instrument</a:t>
            </a:r>
          </a:p>
        </p:txBody>
      </p:sp>
      <p:sp>
        <p:nvSpPr>
          <p:cNvPr id="100042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3" name="Element-11"/>
          <p:cNvSpPr/>
          <p:nvPr/>
        </p:nvSpPr>
        <p:spPr>
          <a:xfrm xmlns:a="http://schemas.openxmlformats.org/drawingml/2006/main">
            <a:off x="792000" y="1692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4" name="Element-12"/>
          <p:cNvSpPr/>
          <p:nvPr/>
        </p:nvSpPr>
        <p:spPr>
          <a:xfrm xmlns:a="http://schemas.openxmlformats.org/drawingml/2006/main">
            <a:off x="792000" y="1692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5" name="Element-13"/>
          <p:cNvSpPr/>
          <p:nvPr/>
        </p:nvSpPr>
        <p:spPr>
          <a:xfrm xmlns:a="http://schemas.openxmlformats.org/drawingml/2006/main">
            <a:off x="1206000" y="1692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20252D"/>
                </a:solidFill>
                <a:latin typeface="Arial"/>
                <a:ea typeface="Arial"/>
              </a:rPr>
              <a:t>Laboratory</a:t>
            </a:r>
          </a:p>
        </p:txBody>
      </p:sp>
      <p:sp>
        <p:nvSpPr>
          <p:cNvPr id="100046" name="Element-14"/>
          <p:cNvSpPr/>
          <p:nvPr/>
        </p:nvSpPr>
        <p:spPr>
          <a:xfrm xmlns:a="http://schemas.openxmlformats.org/drawingml/2006/main">
            <a:off x="3510000" y="1692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networks with known ground truth</a:t>
            </a:r>
          </a:p>
        </p:txBody>
      </p:sp>
      <p:sp>
        <p:nvSpPr>
          <p:cNvPr id="100047" name="Element-15"/>
          <p:cNvSpPr/>
          <p:nvPr/>
        </p:nvSpPr>
        <p:spPr>
          <a:xfrm xmlns:a="http://schemas.openxmlformats.org/drawingml/2006/main">
            <a:off x="855000" y="2728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8" name="Element-16"/>
          <p:cNvSpPr/>
          <p:nvPr/>
        </p:nvSpPr>
        <p:spPr>
          <a:xfrm xmlns:a="http://schemas.openxmlformats.org/drawingml/2006/main">
            <a:off x="792000" y="2808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9" name="Element-17"/>
          <p:cNvSpPr/>
          <p:nvPr/>
        </p:nvSpPr>
        <p:spPr>
          <a:xfrm xmlns:a="http://schemas.openxmlformats.org/drawingml/2006/main">
            <a:off x="792000" y="2808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0" name="Element-18"/>
          <p:cNvSpPr/>
          <p:nvPr/>
        </p:nvSpPr>
        <p:spPr>
          <a:xfrm xmlns:a="http://schemas.openxmlformats.org/drawingml/2006/main">
            <a:off x="1206000" y="2808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1D5C96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51" name="Element-19"/>
          <p:cNvSpPr/>
          <p:nvPr/>
        </p:nvSpPr>
        <p:spPr>
          <a:xfrm xmlns:a="http://schemas.openxmlformats.org/drawingml/2006/main">
            <a:off x="3510000" y="2808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conducts the audit</a:t>
            </a:r>
          </a:p>
        </p:txBody>
      </p:sp>
      <p:sp>
        <p:nvSpPr>
          <p:cNvPr id="100052" name="Element-20"/>
          <p:cNvSpPr/>
          <p:nvPr/>
        </p:nvSpPr>
        <p:spPr>
          <a:xfrm xmlns:a="http://schemas.openxmlformats.org/drawingml/2006/main">
            <a:off x="855000" y="3844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3" name="Element-21"/>
          <p:cNvSpPr/>
          <p:nvPr/>
        </p:nvSpPr>
        <p:spPr>
          <a:xfrm xmlns:a="http://schemas.openxmlformats.org/drawingml/2006/main">
            <a:off x="792000" y="3924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4" name="Element-22"/>
          <p:cNvSpPr/>
          <p:nvPr/>
        </p:nvSpPr>
        <p:spPr>
          <a:xfrm xmlns:a="http://schemas.openxmlformats.org/drawingml/2006/main">
            <a:off x="792000" y="3924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5" name="Element-23"/>
          <p:cNvSpPr/>
          <p:nvPr/>
        </p:nvSpPr>
        <p:spPr>
          <a:xfrm xmlns:a="http://schemas.openxmlformats.org/drawingml/2006/main">
            <a:off x="1206000" y="3924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B60036"/>
                </a:solidFill>
                <a:latin typeface="Arial"/>
                <a:ea typeface="Arial"/>
              </a:rPr>
              <a:t>Benchmark</a:t>
            </a:r>
          </a:p>
        </p:txBody>
      </p:sp>
      <p:sp>
        <p:nvSpPr>
          <p:cNvPr id="100056" name="Element-24"/>
          <p:cNvSpPr/>
          <p:nvPr/>
        </p:nvSpPr>
        <p:spPr>
          <a:xfrm xmlns:a="http://schemas.openxmlformats.org/drawingml/2006/main">
            <a:off x="3510000" y="3924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assesses the result</a:t>
            </a:r>
          </a:p>
        </p:txBody>
      </p:sp>
      <p:sp>
        <p:nvSpPr>
          <p:cNvPr id="100057" name="Element-25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8" name="Caption-3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model is one component among them.</a:t>
            </a:r>
          </a:p>
        </p:txBody>
      </p:sp>
      <p:sp>
        <p:nvSpPr>
          <p:cNvPr id="100059" name="Element-27"/>
          <p:cNvSpPr/>
          <p:nvPr/>
        </p:nvSpPr>
        <p:spPr>
          <a:xfrm xmlns:a="http://schemas.openxmlformats.org/drawingml/2006/main">
            <a:off x="792000" y="5781600"/>
            <a:ext cx="1060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A run constitutes a measurement only against known ground truth.</a:t>
            </a:r>
          </a:p>
        </p:txBody>
      </p:sp>
      <p:sp>
        <p:nvSpPr>
          <p:cNvPr id="100060" name="Element-28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61" name="Element-29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3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62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efcafeca34c2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63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64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65" name="Element-6"/>
          <p:cNvSpPr/>
          <p:nvPr/>
        </p:nvSpPr>
        <p:spPr>
          <a:xfrm xmlns:a="http://schemas.openxmlformats.org/drawingml/2006/main">
            <a:off x="2736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6" name="Element-7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67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68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constitutes a finding</a:t>
            </a:r>
          </a:p>
        </p:txBody>
      </p:sp>
      <p:sp>
        <p:nvSpPr>
          <p:cNvPr id="100069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0" name="Element-11"/>
          <p:cNvSpPr/>
          <p:nvPr/>
        </p:nvSpPr>
        <p:spPr>
          <a:xfrm xmlns:a="http://schemas.openxmlformats.org/drawingml/2006/main">
            <a:off x="7920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1" name="Element-12"/>
          <p:cNvSpPr/>
          <p:nvPr/>
        </p:nvSpPr>
        <p:spPr>
          <a:xfrm xmlns:a="http://schemas.openxmlformats.org/drawingml/2006/main">
            <a:off x="1044000" y="19080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50" b="0" i="1">
                <a:solidFill>
                  <a:srgbClr val="5C626C"/>
                </a:solidFill>
                <a:latin typeface="Arial"/>
                <a:ea typeface="Arial"/>
              </a:rPr>
              <a:t>“I have read another organisation's data.”</a:t>
            </a:r>
          </a:p>
        </p:txBody>
      </p:sp>
      <p:sp>
        <p:nvSpPr>
          <p:cNvPr id="100072" name="Element-13"/>
          <p:cNvSpPr/>
          <p:nvPr/>
        </p:nvSpPr>
        <p:spPr>
          <a:xfrm xmlns:a="http://schemas.openxmlformats.org/drawingml/2006/main">
            <a:off x="31236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3" name="Element-14"/>
          <p:cNvSpPr/>
          <p:nvPr/>
        </p:nvSpPr>
        <p:spPr>
          <a:xfrm xmlns:a="http://schemas.openxmlformats.org/drawingml/2006/main">
            <a:off x="1044000" y="2862000"/>
            <a:ext cx="46992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B60036"/>
                </a:solidFill>
                <a:latin typeface="Arial"/>
                <a:ea typeface="Arial"/>
              </a:rPr>
              <a:t>✕   Not admitted</a:t>
            </a:r>
          </a:p>
        </p:txBody>
      </p:sp>
      <p:sp>
        <p:nvSpPr>
          <p:cNvPr id="100074" name="Element-15"/>
          <p:cNvSpPr/>
          <p:nvPr/>
        </p:nvSpPr>
        <p:spPr>
          <a:xfrm xmlns:a="http://schemas.openxmlformats.org/drawingml/2006/main">
            <a:off x="61968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5" name="Element-16"/>
          <p:cNvSpPr/>
          <p:nvPr/>
        </p:nvSpPr>
        <p:spPr>
          <a:xfrm xmlns:a="http://schemas.openxmlformats.org/drawingml/2006/main">
            <a:off x="6448800" y="19080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50" b="0" i="0">
                <a:solidFill>
                  <a:srgbClr val="20252D"/>
                </a:solidFill>
                <a:latin typeface="Arial"/>
                <a:ea typeface="Arial"/>
              </a:rPr>
              <a:t>The request and its response</a:t>
            </a:r>
          </a:p>
          <a:p xmlns:a="http://schemas.openxmlformats.org/drawingml/2006/main">
            <a:pPr algn="ctr"/>
            <a:r>
              <a:rPr lang="en-US" sz="1650" b="0" i="0">
                <a:solidFill>
                  <a:srgbClr val="20252D"/>
                </a:solidFill>
                <a:latin typeface="Arial"/>
                <a:ea typeface="Arial"/>
              </a:rPr>
              <a:t>contain the data.</a:t>
            </a:r>
          </a:p>
        </p:txBody>
      </p:sp>
      <p:sp>
        <p:nvSpPr>
          <p:cNvPr id="100076" name="Element-17"/>
          <p:cNvSpPr/>
          <p:nvPr/>
        </p:nvSpPr>
        <p:spPr>
          <a:xfrm xmlns:a="http://schemas.openxmlformats.org/drawingml/2006/main">
            <a:off x="85284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7" name="Element-18"/>
          <p:cNvSpPr/>
          <p:nvPr/>
        </p:nvSpPr>
        <p:spPr>
          <a:xfrm xmlns:a="http://schemas.openxmlformats.org/drawingml/2006/main">
            <a:off x="6448800" y="2862000"/>
            <a:ext cx="46992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2E7D5B"/>
                </a:solidFill>
                <a:latin typeface="Arial"/>
                <a:ea typeface="Arial"/>
              </a:rPr>
              <a:t>✓   Admitted</a:t>
            </a:r>
          </a:p>
        </p:txBody>
      </p:sp>
      <p:sp>
        <p:nvSpPr>
          <p:cNvPr id="100078" name="Element-19"/>
          <p:cNvSpPr/>
          <p:nvPr/>
        </p:nvSpPr>
        <p:spPr>
          <a:xfrm xmlns:a="http://schemas.openxmlformats.org/drawingml/2006/main">
            <a:off x="792000" y="4158000"/>
            <a:ext cx="10608000" cy="88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9" name="Element-20"/>
          <p:cNvSpPr/>
          <p:nvPr/>
        </p:nvSpPr>
        <p:spPr>
          <a:xfrm xmlns:a="http://schemas.openxmlformats.org/drawingml/2006/main">
            <a:off x="792000" y="4158000"/>
            <a:ext cx="50400" cy="8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0" name="Element-21"/>
          <p:cNvSpPr/>
          <p:nvPr/>
        </p:nvSpPr>
        <p:spPr>
          <a:xfrm xmlns:a="http://schemas.openxmlformats.org/drawingml/2006/main">
            <a:off x="1152000" y="4158000"/>
            <a:ext cx="100320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same trial is conducted on a healthy and on a vulnerable network.   A finding reported on the healthy one is recorded as an error.</a:t>
            </a:r>
          </a:p>
        </p:txBody>
      </p:sp>
      <p:sp>
        <p:nvSpPr>
          <p:cNvPr id="100081" name="Element-22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2" name="Caption-4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finding is recomputed from the log; the conclusion is never taken on trust.</a:t>
            </a:r>
          </a:p>
        </p:txBody>
      </p:sp>
      <p:sp>
        <p:nvSpPr>
          <p:cNvPr id="100083" name="Element-24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84" name="Element-25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4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85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f222a939c47c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86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87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88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89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0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91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Current status</a:t>
            </a:r>
          </a:p>
        </p:txBody>
      </p:sp>
      <p:sp>
        <p:nvSpPr>
          <p:cNvPr id="100092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3" name="Fixed-11"/>
          <p:cNvSpPr/>
          <p:nvPr/>
        </p:nvSpPr>
        <p:spPr>
          <a:xfrm xmlns:a="http://schemas.openxmlformats.org/drawingml/2006/main">
            <a:off x="792000" y="1602000"/>
            <a:ext cx="9576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600" b="1" i="0">
                <a:solidFill>
                  <a:srgbClr val="20252D"/>
                </a:solidFill>
                <a:latin typeface="Arial"/>
                <a:ea typeface="Arial"/>
              </a:rPr>
              <a:t>Both approaches succeed on every configuration.</a:t>
            </a:r>
          </a:p>
        </p:txBody>
      </p:sp>
      <p:sp>
        <p:nvSpPr>
          <p:cNvPr id="100094" name="Element-12"/>
          <p:cNvSpPr/>
          <p:nvPr/>
        </p:nvSpPr>
        <p:spPr>
          <a:xfrm xmlns:a="http://schemas.openxmlformats.org/drawingml/2006/main">
            <a:off x="792000" y="2167200"/>
            <a:ext cx="93600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5" name="Element-13"/>
          <p:cNvSpPr/>
          <p:nvPr/>
        </p:nvSpPr>
        <p:spPr>
          <a:xfrm xmlns:a="http://schemas.openxmlformats.org/drawingml/2006/main">
            <a:off x="792000" y="2538000"/>
            <a:ext cx="504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Rule-based</a:t>
            </a:r>
          </a:p>
        </p:txBody>
      </p:sp>
      <p:sp>
        <p:nvSpPr>
          <p:cNvPr id="100096" name="Element-14"/>
          <p:cNvSpPr/>
          <p:nvPr/>
        </p:nvSpPr>
        <p:spPr>
          <a:xfrm xmlns:a="http://schemas.openxmlformats.org/drawingml/2006/main">
            <a:off x="9600000" y="2538000"/>
            <a:ext cx="180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097" name="Element-15"/>
          <p:cNvSpPr/>
          <p:nvPr/>
        </p:nvSpPr>
        <p:spPr>
          <a:xfrm xmlns:a="http://schemas.openxmlformats.org/drawingml/2006/main">
            <a:off x="792000" y="2916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8" name="Element-16"/>
          <p:cNvSpPr/>
          <p:nvPr/>
        </p:nvSpPr>
        <p:spPr>
          <a:xfrm xmlns:a="http://schemas.openxmlformats.org/drawingml/2006/main">
            <a:off x="792000" y="351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9" name="Element-17"/>
          <p:cNvSpPr/>
          <p:nvPr/>
        </p:nvSpPr>
        <p:spPr>
          <a:xfrm xmlns:a="http://schemas.openxmlformats.org/drawingml/2006/main">
            <a:off x="792000" y="3816000"/>
            <a:ext cx="504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Model-based</a:t>
            </a:r>
          </a:p>
        </p:txBody>
      </p:sp>
      <p:sp>
        <p:nvSpPr>
          <p:cNvPr id="100100" name="Element-18"/>
          <p:cNvSpPr/>
          <p:nvPr/>
        </p:nvSpPr>
        <p:spPr>
          <a:xfrm xmlns:a="http://schemas.openxmlformats.org/drawingml/2006/main">
            <a:off x="9600000" y="3816000"/>
            <a:ext cx="180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01" name="Element-19"/>
          <p:cNvSpPr/>
          <p:nvPr/>
        </p:nvSpPr>
        <p:spPr>
          <a:xfrm xmlns:a="http://schemas.openxmlformats.org/drawingml/2006/main">
            <a:off x="792000" y="4194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2" name="Element-20"/>
          <p:cNvSpPr/>
          <p:nvPr/>
        </p:nvSpPr>
        <p:spPr>
          <a:xfrm xmlns:a="http://schemas.openxmlformats.org/drawingml/2006/main">
            <a:off x="792000" y="4788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3" name="Element-21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4" name="Caption-5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instrument does not discriminate between them.</a:t>
            </a:r>
          </a:p>
        </p:txBody>
      </p:sp>
      <p:sp>
        <p:nvSpPr>
          <p:cNvPr id="100105" name="Element-23"/>
          <p:cNvSpPr/>
          <p:nvPr/>
        </p:nvSpPr>
        <p:spPr>
          <a:xfrm xmlns:a="http://schemas.openxmlformats.org/drawingml/2006/main">
            <a:off x="792000" y="5781600"/>
            <a:ext cx="1060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This is a limitation of the instrument, not of the model.</a:t>
            </a:r>
          </a:p>
        </p:txBody>
      </p:sp>
      <p:sp>
        <p:nvSpPr>
          <p:cNvPr id="100106" name="Element-24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07" name="Element-25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5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0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4d1b45246424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09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10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11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12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3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14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 restated as hypotheses</a:t>
            </a:r>
          </a:p>
        </p:txBody>
      </p:sp>
      <p:sp>
        <p:nvSpPr>
          <p:cNvPr id="100115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6" name="Element-11"/>
          <p:cNvSpPr/>
          <p:nvPr/>
        </p:nvSpPr>
        <p:spPr>
          <a:xfrm xmlns:a="http://schemas.openxmlformats.org/drawingml/2006/main">
            <a:off x="7920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7" name="Element-12"/>
          <p:cNvSpPr/>
          <p:nvPr/>
        </p:nvSpPr>
        <p:spPr>
          <a:xfrm xmlns:a="http://schemas.openxmlformats.org/drawingml/2006/main">
            <a:off x="1008000" y="1846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0118" name="Element-13"/>
          <p:cNvSpPr/>
          <p:nvPr/>
        </p:nvSpPr>
        <p:spPr>
          <a:xfrm xmlns:a="http://schemas.openxmlformats.org/drawingml/2006/main">
            <a:off x="1638000" y="1861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20252D"/>
                </a:solidFill>
                <a:latin typeface="Arial"/>
                <a:ea typeface="Arial"/>
              </a:rPr>
              <a:t>Connected devices</a:t>
            </a:r>
          </a:p>
        </p:txBody>
      </p:sp>
      <p:sp>
        <p:nvSpPr>
          <p:cNvPr id="100119" name="Element-14"/>
          <p:cNvSpPr/>
          <p:nvPr/>
        </p:nvSpPr>
        <p:spPr>
          <a:xfrm xmlns:a="http://schemas.openxmlformats.org/drawingml/2006/main">
            <a:off x="1008000" y="2232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0" name="Element-15"/>
          <p:cNvSpPr/>
          <p:nvPr/>
        </p:nvSpPr>
        <p:spPr>
          <a:xfrm xmlns:a="http://schemas.openxmlformats.org/drawingml/2006/main">
            <a:off x="1008000" y="2358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link absent from public inputs</a:t>
            </a:r>
          </a:p>
        </p:txBody>
      </p:sp>
      <p:sp>
        <p:nvSpPr>
          <p:cNvPr id="100121" name="Element-16"/>
          <p:cNvSpPr/>
          <p:nvPr/>
        </p:nvSpPr>
        <p:spPr>
          <a:xfrm xmlns:a="http://schemas.openxmlformats.org/drawingml/2006/main">
            <a:off x="44036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2" name="Element-17"/>
          <p:cNvSpPr/>
          <p:nvPr/>
        </p:nvSpPr>
        <p:spPr>
          <a:xfrm xmlns:a="http://schemas.openxmlformats.org/drawingml/2006/main">
            <a:off x="4619600" y="1846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00123" name="Element-18"/>
          <p:cNvSpPr/>
          <p:nvPr/>
        </p:nvSpPr>
        <p:spPr>
          <a:xfrm xmlns:a="http://schemas.openxmlformats.org/drawingml/2006/main">
            <a:off x="5249600" y="1861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1" i="0">
                <a:solidFill>
                  <a:srgbClr val="20252D"/>
                </a:solidFill>
                <a:latin typeface="Arial"/>
                <a:ea typeface="Arial"/>
              </a:rPr>
              <a:t>Heterogeneous formats</a:t>
            </a:r>
          </a:p>
        </p:txBody>
      </p:sp>
      <p:sp>
        <p:nvSpPr>
          <p:cNvPr id="100124" name="Element-19"/>
          <p:cNvSpPr/>
          <p:nvPr/>
        </p:nvSpPr>
        <p:spPr>
          <a:xfrm xmlns:a="http://schemas.openxmlformats.org/drawingml/2006/main">
            <a:off x="4619600" y="2232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5" name="Element-20"/>
          <p:cNvSpPr/>
          <p:nvPr/>
        </p:nvSpPr>
        <p:spPr>
          <a:xfrm xmlns:a="http://schemas.openxmlformats.org/drawingml/2006/main">
            <a:off x="4619600" y="2358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representation no parser covers</a:t>
            </a:r>
          </a:p>
        </p:txBody>
      </p:sp>
      <p:sp>
        <p:nvSpPr>
          <p:cNvPr id="100126" name="Element-21"/>
          <p:cNvSpPr/>
          <p:nvPr/>
        </p:nvSpPr>
        <p:spPr>
          <a:xfrm xmlns:a="http://schemas.openxmlformats.org/drawingml/2006/main">
            <a:off x="80152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7" name="Element-22"/>
          <p:cNvSpPr/>
          <p:nvPr/>
        </p:nvSpPr>
        <p:spPr>
          <a:xfrm xmlns:a="http://schemas.openxmlformats.org/drawingml/2006/main">
            <a:off x="8231200" y="1846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00128" name="Element-23"/>
          <p:cNvSpPr/>
          <p:nvPr/>
        </p:nvSpPr>
        <p:spPr>
          <a:xfrm xmlns:a="http://schemas.openxmlformats.org/drawingml/2006/main">
            <a:off x="8861200" y="1861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20252D"/>
                </a:solidFill>
                <a:latin typeface="Arial"/>
                <a:ea typeface="Arial"/>
              </a:rPr>
              <a:t>Novel contracts</a:t>
            </a:r>
          </a:p>
        </p:txBody>
      </p:sp>
      <p:sp>
        <p:nvSpPr>
          <p:cNvPr id="100129" name="Element-24"/>
          <p:cNvSpPr/>
          <p:nvPr/>
        </p:nvSpPr>
        <p:spPr>
          <a:xfrm xmlns:a="http://schemas.openxmlformats.org/drawingml/2006/main">
            <a:off x="8231200" y="2232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0" name="Element-25"/>
          <p:cNvSpPr/>
          <p:nvPr/>
        </p:nvSpPr>
        <p:spPr>
          <a:xfrm xmlns:a="http://schemas.openxmlformats.org/drawingml/2006/main">
            <a:off x="8231200" y="2358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rights stated in unseen documentation</a:t>
            </a:r>
          </a:p>
        </p:txBody>
      </p:sp>
      <p:sp>
        <p:nvSpPr>
          <p:cNvPr id="100131" name="Element-26"/>
          <p:cNvSpPr/>
          <p:nvPr/>
        </p:nvSpPr>
        <p:spPr>
          <a:xfrm xmlns:a="http://schemas.openxmlformats.org/drawingml/2006/main">
            <a:off x="7920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2" name="Element-27"/>
          <p:cNvSpPr/>
          <p:nvPr/>
        </p:nvSpPr>
        <p:spPr>
          <a:xfrm xmlns:a="http://schemas.openxmlformats.org/drawingml/2006/main">
            <a:off x="1008000" y="3412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100133" name="Element-28"/>
          <p:cNvSpPr/>
          <p:nvPr/>
        </p:nvSpPr>
        <p:spPr>
          <a:xfrm xmlns:a="http://schemas.openxmlformats.org/drawingml/2006/main">
            <a:off x="1638000" y="3427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20252D"/>
                </a:solidFill>
                <a:latin typeface="Arial"/>
                <a:ea typeface="Arial"/>
              </a:rPr>
              <a:t>Vendor semantics</a:t>
            </a:r>
          </a:p>
        </p:txBody>
      </p:sp>
      <p:sp>
        <p:nvSpPr>
          <p:cNvPr id="100134" name="Element-29"/>
          <p:cNvSpPr/>
          <p:nvPr/>
        </p:nvSpPr>
        <p:spPr>
          <a:xfrm xmlns:a="http://schemas.openxmlformats.org/drawingml/2006/main">
            <a:off x="1008000" y="3798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5" name="Element-30"/>
          <p:cNvSpPr/>
          <p:nvPr/>
        </p:nvSpPr>
        <p:spPr>
          <a:xfrm xmlns:a="http://schemas.openxmlformats.org/drawingml/2006/main">
            <a:off x="1008000" y="3924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field whose meaning is only documented</a:t>
            </a:r>
          </a:p>
        </p:txBody>
      </p:sp>
      <p:sp>
        <p:nvSpPr>
          <p:cNvPr id="100136" name="Element-31"/>
          <p:cNvSpPr/>
          <p:nvPr/>
        </p:nvSpPr>
        <p:spPr>
          <a:xfrm xmlns:a="http://schemas.openxmlformats.org/drawingml/2006/main">
            <a:off x="44036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7" name="Element-32"/>
          <p:cNvSpPr/>
          <p:nvPr/>
        </p:nvSpPr>
        <p:spPr>
          <a:xfrm xmlns:a="http://schemas.openxmlformats.org/drawingml/2006/main">
            <a:off x="4619600" y="3412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H5</a:t>
            </a:r>
          </a:p>
        </p:txBody>
      </p:sp>
      <p:sp>
        <p:nvSpPr>
          <p:cNvPr id="100138" name="Element-33"/>
          <p:cNvSpPr/>
          <p:nvPr/>
        </p:nvSpPr>
        <p:spPr>
          <a:xfrm xmlns:a="http://schemas.openxmlformats.org/drawingml/2006/main">
            <a:off x="5249600" y="3427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20252D"/>
                </a:solidFill>
                <a:latin typeface="Arial"/>
                <a:ea typeface="Arial"/>
              </a:rPr>
              <a:t>Ambiguous refusals</a:t>
            </a:r>
          </a:p>
        </p:txBody>
      </p:sp>
      <p:sp>
        <p:nvSpPr>
          <p:cNvPr id="100139" name="Element-34"/>
          <p:cNvSpPr/>
          <p:nvPr/>
        </p:nvSpPr>
        <p:spPr>
          <a:xfrm xmlns:a="http://schemas.openxmlformats.org/drawingml/2006/main">
            <a:off x="4619600" y="3798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0" name="Element-35"/>
          <p:cNvSpPr/>
          <p:nvPr/>
        </p:nvSpPr>
        <p:spPr>
          <a:xfrm xmlns:a="http://schemas.openxmlformats.org/drawingml/2006/main">
            <a:off x="4619600" y="3924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resuming the audit after a refusal</a:t>
            </a:r>
          </a:p>
        </p:txBody>
      </p:sp>
      <p:sp>
        <p:nvSpPr>
          <p:cNvPr id="100141" name="Element-36"/>
          <p:cNvSpPr/>
          <p:nvPr/>
        </p:nvSpPr>
        <p:spPr>
          <a:xfrm xmlns:a="http://schemas.openxmlformats.org/drawingml/2006/main">
            <a:off x="80152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2" name="Element-37"/>
          <p:cNvSpPr/>
          <p:nvPr/>
        </p:nvSpPr>
        <p:spPr>
          <a:xfrm xmlns:a="http://schemas.openxmlformats.org/drawingml/2006/main">
            <a:off x="8231200" y="3412800"/>
            <a:ext cx="612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H6</a:t>
            </a:r>
          </a:p>
        </p:txBody>
      </p:sp>
      <p:sp>
        <p:nvSpPr>
          <p:cNvPr id="100143" name="Element-38"/>
          <p:cNvSpPr/>
          <p:nvPr/>
        </p:nvSpPr>
        <p:spPr>
          <a:xfrm xmlns:a="http://schemas.openxmlformats.org/drawingml/2006/main">
            <a:off x="8861200" y="3427200"/>
            <a:ext cx="234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B60036"/>
                </a:solidFill>
                <a:latin typeface="Arial"/>
                <a:ea typeface="Arial"/>
              </a:rPr>
              <a:t>Hostile content</a:t>
            </a:r>
          </a:p>
        </p:txBody>
      </p:sp>
      <p:sp>
        <p:nvSpPr>
          <p:cNvPr id="100144" name="Element-39"/>
          <p:cNvSpPr/>
          <p:nvPr/>
        </p:nvSpPr>
        <p:spPr>
          <a:xfrm xmlns:a="http://schemas.openxmlformats.org/drawingml/2006/main">
            <a:off x="8231200" y="37980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5" name="Element-40"/>
          <p:cNvSpPr/>
          <p:nvPr/>
        </p:nvSpPr>
        <p:spPr>
          <a:xfrm xmlns:a="http://schemas.openxmlformats.org/drawingml/2006/main">
            <a:off x="8231200" y="3924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an instruction obeyed from observed content</a:t>
            </a:r>
          </a:p>
        </p:txBody>
      </p:sp>
      <p:sp>
        <p:nvSpPr>
          <p:cNvPr id="100146" name="Element-41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7" name="Caption-6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H1–H5 quantify a possible gain.      H6 quantifies a risk.</a:t>
            </a:r>
          </a:p>
        </p:txBody>
      </p:sp>
      <p:sp>
        <p:nvSpPr>
          <p:cNvPr id="100148" name="Element-43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49" name="Element-44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5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21f576291414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51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52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53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54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5" name="Element-8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5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A control task before testing the model</a:t>
            </a:r>
          </a:p>
        </p:txBody>
      </p:sp>
      <p:sp>
        <p:nvSpPr>
          <p:cNvPr id="10015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8" name="Element-11"/>
          <p:cNvSpPr/>
          <p:nvPr/>
        </p:nvSpPr>
        <p:spPr>
          <a:xfrm xmlns:a="http://schemas.openxmlformats.org/drawingml/2006/main">
            <a:off x="792000" y="1602000"/>
            <a:ext cx="10608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50" b="0" i="0">
                <a:solidFill>
                  <a:srgbClr val="5C626C"/>
                </a:solidFill>
                <a:latin typeface="Arial"/>
                <a:ea typeface="Arial"/>
              </a:rPr>
              <a:t>A control task, simple enough to be solved without inference.   Both approaches are required to pass.</a:t>
            </a:r>
          </a:p>
        </p:txBody>
      </p:sp>
      <p:sp>
        <p:nvSpPr>
          <p:cNvPr id="100159" name="Element-12"/>
          <p:cNvSpPr/>
          <p:nvPr/>
        </p:nvSpPr>
        <p:spPr>
          <a:xfrm xmlns:a="http://schemas.openxmlformats.org/drawingml/2006/main">
            <a:off x="2718000" y="2131200"/>
            <a:ext cx="4242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model ✗</a:t>
            </a:r>
          </a:p>
        </p:txBody>
      </p:sp>
      <p:sp>
        <p:nvSpPr>
          <p:cNvPr id="100160" name="Element-13"/>
          <p:cNvSpPr/>
          <p:nvPr/>
        </p:nvSpPr>
        <p:spPr>
          <a:xfrm xmlns:a="http://schemas.openxmlformats.org/drawingml/2006/main">
            <a:off x="7158000" y="2131200"/>
            <a:ext cx="4242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model ✓</a:t>
            </a:r>
          </a:p>
        </p:txBody>
      </p:sp>
      <p:sp>
        <p:nvSpPr>
          <p:cNvPr id="100161" name="Element-14"/>
          <p:cNvSpPr/>
          <p:nvPr/>
        </p:nvSpPr>
        <p:spPr>
          <a:xfrm xmlns:a="http://schemas.openxmlformats.org/drawingml/2006/main">
            <a:off x="2718000" y="2322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2" name="Element-15"/>
          <p:cNvSpPr/>
          <p:nvPr/>
        </p:nvSpPr>
        <p:spPr>
          <a:xfrm xmlns:a="http://schemas.openxmlformats.org/drawingml/2006/main">
            <a:off x="2718000" y="2322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3" name="Element-16"/>
          <p:cNvSpPr/>
          <p:nvPr/>
        </p:nvSpPr>
        <p:spPr>
          <a:xfrm xmlns:a="http://schemas.openxmlformats.org/drawingml/2006/main">
            <a:off x="2988000" y="2322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B60036"/>
                </a:solidFill>
                <a:latin typeface="Arial"/>
                <a:ea typeface="Arial"/>
              </a:rPr>
              <a:t>a defect in the instrument</a:t>
            </a:r>
          </a:p>
        </p:txBody>
      </p:sp>
      <p:sp>
        <p:nvSpPr>
          <p:cNvPr id="100164" name="Element-17"/>
          <p:cNvSpPr/>
          <p:nvPr/>
        </p:nvSpPr>
        <p:spPr>
          <a:xfrm xmlns:a="http://schemas.openxmlformats.org/drawingml/2006/main">
            <a:off x="7158000" y="2322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5" name="Element-18"/>
          <p:cNvSpPr/>
          <p:nvPr/>
        </p:nvSpPr>
        <p:spPr>
          <a:xfrm xmlns:a="http://schemas.openxmlformats.org/drawingml/2006/main">
            <a:off x="7158000" y="2322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6" name="Element-19"/>
          <p:cNvSpPr/>
          <p:nvPr/>
        </p:nvSpPr>
        <p:spPr>
          <a:xfrm xmlns:a="http://schemas.openxmlformats.org/drawingml/2006/main">
            <a:off x="7428000" y="2322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E7D5B"/>
                </a:solidFill>
                <a:latin typeface="Arial"/>
                <a:ea typeface="Arial"/>
              </a:rPr>
              <a:t>valid — the hypotheses may be read</a:t>
            </a:r>
          </a:p>
        </p:txBody>
      </p:sp>
      <p:sp>
        <p:nvSpPr>
          <p:cNvPr id="100167" name="Element-20"/>
          <p:cNvSpPr/>
          <p:nvPr/>
        </p:nvSpPr>
        <p:spPr>
          <a:xfrm xmlns:a="http://schemas.openxmlformats.org/drawingml/2006/main">
            <a:off x="2718000" y="3708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8" name="Element-21"/>
          <p:cNvSpPr/>
          <p:nvPr/>
        </p:nvSpPr>
        <p:spPr>
          <a:xfrm xmlns:a="http://schemas.openxmlformats.org/drawingml/2006/main">
            <a:off x="2718000" y="3708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9" name="Element-22"/>
          <p:cNvSpPr/>
          <p:nvPr/>
        </p:nvSpPr>
        <p:spPr>
          <a:xfrm xmlns:a="http://schemas.openxmlformats.org/drawingml/2006/main">
            <a:off x="2988000" y="3708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0" i="0">
                <a:solidFill>
                  <a:srgbClr val="5C626C"/>
                </a:solidFill>
                <a:latin typeface="Arial"/>
                <a:ea typeface="Arial"/>
              </a:rPr>
              <a:t>beyond the reach of this instrument</a:t>
            </a:r>
          </a:p>
        </p:txBody>
      </p:sp>
      <p:sp>
        <p:nvSpPr>
          <p:cNvPr id="100170" name="Element-23"/>
          <p:cNvSpPr/>
          <p:nvPr/>
        </p:nvSpPr>
        <p:spPr>
          <a:xfrm xmlns:a="http://schemas.openxmlformats.org/drawingml/2006/main">
            <a:off x="7158000" y="3708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1" name="Element-24"/>
          <p:cNvSpPr/>
          <p:nvPr/>
        </p:nvSpPr>
        <p:spPr>
          <a:xfrm xmlns:a="http://schemas.openxmlformats.org/drawingml/2006/main">
            <a:off x="7158000" y="3708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2" name="Element-25"/>
          <p:cNvSpPr/>
          <p:nvPr/>
        </p:nvSpPr>
        <p:spPr>
          <a:xfrm xmlns:a="http://schemas.openxmlformats.org/drawingml/2006/main">
            <a:off x="7428000" y="3708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a gain, or a coverage gap</a:t>
            </a:r>
          </a:p>
        </p:txBody>
      </p:sp>
      <p:sp>
        <p:nvSpPr>
          <p:cNvPr id="100173" name="Element-26"/>
          <p:cNvSpPr/>
          <p:nvPr/>
        </p:nvSpPr>
        <p:spPr>
          <a:xfrm xmlns:a="http://schemas.openxmlformats.org/drawingml/2006/main">
            <a:off x="792000" y="2322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✓</a:t>
            </a:r>
          </a:p>
        </p:txBody>
      </p:sp>
      <p:sp>
        <p:nvSpPr>
          <p:cNvPr id="100174" name="Element-27"/>
          <p:cNvSpPr/>
          <p:nvPr/>
        </p:nvSpPr>
        <p:spPr>
          <a:xfrm xmlns:a="http://schemas.openxmlformats.org/drawingml/2006/main">
            <a:off x="792000" y="3708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✗</a:t>
            </a:r>
          </a:p>
        </p:txBody>
      </p:sp>
      <p:sp>
        <p:nvSpPr>
          <p:cNvPr id="100175" name="Element-28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6" name="Caption-7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Only a control that the script and the model both pass permits the hypotheses to be read.</a:t>
            </a:r>
          </a:p>
        </p:txBody>
      </p:sp>
      <p:sp>
        <p:nvSpPr>
          <p:cNvPr id="100177" name="Element-30"/>
          <p:cNvSpPr/>
          <p:nvPr/>
        </p:nvSpPr>
        <p:spPr>
          <a:xfrm xmlns:a="http://schemas.openxmlformats.org/drawingml/2006/main">
            <a:off x="792000" y="6112800"/>
            <a:ext cx="1060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Implemented and tested offline. The laboratory run remains outstanding.</a:t>
            </a:r>
          </a:p>
        </p:txBody>
      </p:sp>
      <p:sp>
        <p:nvSpPr>
          <p:cNvPr id="100178" name="Element-31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79" name="Element-32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7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8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dae17e1bf4ec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81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82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83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84" name="Element-7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85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cannot claim</a:t>
            </a:r>
          </a:p>
        </p:txBody>
      </p:sp>
      <p:sp>
        <p:nvSpPr>
          <p:cNvPr id="10018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8" name="Element-11"/>
          <p:cNvSpPr/>
          <p:nvPr/>
        </p:nvSpPr>
        <p:spPr>
          <a:xfrm xmlns:a="http://schemas.openxmlformats.org/drawingml/2006/main">
            <a:off x="792000" y="1728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9" name="Element-12"/>
          <p:cNvSpPr/>
          <p:nvPr/>
        </p:nvSpPr>
        <p:spPr>
          <a:xfrm xmlns:a="http://schemas.openxmlformats.org/drawingml/2006/main">
            <a:off x="792000" y="1728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0" name="Element-13"/>
          <p:cNvSpPr/>
          <p:nvPr/>
        </p:nvSpPr>
        <p:spPr>
          <a:xfrm xmlns:a="http://schemas.openxmlformats.org/drawingml/2006/main">
            <a:off x="1098000" y="1728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91" name="Element-14"/>
          <p:cNvSpPr/>
          <p:nvPr/>
        </p:nvSpPr>
        <p:spPr>
          <a:xfrm xmlns:a="http://schemas.openxmlformats.org/drawingml/2006/main">
            <a:off x="1620000" y="1728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general advantage</a:t>
            </a:r>
          </a:p>
        </p:txBody>
      </p:sp>
      <p:sp>
        <p:nvSpPr>
          <p:cNvPr id="100192" name="Element-15"/>
          <p:cNvSpPr/>
          <p:nvPr/>
        </p:nvSpPr>
        <p:spPr>
          <a:xfrm xmlns:a="http://schemas.openxmlformats.org/drawingml/2006/main">
            <a:off x="5148000" y="1728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No hypothesis has yet been executed.</a:t>
            </a:r>
          </a:p>
        </p:txBody>
      </p:sp>
      <p:sp>
        <p:nvSpPr>
          <p:cNvPr id="100193" name="Element-16"/>
          <p:cNvSpPr/>
          <p:nvPr/>
        </p:nvSpPr>
        <p:spPr>
          <a:xfrm xmlns:a="http://schemas.openxmlformats.org/drawingml/2006/main">
            <a:off x="792000" y="2826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4" name="Element-17"/>
          <p:cNvSpPr/>
          <p:nvPr/>
        </p:nvSpPr>
        <p:spPr>
          <a:xfrm xmlns:a="http://schemas.openxmlformats.org/drawingml/2006/main">
            <a:off x="792000" y="2826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5" name="Element-18"/>
          <p:cNvSpPr/>
          <p:nvPr/>
        </p:nvSpPr>
        <p:spPr>
          <a:xfrm xmlns:a="http://schemas.openxmlformats.org/drawingml/2006/main">
            <a:off x="1098000" y="2826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96" name="Element-19"/>
          <p:cNvSpPr/>
          <p:nvPr/>
        </p:nvSpPr>
        <p:spPr>
          <a:xfrm xmlns:a="http://schemas.openxmlformats.org/drawingml/2006/main">
            <a:off x="1620000" y="2826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confidence interval</a:t>
            </a:r>
          </a:p>
        </p:txBody>
      </p:sp>
      <p:sp>
        <p:nvSpPr>
          <p:cNvPr id="100197" name="Element-20"/>
          <p:cNvSpPr/>
          <p:nvPr/>
        </p:nvSpPr>
        <p:spPr>
          <a:xfrm xmlns:a="http://schemas.openxmlformats.org/drawingml/2006/main">
            <a:off x="5148000" y="2826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Three repetitions yield a dispersion, not a sample.</a:t>
            </a:r>
          </a:p>
        </p:txBody>
      </p:sp>
      <p:sp>
        <p:nvSpPr>
          <p:cNvPr id="100198" name="Element-21"/>
          <p:cNvSpPr/>
          <p:nvPr/>
        </p:nvSpPr>
        <p:spPr>
          <a:xfrm xmlns:a="http://schemas.openxmlformats.org/drawingml/2006/main">
            <a:off x="792000" y="3924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9" name="Element-22"/>
          <p:cNvSpPr/>
          <p:nvPr/>
        </p:nvSpPr>
        <p:spPr>
          <a:xfrm xmlns:a="http://schemas.openxmlformats.org/drawingml/2006/main">
            <a:off x="792000" y="3924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0" name="Element-23"/>
          <p:cNvSpPr/>
          <p:nvPr/>
        </p:nvSpPr>
        <p:spPr>
          <a:xfrm xmlns:a="http://schemas.openxmlformats.org/drawingml/2006/main">
            <a:off x="1098000" y="3924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01" name="Element-24"/>
          <p:cNvSpPr/>
          <p:nvPr/>
        </p:nvSpPr>
        <p:spPr>
          <a:xfrm xmlns:a="http://schemas.openxmlformats.org/drawingml/2006/main">
            <a:off x="1620000" y="3924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admitted evidence</a:t>
            </a:r>
          </a:p>
        </p:txBody>
      </p:sp>
      <p:sp>
        <p:nvSpPr>
          <p:cNvPr id="100202" name="Element-25"/>
          <p:cNvSpPr/>
          <p:nvPr/>
        </p:nvSpPr>
        <p:spPr>
          <a:xfrm xmlns:a="http://schemas.openxmlformats.org/drawingml/2006/main">
            <a:off x="5148000" y="3924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metric definition is not frozen.</a:t>
            </a:r>
          </a:p>
        </p:txBody>
      </p:sp>
      <p:sp>
        <p:nvSpPr>
          <p:cNvPr id="100203" name="Element-26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4" name="Caption-8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successful run is not a measurement: one early run reported success while every model arm had failed.</a:t>
            </a:r>
          </a:p>
        </p:txBody>
      </p:sp>
      <p:sp>
        <p:nvSpPr>
          <p:cNvPr id="100205" name="Element-28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06" name="Element-29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8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0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590c97f374bd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08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09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10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11" name="Element-7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12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3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Next steps</a:t>
            </a:r>
          </a:p>
        </p:txBody>
      </p:sp>
      <p:sp>
        <p:nvSpPr>
          <p:cNvPr id="100214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5" name="Fixed-11"/>
          <p:cNvSpPr/>
          <p:nvPr/>
        </p:nvSpPr>
        <p:spPr>
          <a:xfrm xmlns:a="http://schemas.openxmlformats.org/drawingml/2006/main">
            <a:off x="792000" y="1782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216" name="Fixed-12"/>
          <p:cNvSpPr/>
          <p:nvPr/>
        </p:nvSpPr>
        <p:spPr>
          <a:xfrm xmlns:a="http://schemas.openxmlformats.org/drawingml/2006/main">
            <a:off x="1494000" y="1782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Execute V0 on a held-out instance</a:t>
            </a:r>
          </a:p>
        </p:txBody>
      </p:sp>
      <p:sp>
        <p:nvSpPr>
          <p:cNvPr id="100217" name="Element-13"/>
          <p:cNvSpPr/>
          <p:nvPr/>
        </p:nvSpPr>
        <p:spPr>
          <a:xfrm xmlns:a="http://schemas.openxmlformats.org/drawingml/2006/main">
            <a:off x="1494000" y="2430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8" name="Fixed-14"/>
          <p:cNvSpPr/>
          <p:nvPr/>
        </p:nvSpPr>
        <p:spPr>
          <a:xfrm xmlns:a="http://schemas.openxmlformats.org/drawingml/2006/main">
            <a:off x="792000" y="2718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219" name="Fixed-15"/>
          <p:cNvSpPr/>
          <p:nvPr/>
        </p:nvSpPr>
        <p:spPr>
          <a:xfrm xmlns:a="http://schemas.openxmlformats.org/drawingml/2006/main">
            <a:off x="1494000" y="2718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Develop a parameterisable test harness</a:t>
            </a:r>
          </a:p>
        </p:txBody>
      </p:sp>
      <p:sp>
        <p:nvSpPr>
          <p:cNvPr id="100220" name="Element-16"/>
          <p:cNvSpPr/>
          <p:nvPr/>
        </p:nvSpPr>
        <p:spPr>
          <a:xfrm xmlns:a="http://schemas.openxmlformats.org/drawingml/2006/main">
            <a:off x="1494000" y="3366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1" name="Fixed-17"/>
          <p:cNvSpPr/>
          <p:nvPr/>
        </p:nvSpPr>
        <p:spPr>
          <a:xfrm xmlns:a="http://schemas.openxmlformats.org/drawingml/2006/main">
            <a:off x="792000" y="3654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222" name="Fixed-18"/>
          <p:cNvSpPr/>
          <p:nvPr/>
        </p:nvSpPr>
        <p:spPr>
          <a:xfrm xmlns:a="http://schemas.openxmlformats.org/drawingml/2006/main">
            <a:off x="1494000" y="3654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Build the scenario families for H2, H3 and H4</a:t>
            </a:r>
          </a:p>
        </p:txBody>
      </p:sp>
      <p:sp>
        <p:nvSpPr>
          <p:cNvPr id="100223" name="Element-19"/>
          <p:cNvSpPr/>
          <p:nvPr/>
        </p:nvSpPr>
        <p:spPr>
          <a:xfrm xmlns:a="http://schemas.openxmlformats.org/drawingml/2006/main">
            <a:off x="1494000" y="4302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4" name="Fixed-20"/>
          <p:cNvSpPr/>
          <p:nvPr/>
        </p:nvSpPr>
        <p:spPr>
          <a:xfrm xmlns:a="http://schemas.openxmlformats.org/drawingml/2006/main">
            <a:off x="792000" y="4590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225" name="Fixed-21"/>
          <p:cNvSpPr/>
          <p:nvPr/>
        </p:nvSpPr>
        <p:spPr>
          <a:xfrm xmlns:a="http://schemas.openxmlformats.org/drawingml/2006/main">
            <a:off x="1494000" y="4590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Deploy a reproducible platform</a:t>
            </a:r>
          </a:p>
        </p:txBody>
      </p:sp>
      <p:sp>
        <p:nvSpPr>
          <p:cNvPr id="100226" name="Element-22"/>
          <p:cNvSpPr/>
          <p:nvPr/>
        </p:nvSpPr>
        <p:spPr>
          <a:xfrm xmlns:a="http://schemas.openxmlformats.org/drawingml/2006/main">
            <a:off x="7998400" y="1782000"/>
            <a:ext cx="3401600" cy="29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7" name="Element-23"/>
          <p:cNvSpPr/>
          <p:nvPr/>
        </p:nvSpPr>
        <p:spPr>
          <a:xfrm xmlns:a="http://schemas.openxmlformats.org/drawingml/2006/main">
            <a:off x="7998400" y="1782000"/>
            <a:ext cx="50400" cy="29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8" name="Fixed-24"/>
          <p:cNvSpPr/>
          <p:nvPr/>
        </p:nvSpPr>
        <p:spPr>
          <a:xfrm xmlns:a="http://schemas.openxmlformats.org/drawingml/2006/main">
            <a:off x="8304400" y="1879200"/>
            <a:ext cx="27896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Support requested</a:t>
            </a:r>
          </a:p>
        </p:txBody>
      </p:sp>
      <p:sp>
        <p:nvSpPr>
          <p:cNvPr id="100229" name="Element-25"/>
          <p:cNvSpPr/>
          <p:nvPr/>
        </p:nvSpPr>
        <p:spPr>
          <a:xfrm xmlns:a="http://schemas.openxmlformats.org/drawingml/2006/main">
            <a:off x="8304400" y="2466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0" name="Fixed-26"/>
          <p:cNvSpPr/>
          <p:nvPr/>
        </p:nvSpPr>
        <p:spPr>
          <a:xfrm xmlns:a="http://schemas.openxmlformats.org/drawingml/2006/main">
            <a:off x="8574400" y="2322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access to real vendor artifacts</a:t>
            </a:r>
          </a:p>
        </p:txBody>
      </p:sp>
      <p:sp>
        <p:nvSpPr>
          <p:cNvPr id="100231" name="Element-27"/>
          <p:cNvSpPr/>
          <p:nvPr/>
        </p:nvSpPr>
        <p:spPr>
          <a:xfrm xmlns:a="http://schemas.openxmlformats.org/drawingml/2006/main">
            <a:off x="8304400" y="3348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2" name="Fixed-28"/>
          <p:cNvSpPr/>
          <p:nvPr/>
        </p:nvSpPr>
        <p:spPr>
          <a:xfrm xmlns:a="http://schemas.openxmlformats.org/drawingml/2006/main">
            <a:off x="8574400" y="3204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an adversarial review of the register</a:t>
            </a:r>
          </a:p>
        </p:txBody>
      </p:sp>
      <p:sp>
        <p:nvSpPr>
          <p:cNvPr id="100233" name="Element-29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4" name="Caption-9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Order follows conditions, not dates.</a:t>
            </a:r>
          </a:p>
        </p:txBody>
      </p:sp>
      <p:sp>
        <p:nvSpPr>
          <p:cNvPr id="100235" name="Element-31"/>
          <p:cNvSpPr/>
          <p:nvPr/>
        </p:nvSpPr>
        <p:spPr>
          <a:xfrm xmlns:a="http://schemas.openxmlformats.org/drawingml/2006/main">
            <a:off x="792000" y="5781600"/>
            <a:ext cx="1060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AsiaCCS 2027 — submission deadline 11 December 2026 (AoE).</a:t>
            </a:r>
          </a:p>
        </p:txBody>
      </p:sp>
      <p:sp>
        <p:nvSpPr>
          <p:cNvPr id="100236" name="Element-32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37" name="Element-33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9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3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8817411f94e5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39" name="Element-4"/>
          <p:cNvSpPr/>
          <p:nvPr/>
        </p:nvSpPr>
        <p:spPr>
          <a:xfrm xmlns:a="http://schemas.openxmlformats.org/drawingml/2006/main">
            <a:off x="792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40" name="Element-5"/>
          <p:cNvSpPr/>
          <p:nvPr/>
        </p:nvSpPr>
        <p:spPr>
          <a:xfrm xmlns:a="http://schemas.openxmlformats.org/drawingml/2006/main">
            <a:off x="2736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41" name="Element-6"/>
          <p:cNvSpPr/>
          <p:nvPr/>
        </p:nvSpPr>
        <p:spPr>
          <a:xfrm xmlns:a="http://schemas.openxmlformats.org/drawingml/2006/main">
            <a:off x="4680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42" name="Element-7"/>
          <p:cNvSpPr/>
          <p:nvPr/>
        </p:nvSpPr>
        <p:spPr>
          <a:xfrm xmlns:a="http://schemas.openxmlformats.org/drawingml/2006/main">
            <a:off x="6624000" y="309600"/>
            <a:ext cx="176400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43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4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declared coverage gaps</a:t>
            </a:r>
          </a:p>
        </p:txBody>
      </p:sp>
      <p:sp>
        <p:nvSpPr>
          <p:cNvPr id="100245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6" name="Element-11"/>
          <p:cNvSpPr/>
          <p:nvPr/>
        </p:nvSpPr>
        <p:spPr>
          <a:xfrm xmlns:a="http://schemas.openxmlformats.org/drawingml/2006/main">
            <a:off x="792000" y="1926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7" name="Fixed-12"/>
          <p:cNvSpPr/>
          <p:nvPr/>
        </p:nvSpPr>
        <p:spPr>
          <a:xfrm xmlns:a="http://schemas.openxmlformats.org/drawingml/2006/main">
            <a:off x="1170000" y="1818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Physical impact and functional safety</a:t>
            </a:r>
          </a:p>
        </p:txBody>
      </p:sp>
      <p:sp>
        <p:nvSpPr>
          <p:cNvPr id="100248" name="Element-13"/>
          <p:cNvSpPr/>
          <p:nvPr/>
        </p:nvSpPr>
        <p:spPr>
          <a:xfrm xmlns:a="http://schemas.openxmlformats.org/drawingml/2006/main">
            <a:off x="792000" y="2520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9" name="Element-14"/>
          <p:cNvSpPr/>
          <p:nvPr/>
        </p:nvSpPr>
        <p:spPr>
          <a:xfrm xmlns:a="http://schemas.openxmlformats.org/drawingml/2006/main">
            <a:off x="792000" y="2808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0" name="Fixed-15"/>
          <p:cNvSpPr/>
          <p:nvPr/>
        </p:nvSpPr>
        <p:spPr>
          <a:xfrm xmlns:a="http://schemas.openxmlformats.org/drawingml/2006/main">
            <a:off x="1170000" y="2700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Device fragility under probing</a:t>
            </a:r>
          </a:p>
        </p:txBody>
      </p:sp>
      <p:sp>
        <p:nvSpPr>
          <p:cNvPr id="100251" name="Element-16"/>
          <p:cNvSpPr/>
          <p:nvPr/>
        </p:nvSpPr>
        <p:spPr>
          <a:xfrm xmlns:a="http://schemas.openxmlformats.org/drawingml/2006/main">
            <a:off x="792000" y="3402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2" name="Element-17"/>
          <p:cNvSpPr/>
          <p:nvPr/>
        </p:nvSpPr>
        <p:spPr>
          <a:xfrm xmlns:a="http://schemas.openxmlformats.org/drawingml/2006/main">
            <a:off x="792000" y="3690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3" name="Fixed-18"/>
          <p:cNvSpPr/>
          <p:nvPr/>
        </p:nvSpPr>
        <p:spPr>
          <a:xfrm xmlns:a="http://schemas.openxmlformats.org/drawingml/2006/main">
            <a:off x="1170000" y="3582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Real fleet scale</a:t>
            </a:r>
          </a:p>
        </p:txBody>
      </p:sp>
      <p:sp>
        <p:nvSpPr>
          <p:cNvPr id="100254" name="Element-19"/>
          <p:cNvSpPr/>
          <p:nvPr/>
        </p:nvSpPr>
        <p:spPr>
          <a:xfrm xmlns:a="http://schemas.openxmlformats.org/drawingml/2006/main">
            <a:off x="792000" y="4284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5" name="Element-20"/>
          <p:cNvSpPr/>
          <p:nvPr/>
        </p:nvSpPr>
        <p:spPr>
          <a:xfrm xmlns:a="http://schemas.openxmlformats.org/drawingml/2006/main">
            <a:off x="792000" y="4572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6" name="Fixed-21"/>
          <p:cNvSpPr/>
          <p:nvPr/>
        </p:nvSpPr>
        <p:spPr>
          <a:xfrm xmlns:a="http://schemas.openxmlformats.org/drawingml/2006/main">
            <a:off x="1170000" y="4464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Proprietary industrial protocols that are not simulated</a:t>
            </a:r>
          </a:p>
        </p:txBody>
      </p:sp>
      <p:sp>
        <p:nvSpPr>
          <p:cNvPr id="100257" name="Element-22"/>
          <p:cNvSpPr/>
          <p:nvPr/>
        </p:nvSpPr>
        <p:spPr>
          <a:xfrm xmlns:a="http://schemas.openxmlformats.org/drawingml/2006/main">
            <a:off x="6384000" y="2367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8" name="Fixed-23"/>
          <p:cNvSpPr/>
          <p:nvPr/>
        </p:nvSpPr>
        <p:spPr>
          <a:xfrm xmlns:a="http://schemas.openxmlformats.org/drawingml/2006/main">
            <a:off x="6762000" y="2259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Complete multi-step exploitation chains</a:t>
            </a:r>
          </a:p>
        </p:txBody>
      </p:sp>
      <p:sp>
        <p:nvSpPr>
          <p:cNvPr id="100259" name="Element-24"/>
          <p:cNvSpPr/>
          <p:nvPr/>
        </p:nvSpPr>
        <p:spPr>
          <a:xfrm xmlns:a="http://schemas.openxmlformats.org/drawingml/2006/main">
            <a:off x="6384000" y="2961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0" name="Element-25"/>
          <p:cNvSpPr/>
          <p:nvPr/>
        </p:nvSpPr>
        <p:spPr>
          <a:xfrm xmlns:a="http://schemas.openxmlformats.org/drawingml/2006/main">
            <a:off x="6384000" y="3249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1" name="Fixed-26"/>
          <p:cNvSpPr/>
          <p:nvPr/>
        </p:nvSpPr>
        <p:spPr>
          <a:xfrm xmlns:a="http://schemas.openxmlformats.org/drawingml/2006/main">
            <a:off x="6762000" y="3141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Abstention and calibration</a:t>
            </a:r>
          </a:p>
        </p:txBody>
      </p:sp>
      <p:sp>
        <p:nvSpPr>
          <p:cNvPr id="100262" name="Element-27"/>
          <p:cNvSpPr/>
          <p:nvPr/>
        </p:nvSpPr>
        <p:spPr>
          <a:xfrm xmlns:a="http://schemas.openxmlformats.org/drawingml/2006/main">
            <a:off x="6384000" y="3843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3" name="Element-28"/>
          <p:cNvSpPr/>
          <p:nvPr/>
        </p:nvSpPr>
        <p:spPr>
          <a:xfrm xmlns:a="http://schemas.openxmlformats.org/drawingml/2006/main">
            <a:off x="6384000" y="4131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4" name="Fixed-29"/>
          <p:cNvSpPr/>
          <p:nvPr/>
        </p:nvSpPr>
        <p:spPr>
          <a:xfrm xmlns:a="http://schemas.openxmlformats.org/drawingml/2006/main">
            <a:off x="6762000" y="4023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Generic IT scenarios, deliberately excluded</a:t>
            </a:r>
          </a:p>
        </p:txBody>
      </p:sp>
      <p:sp>
        <p:nvSpPr>
          <p:cNvPr id="100265" name="Element-30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6" name="Caption-10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benchmark that states its gaps is stronger than one that claims full coverage.</a:t>
            </a:r>
          </a:p>
        </p:txBody>
      </p:sp>
      <p:sp>
        <p:nvSpPr>
          <p:cNvPr id="100267" name="Element-32"/>
          <p:cNvSpPr/>
          <p:nvPr/>
        </p:nvSpPr>
        <p:spPr>
          <a:xfrm xmlns:a="http://schemas.openxmlformats.org/drawingml/2006/main">
            <a:off x="792000" y="6444000"/>
            <a:ext cx="5040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68" name="Element-33"/>
          <p:cNvSpPr/>
          <p:nvPr/>
        </p:nvSpPr>
        <p:spPr>
          <a:xfrm xmlns:a="http://schemas.openxmlformats.org/drawingml/2006/main">
            <a:off x="10752000" y="6444000"/>
            <a:ext cx="648000" cy="1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00" b="0" i="0">
                <a:solidFill>
                  <a:srgbClr val="5C626C"/>
                </a:solidFill>
                <a:latin typeface="Arial"/>
                <a:ea typeface="Arial"/>
              </a:rPr>
              <a:t>10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LANCE</dc:creator>
  <dcterms:created xsi:type="dcterms:W3CDTF">2026-10-21T21:59:41.0000000Z</dcterms:created>
  <lastModifiedBy>OfficeCLI</lastModifiedBy>
  <dcterms:modified xsi:type="dcterms:W3CDTF">2026-10-21T21:59:41.7705040Z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2026-10-21T21:59:47Z</vt:lpwstr>
  </op:property>
</op:Properties>
</file>