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c3372252a3a4991" /><Relationship Type="http://schemas.openxmlformats.org/package/2006/relationships/metadata/core-properties" Target="/docProps/core.xml" Id="Rbef7f08d74c84fb4" /><Relationship Type="http://schemas.openxmlformats.org/officeDocument/2006/relationships/extended-properties" Target="/docProps/app.xml" Id="R2213beb29be64c70" /><Relationship Type="http://schemas.openxmlformats.org/officeDocument/2006/relationships/custom-properties" Target="/docProps/custom.xml" Id="R108ec3750d9d426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92bac36844248f6"/>
  </p:notesMasterIdLst>
  <p:sldIdLst>
    <p:sldId id="256" r:id="R9817429b1ab440e3"/>
    <p:sldId id="257" r:id="Rb8d843fcd57c44de"/>
    <p:sldId id="258" r:id="R413ae41856734d67"/>
    <p:sldId id="259" r:id="Rdf0899c3e0234efb"/>
    <p:sldId id="260" r:id="R4abcb0d8a9d944c7"/>
    <p:sldId id="261" r:id="R87cce314b4e44a9d"/>
    <p:sldId id="262" r:id="R3166467373c44fba"/>
    <p:sldId id="263" r:id="R62097ac2a76047a8"/>
    <p:sldId id="264" r:id="R285126a111d941ca"/>
    <p:sldId id="265" r:id="R9e10d5d7402c4b0a"/>
  </p:sldIdLst>
  <p:sldSz cx="12192000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817429b1ab440e3" /><Relationship Type="http://schemas.openxmlformats.org/officeDocument/2006/relationships/notesMaster" Target="/ppt/notesMasters/notesMaster1.xml" Id="R092bac36844248f6" /><Relationship Type="http://schemas.openxmlformats.org/officeDocument/2006/relationships/slide" Target="/ppt/slides/slide2.xml" Id="Rb8d843fcd57c44de" /><Relationship Type="http://schemas.openxmlformats.org/officeDocument/2006/relationships/slide" Target="/ppt/slides/slide3.xml" Id="R413ae41856734d67" /><Relationship Type="http://schemas.openxmlformats.org/officeDocument/2006/relationships/slide" Target="/ppt/slides/slide4.xml" Id="Rdf0899c3e0234efb" /><Relationship Type="http://schemas.openxmlformats.org/officeDocument/2006/relationships/slide" Target="/ppt/slides/slide5.xml" Id="R4abcb0d8a9d944c7" /><Relationship Type="http://schemas.openxmlformats.org/officeDocument/2006/relationships/slide" Target="/ppt/slides/slide6.xml" Id="R87cce314b4e44a9d" /><Relationship Type="http://schemas.openxmlformats.org/officeDocument/2006/relationships/slide" Target="/ppt/slides/slide7.xml" Id="R3166467373c44fba" /><Relationship Type="http://schemas.openxmlformats.org/officeDocument/2006/relationships/slide" Target="/ppt/slides/slide8.xml" Id="R62097ac2a76047a8" /><Relationship Type="http://schemas.openxmlformats.org/officeDocument/2006/relationships/slide" Target="/ppt/slides/slide9.xml" Id="R285126a111d941ca" /><Relationship Type="http://schemas.openxmlformats.org/officeDocument/2006/relationships/slide" Target="/ppt/slides/slide10.xml" Id="R9e10d5d7402c4b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fb71ae96fb54926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edd5c8d0b354073" /><Relationship Type="http://schemas.openxmlformats.org/officeDocument/2006/relationships/slide" Target="/ppt/slides/slide1.xml" Id="R18666d326d9240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1b7ea86ab79481d" /><Relationship Type="http://schemas.openxmlformats.org/officeDocument/2006/relationships/slide" Target="/ppt/slides/slide2.xml" Id="Rbb8ccd7b3fb04d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2e090b4998f4380" /><Relationship Type="http://schemas.openxmlformats.org/officeDocument/2006/relationships/slide" Target="/ppt/slides/slide3.xml" Id="Rebc2b348eac94c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c3a585e37254412" /><Relationship Type="http://schemas.openxmlformats.org/officeDocument/2006/relationships/slide" Target="/ppt/slides/slide4.xml" Id="R503bcb2354b240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1722aa89e194e80" /><Relationship Type="http://schemas.openxmlformats.org/officeDocument/2006/relationships/slide" Target="/ppt/slides/slide5.xml" Id="Ra8c1142e51ef4b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6f25572cfe14acd" /><Relationship Type="http://schemas.openxmlformats.org/officeDocument/2006/relationships/slide" Target="/ppt/slides/slide6.xml" Id="Rb6ee941effc746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c9a72d488ad4aa4" /><Relationship Type="http://schemas.openxmlformats.org/officeDocument/2006/relationships/slide" Target="/ppt/slides/slide7.xml" Id="R46fd2fe22d2e43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ce2d98f11884649" /><Relationship Type="http://schemas.openxmlformats.org/officeDocument/2006/relationships/slide" Target="/ppt/slides/slide8.xml" Id="R948cccb6fc314a6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385eeb9890f4c30" /><Relationship Type="http://schemas.openxmlformats.org/officeDocument/2006/relationships/slide" Target="/ppt/slides/slide9.xml" Id="Rd067f7f6d40f44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b82ebebfccd4c4c" /><Relationship Type="http://schemas.openxmlformats.org/officeDocument/2006/relationships/slide" Target="/ppt/slides/slide10.xml" Id="R36a09cc8b2154f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20 seconds.</a:t>
            </a:r>
          </a:p>
          <a:p xmlns:a="http://schemas.openxmlformats.org/drawingml/2006/main">
            <a:r>
              <a:rPr lang="en-US"/>
              <a:t>Cover. Say: this is a progress report, not a results talk.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One sentence, then three commitments. Do not read the boxes aloud; the diagram carries it.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50 seconds.</a:t>
            </a:r>
          </a:p>
          <a:p xmlns:a="http://schemas.openxmlformats.org/drawingml/2006/main">
            <a:r>
              <a:rPr lang="en-US"/>
              <a:t>Three pieces, three roles. The model is one piece among them.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80 seconds.</a:t>
            </a:r>
          </a:p>
          <a:p xmlns:a="http://schemas.openxmlformats.org/drawingml/2006/main">
            <a:r>
              <a:rPr lang="en-US"/>
              <a:t>Two halves. Left: we recompute from the log, never from the conclusion. Right: the same trial runs on both configurations, so a false positive is visible.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50 seconds.</a:t>
            </a:r>
          </a:p>
          <a:p xmlns:a="http://schemas.openxmlformats.org/drawingml/2006/main">
            <a:r>
              <a:rPr lang="en-US"/>
              <a:t>Both approaches succeed everywhere. That is a property of the instrument, not a verdict on the model.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75 seconds.</a:t>
            </a:r>
          </a:p>
          <a:p xmlns:a="http://schemas.openxmlformats.org/drawingml/2006/main">
            <a:r>
              <a:rPr lang="en-US"/>
              <a:t>The objective does not change, its form does. Six network properties, six tests. H6 is a risk, not a gain.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The gate is the condition of interpretation for everything else. It applies to both arms.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60 seconds.</a:t>
            </a:r>
          </a:p>
          <a:p xmlns:a="http://schemas.openxmlformats.org/drawingml/2006/main">
            <a:r>
              <a:rPr lang="en-US"/>
              <a:t>Be explicit. This is the slide that buys credibility. Three limits.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70 seconds.</a:t>
            </a:r>
          </a:p>
          <a:p xmlns:a="http://schemas.openxmlformats.org/drawingml/2006/main">
            <a:r>
              <a:rPr lang="en-US"/>
              <a:t>Order follows conditions, not dates. End by naming what would help.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Duration: about 0 seconds.</a:t>
            </a:r>
          </a:p>
          <a:p xmlns:a="http://schemas.openxmlformats.org/drawingml/2006/main">
            <a:r>
              <a:rPr lang="en-US"/>
              <a:t>A benchmark that states its gaps is stronger than one that claims full coverage.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089f9b9af949c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8ff44cbbce4b8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3c553870744ee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1d0a0073e4d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681f07aefa4fe3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8beb8638bc44d1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a99d5fb81482a" /><Relationship Type="http://schemas.openxmlformats.org/officeDocument/2006/relationships/notesSlide" Target="/ppt/notesSlides/notesSlide1.xml" Id="R59625a6b947940f4" /><Relationship Type="http://schemas.openxmlformats.org/officeDocument/2006/relationships/image" Target="/ppt/media/image.png" Id="Re6cd744afa8e4c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5686ad37b49f7" /><Relationship Type="http://schemas.openxmlformats.org/officeDocument/2006/relationships/notesSlide" Target="/ppt/notesSlides/notesSlide2.xml" Id="Rbdd914cac4ab429e" /><Relationship Type="http://schemas.openxmlformats.org/officeDocument/2006/relationships/image" Target="/ppt/media/image2.png" Id="R68e6b26510e94b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b1ff5cee14d91" /><Relationship Type="http://schemas.openxmlformats.org/officeDocument/2006/relationships/notesSlide" Target="/ppt/notesSlides/notesSlide3.xml" Id="R76d34d29b8d644dd" /><Relationship Type="http://schemas.openxmlformats.org/officeDocument/2006/relationships/image" Target="/ppt/media/image3.png" Id="R3032364bc9ea42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7d10b84ee4981" /><Relationship Type="http://schemas.openxmlformats.org/officeDocument/2006/relationships/notesSlide" Target="/ppt/notesSlides/notesSlide4.xml" Id="R9534bf7906b441d7" /><Relationship Type="http://schemas.openxmlformats.org/officeDocument/2006/relationships/image" Target="/ppt/media/image4.png" Id="Ra8d2f117461448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d3ee6b73c4637" /><Relationship Type="http://schemas.openxmlformats.org/officeDocument/2006/relationships/notesSlide" Target="/ppt/notesSlides/notesSlide5.xml" Id="R0e37ec3fffa64001" /><Relationship Type="http://schemas.openxmlformats.org/officeDocument/2006/relationships/image" Target="/ppt/media/image5.png" Id="R4741c4178dcf41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8564174e44ed6" /><Relationship Type="http://schemas.openxmlformats.org/officeDocument/2006/relationships/notesSlide" Target="/ppt/notesSlides/notesSlide6.xml" Id="Rd0af5ec1ee7046b1" /><Relationship Type="http://schemas.openxmlformats.org/officeDocument/2006/relationships/image" Target="/ppt/media/image6.png" Id="R8edfeeac8f824d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28efe445e0495a" /><Relationship Type="http://schemas.openxmlformats.org/officeDocument/2006/relationships/notesSlide" Target="/ppt/notesSlides/notesSlide7.xml" Id="Re6ed10630c324859" /><Relationship Type="http://schemas.openxmlformats.org/officeDocument/2006/relationships/image" Target="/ppt/media/image7.png" Id="R8e1449502eea49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0dfb581a843b1" /><Relationship Type="http://schemas.openxmlformats.org/officeDocument/2006/relationships/notesSlide" Target="/ppt/notesSlides/notesSlide8.xml" Id="R86d898abea034bdd" /><Relationship Type="http://schemas.openxmlformats.org/officeDocument/2006/relationships/image" Target="/ppt/media/image8.png" Id="R333dee5ad8fe47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0c1e7959540a2" /><Relationship Type="http://schemas.openxmlformats.org/officeDocument/2006/relationships/notesSlide" Target="/ppt/notesSlides/notesSlide9.xml" Id="R71349dfb17594078" /><Relationship Type="http://schemas.openxmlformats.org/officeDocument/2006/relationships/image" Target="/ppt/media/image9.png" Id="Rfd35a55c32a642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dd65a40fa4334" /><Relationship Type="http://schemas.openxmlformats.org/officeDocument/2006/relationships/notesSlide" Target="/ppt/notesSlides/notesSlide10.xml" Id="Red64907770cb4594" /><Relationship Type="http://schemas.openxmlformats.org/officeDocument/2006/relationships/image" Target="/ppt/media/image10.png" Id="Ra9501adc556441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Element-3"/>
          <p:cNvSpPr/>
          <p:nvPr/>
        </p:nvSpPr>
        <p:spPr>
          <a:xfrm xmlns:a="http://schemas.openxmlformats.org/drawingml/2006/main">
            <a:off x="720000" y="1584000"/>
            <a:ext cx="504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01" name="Element-4"/>
          <p:cNvSpPr/>
          <p:nvPr/>
        </p:nvSpPr>
        <p:spPr>
          <a:xfrm xmlns:a="http://schemas.openxmlformats.org/drawingml/2006/main">
            <a:off x="1224000" y="1404000"/>
            <a:ext cx="936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3900" b="1" i="0">
                <a:solidFill>
                  <a:srgbClr val="20252D"/>
                </a:solidFill>
                <a:latin typeface="Arial"/>
                <a:ea typeface="Arial"/>
              </a:rPr>
              <a:t>LANCE</a:t>
            </a:r>
          </a:p>
        </p:txBody>
      </p:sp>
      <p:sp>
        <p:nvSpPr>
          <p:cNvPr id="100002" name="Element-5"/>
          <p:cNvSpPr/>
          <p:nvPr/>
        </p:nvSpPr>
        <p:spPr>
          <a:xfrm xmlns:a="http://schemas.openxmlformats.org/drawingml/2006/main">
            <a:off x="1224000" y="2304000"/>
            <a:ext cx="936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b="0" i="0">
                <a:solidFill>
                  <a:srgbClr val="5C626C"/>
                </a:solidFill>
                <a:latin typeface="Arial"/>
                <a:ea typeface="Arial"/>
              </a:rPr>
              <a:t>An autonomous, provable auditor</a:t>
            </a:r>
          </a:p>
          <a:p xmlns:a="http://schemas.openxmlformats.org/drawingml/2006/main">
            <a:pPr algn="l"/>
            <a:r>
              <a:rPr lang="en-US" sz="2100" b="0" i="0">
                <a:solidFill>
                  <a:srgbClr val="5C626C"/>
                </a:solidFill>
                <a:latin typeface="Arial"/>
                <a:ea typeface="Arial"/>
              </a:rPr>
              <a:t>for IoT/IIoT networks</a:t>
            </a:r>
          </a:p>
        </p:txBody>
      </p:sp>
      <p:sp>
        <p:nvSpPr>
          <p:cNvPr id="100003" name="Element-6"/>
          <p:cNvSpPr/>
          <p:nvPr/>
        </p:nvSpPr>
        <p:spPr>
          <a:xfrm xmlns:a="http://schemas.openxmlformats.org/drawingml/2006/main">
            <a:off x="1224000" y="3744000"/>
            <a:ext cx="936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Progress report — NATO SPS G6259</a:t>
            </a:r>
          </a:p>
        </p:txBody>
      </p:sp>
      <p:sp>
        <p:nvSpPr>
          <p:cNvPr id="100004" name="Element-7"/>
          <p:cNvSpPr/>
          <p:nvPr/>
        </p:nvSpPr>
        <p:spPr>
          <a:xfrm xmlns:a="http://schemas.openxmlformats.org/drawingml/2006/main">
            <a:off x="1224000" y="4104000"/>
            <a:ext cx="9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23 October 2026  ·  Université de Mons, ILIA</a:t>
            </a:r>
          </a:p>
        </p:txBody>
      </p:sp>
      <p:sp>
        <p:nvSpPr>
          <p:cNvPr id="100005" name="Element-8"/>
          <p:cNvSpPr/>
          <p:nvPr/>
        </p:nvSpPr>
        <p:spPr>
          <a:xfrm xmlns:a="http://schemas.openxmlformats.org/drawingml/2006/main">
            <a:off x="1224000" y="4896000"/>
            <a:ext cx="9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400" b="0" i="1">
                <a:solidFill>
                  <a:srgbClr val="5C626C"/>
                </a:solidFill>
                <a:latin typeface="Arial"/>
                <a:ea typeface="Arial"/>
              </a:rPr>
              <a:t>Work in progress.</a:t>
            </a:r>
          </a:p>
        </p:txBody>
      </p:sp>
      <p:pic>
        <p:nvPicPr>
          <p:cNvPr id="100006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d744afa8e4c9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684000" y="504000"/>
            <a:ext cx="1872000" cy="641551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07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6b26510e94b7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08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</a:t>
            </a:r>
          </a:p>
        </p:txBody>
      </p:sp>
      <p:sp>
        <p:nvSpPr>
          <p:cNvPr id="100009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0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11" name="Element-7"/>
          <p:cNvSpPr/>
          <p:nvPr/>
        </p:nvSpPr>
        <p:spPr>
          <a:xfrm xmlns:a="http://schemas.openxmlformats.org/drawingml/2006/main">
            <a:off x="648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2" name="Element-8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13" name="Element-9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14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15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16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17" name="Element-13"/>
          <p:cNvSpPr/>
          <p:nvPr/>
        </p:nvSpPr>
        <p:spPr>
          <a:xfrm xmlns:a="http://schemas.openxmlformats.org/drawingml/2006/main">
            <a:off x="1440000" y="1764000"/>
            <a:ext cx="93600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500" b="1" i="0">
                <a:solidFill>
                  <a:srgbClr val="20252D"/>
                </a:solidFill>
                <a:latin typeface="Arial"/>
                <a:ea typeface="Arial"/>
              </a:rPr>
              <a:t>An auditor that explores, finds,</a:t>
            </a:r>
          </a:p>
          <a:p xmlns:a="http://schemas.openxmlformats.org/drawingml/2006/main">
            <a:pPr algn="ctr"/>
            <a:r>
              <a:rPr lang="en-US" sz="2500" b="1" i="0">
                <a:solidFill>
                  <a:srgbClr val="20252D"/>
                </a:solidFill>
                <a:latin typeface="Arial"/>
                <a:ea typeface="Arial"/>
              </a:rPr>
              <a:t>verifies and reports.</a:t>
            </a:r>
          </a:p>
        </p:txBody>
      </p:sp>
      <p:sp>
        <p:nvSpPr>
          <p:cNvPr id="100018" name="Element-14"/>
          <p:cNvSpPr/>
          <p:nvPr/>
        </p:nvSpPr>
        <p:spPr>
          <a:xfrm xmlns:a="http://schemas.openxmlformats.org/drawingml/2006/main">
            <a:off x="6066000" y="2916000"/>
            <a:ext cx="216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19" name="Element-15"/>
          <p:cNvSpPr/>
          <p:nvPr/>
        </p:nvSpPr>
        <p:spPr>
          <a:xfrm xmlns:a="http://schemas.openxmlformats.org/drawingml/2006/main">
            <a:off x="792000" y="3204000"/>
            <a:ext cx="1058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0" name="c0"/>
          <p:cNvSpPr/>
          <p:nvPr/>
        </p:nvSpPr>
        <p:spPr>
          <a:xfrm xmlns:a="http://schemas.openxmlformats.org/drawingml/2006/main">
            <a:off x="792000" y="3420000"/>
            <a:ext cx="3312000" cy="6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Which conditions</a:t>
            </a:r>
          </a:p>
        </p:txBody>
      </p:sp>
      <p:sp>
        <p:nvSpPr>
          <p:cNvPr id="100021" name="Element-17"/>
          <p:cNvSpPr/>
          <p:nvPr/>
        </p:nvSpPr>
        <p:spPr>
          <a:xfrm xmlns:a="http://schemas.openxmlformats.org/drawingml/2006/main">
            <a:off x="792000" y="4140000"/>
            <a:ext cx="331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not which model wins</a:t>
            </a:r>
          </a:p>
        </p:txBody>
      </p:sp>
      <p:sp>
        <p:nvSpPr>
          <p:cNvPr id="100022" name="Element-18"/>
          <p:cNvSpPr/>
          <p:nvPr/>
        </p:nvSpPr>
        <p:spPr>
          <a:xfrm xmlns:a="http://schemas.openxmlformats.org/drawingml/2006/main">
            <a:off x="2430000" y="3225600"/>
            <a:ext cx="324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3" name="c1"/>
          <p:cNvSpPr/>
          <p:nvPr/>
        </p:nvSpPr>
        <p:spPr>
          <a:xfrm xmlns:a="http://schemas.openxmlformats.org/drawingml/2006/main">
            <a:off x="4428000" y="3420000"/>
            <a:ext cx="3312000" cy="6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750" b="1" i="0">
                <a:solidFill>
                  <a:srgbClr val="20252D"/>
                </a:solidFill>
                <a:latin typeface="Arial"/>
                <a:ea typeface="Arial"/>
              </a:rPr>
              <a:t>Same tools, same budget</a:t>
            </a:r>
          </a:p>
        </p:txBody>
      </p:sp>
      <p:sp>
        <p:nvSpPr>
          <p:cNvPr id="100024" name="Element-20"/>
          <p:cNvSpPr/>
          <p:nvPr/>
        </p:nvSpPr>
        <p:spPr>
          <a:xfrm xmlns:a="http://schemas.openxmlformats.org/drawingml/2006/main">
            <a:off x="4428000" y="4140000"/>
            <a:ext cx="331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for both approaches</a:t>
            </a:r>
          </a:p>
        </p:txBody>
      </p:sp>
      <p:sp>
        <p:nvSpPr>
          <p:cNvPr id="100025" name="Element-21"/>
          <p:cNvSpPr/>
          <p:nvPr/>
        </p:nvSpPr>
        <p:spPr>
          <a:xfrm xmlns:a="http://schemas.openxmlformats.org/drawingml/2006/main">
            <a:off x="6066000" y="3225600"/>
            <a:ext cx="324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6" name="c2"/>
          <p:cNvSpPr/>
          <p:nvPr/>
        </p:nvSpPr>
        <p:spPr>
          <a:xfrm xmlns:a="http://schemas.openxmlformats.org/drawingml/2006/main">
            <a:off x="8064000" y="3420000"/>
            <a:ext cx="3312000" cy="6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900" b="1" i="0">
                <a:solidFill>
                  <a:srgbClr val="20252D"/>
                </a:solidFill>
                <a:latin typeface="Arial"/>
                <a:ea typeface="Arial"/>
              </a:rPr>
              <a:t>Proof, not opinion</a:t>
            </a:r>
          </a:p>
        </p:txBody>
      </p:sp>
      <p:sp>
        <p:nvSpPr>
          <p:cNvPr id="100027" name="Element-23"/>
          <p:cNvSpPr/>
          <p:nvPr/>
        </p:nvSpPr>
        <p:spPr>
          <a:xfrm xmlns:a="http://schemas.openxmlformats.org/drawingml/2006/main">
            <a:off x="8064000" y="4140000"/>
            <a:ext cx="331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recomputed from the log</a:t>
            </a:r>
          </a:p>
        </p:txBody>
      </p:sp>
      <p:sp>
        <p:nvSpPr>
          <p:cNvPr id="100028" name="Element-24"/>
          <p:cNvSpPr/>
          <p:nvPr/>
        </p:nvSpPr>
        <p:spPr>
          <a:xfrm xmlns:a="http://schemas.openxmlformats.org/drawingml/2006/main">
            <a:off x="9702000" y="3225600"/>
            <a:ext cx="32400" cy="1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29" name="Element-25"/>
          <p:cNvSpPr/>
          <p:nvPr/>
        </p:nvSpPr>
        <p:spPr>
          <a:xfrm xmlns:a="http://schemas.openxmlformats.org/drawingml/2006/main">
            <a:off x="792000" y="5148000"/>
            <a:ext cx="1058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Model training is out of priority.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3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32364bc9ea42d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31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instrument</a:t>
            </a:r>
          </a:p>
        </p:txBody>
      </p:sp>
      <p:sp>
        <p:nvSpPr>
          <p:cNvPr id="100032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3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34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35" name="Element-8"/>
          <p:cNvSpPr/>
          <p:nvPr/>
        </p:nvSpPr>
        <p:spPr>
          <a:xfrm xmlns:a="http://schemas.openxmlformats.org/drawingml/2006/main">
            <a:off x="2664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36" name="Element-9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37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38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39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40" name="lab"/>
          <p:cNvSpPr/>
          <p:nvPr/>
        </p:nvSpPr>
        <p:spPr>
          <a:xfrm xmlns:a="http://schemas.openxmlformats.org/drawingml/2006/main">
            <a:off x="864000" y="2160000"/>
            <a:ext cx="3024000" cy="68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300" b="1" i="0">
                <a:solidFill>
                  <a:srgbClr val="20252D"/>
                </a:solidFill>
                <a:latin typeface="Arial"/>
                <a:ea typeface="Arial"/>
              </a:rPr>
              <a:t>Laboratory</a:t>
            </a:r>
          </a:p>
        </p:txBody>
      </p:sp>
      <p:sp>
        <p:nvSpPr>
          <p:cNvPr id="100041" name="Element-14"/>
          <p:cNvSpPr/>
          <p:nvPr/>
        </p:nvSpPr>
        <p:spPr>
          <a:xfrm xmlns:a="http://schemas.openxmlformats.org/drawingml/2006/main">
            <a:off x="864000" y="2916000"/>
            <a:ext cx="302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networks we know</a:t>
            </a:r>
          </a:p>
        </p:txBody>
      </p:sp>
      <p:sp>
        <p:nvSpPr>
          <p:cNvPr id="100042" name="plat"/>
          <p:cNvSpPr/>
          <p:nvPr/>
        </p:nvSpPr>
        <p:spPr>
          <a:xfrm xmlns:a="http://schemas.openxmlformats.org/drawingml/2006/main">
            <a:off x="4572000" y="2160000"/>
            <a:ext cx="3024000" cy="68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1D5C9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300" b="1" i="0">
                <a:solidFill>
                  <a:srgbClr val="1D5C96"/>
                </a:solidFill>
                <a:latin typeface="Arial"/>
                <a:ea typeface="Arial"/>
              </a:rPr>
              <a:t>Platform</a:t>
            </a:r>
          </a:p>
        </p:txBody>
      </p:sp>
      <p:sp>
        <p:nvSpPr>
          <p:cNvPr id="100043" name="Element-16"/>
          <p:cNvSpPr/>
          <p:nvPr/>
        </p:nvSpPr>
        <p:spPr>
          <a:xfrm xmlns:a="http://schemas.openxmlformats.org/drawingml/2006/main">
            <a:off x="4572000" y="2916000"/>
            <a:ext cx="302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runs the audit</a:t>
            </a:r>
          </a:p>
        </p:txBody>
      </p:sp>
      <p:sp>
        <p:nvSpPr>
          <p:cNvPr id="100044" name="bench"/>
          <p:cNvSpPr/>
          <p:nvPr/>
        </p:nvSpPr>
        <p:spPr>
          <a:xfrm xmlns:a="http://schemas.openxmlformats.org/drawingml/2006/main">
            <a:off x="8280000" y="2160000"/>
            <a:ext cx="3024000" cy="68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64800" tIns="64800" rIns="64800" bIns="6480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300" b="1" i="0">
                <a:solidFill>
                  <a:srgbClr val="B60036"/>
                </a:solidFill>
                <a:latin typeface="Arial"/>
                <a:ea typeface="Arial"/>
              </a:rPr>
              <a:t>Benchmark</a:t>
            </a:r>
          </a:p>
        </p:txBody>
      </p:sp>
      <p:sp>
        <p:nvSpPr>
          <p:cNvPr id="100045" name="Element-18"/>
          <p:cNvSpPr/>
          <p:nvPr/>
        </p:nvSpPr>
        <p:spPr>
          <a:xfrm xmlns:a="http://schemas.openxmlformats.org/drawingml/2006/main">
            <a:off x="8280000" y="2916000"/>
            <a:ext cx="302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judges the result</a:t>
            </a:r>
          </a:p>
        </p:txBody>
      </p:sp>
      <p:cxnSp>
        <p:nvCxnSpPr>
          <p:cNvPr id="100046" name="Connector 1"/>
          <p:cNvCxnSpPr>
            <a:stCxn xmlns:a="http://schemas.openxmlformats.org/drawingml/2006/main" id="100040" idx="0"/>
            <a:endCxn xmlns:a="http://schemas.openxmlformats.org/drawingml/2006/main" id="100042" idx="0"/>
          </p:cNvCxnSpPr>
          <p:nvPr/>
        </p:nvCxnSpPr>
        <p:spPr>
          <a:xfrm xmlns:a="http://schemas.openxmlformats.org/drawingml/2006/main">
            <a:off x="3888000" y="2502000"/>
            <a:ext cx="684000" cy="0"/>
          </a:xfrm>
          <a:prstGeom xmlns:a="http://schemas.openxmlformats.org/drawingml/2006/main" prst="straightConnector1">
            <a:avLst/>
          </a:prstGeom>
          <a:ln xmlns:a="http://schemas.openxmlformats.org/drawingml/2006/main" w="30480">
            <a:solidFill>
              <a:srgbClr val="5C626C"/>
            </a:solidFill>
            <a:tailEnd type="triangle"/>
          </a:ln>
        </p:spPr>
      </p:cxnSp>
      <p:cxnSp>
        <p:nvCxnSpPr>
          <p:cNvPr id="100047" name="Connector 2"/>
          <p:cNvCxnSpPr>
            <a:stCxn xmlns:a="http://schemas.openxmlformats.org/drawingml/2006/main" id="100042" idx="0"/>
            <a:endCxn xmlns:a="http://schemas.openxmlformats.org/drawingml/2006/main" id="100044" idx="0"/>
          </p:cNvCxnSpPr>
          <p:nvPr/>
        </p:nvCxnSpPr>
        <p:spPr>
          <a:xfrm xmlns:a="http://schemas.openxmlformats.org/drawingml/2006/main">
            <a:off x="7596000" y="2502000"/>
            <a:ext cx="684000" cy="0"/>
          </a:xfrm>
          <a:prstGeom xmlns:a="http://schemas.openxmlformats.org/drawingml/2006/main" prst="straightConnector1">
            <a:avLst/>
          </a:prstGeom>
          <a:ln xmlns:a="http://schemas.openxmlformats.org/drawingml/2006/main" w="30480">
            <a:solidFill>
              <a:srgbClr val="5C626C"/>
            </a:solidFill>
            <a:tailEnd type="triangle"/>
          </a:ln>
        </p:spPr>
      </p:cxnSp>
      <p:sp>
        <p:nvSpPr>
          <p:cNvPr id="100048" name="Element-21"/>
          <p:cNvSpPr/>
          <p:nvPr/>
        </p:nvSpPr>
        <p:spPr>
          <a:xfrm xmlns:a="http://schemas.openxmlformats.org/drawingml/2006/main">
            <a:off x="864000" y="4176000"/>
            <a:ext cx="104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The model is one piece among them.</a:t>
            </a:r>
          </a:p>
        </p:txBody>
      </p:sp>
      <p:sp>
        <p:nvSpPr>
          <p:cNvPr id="100049" name="Element-22"/>
          <p:cNvSpPr/>
          <p:nvPr/>
        </p:nvSpPr>
        <p:spPr>
          <a:xfrm xmlns:a="http://schemas.openxmlformats.org/drawingml/2006/main">
            <a:off x="864000" y="4824000"/>
            <a:ext cx="1044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A run becomes a measurement only against a known ground truth.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5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d2f1174614486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51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counts as “found”</a:t>
            </a:r>
          </a:p>
        </p:txBody>
      </p:sp>
      <p:sp>
        <p:nvSpPr>
          <p:cNvPr id="100052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3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54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55" name="Element-8"/>
          <p:cNvSpPr/>
          <p:nvPr/>
        </p:nvSpPr>
        <p:spPr>
          <a:xfrm xmlns:a="http://schemas.openxmlformats.org/drawingml/2006/main">
            <a:off x="2664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56" name="Element-9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57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58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59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060" name="Element-13"/>
          <p:cNvSpPr/>
          <p:nvPr/>
        </p:nvSpPr>
        <p:spPr>
          <a:xfrm xmlns:a="http://schemas.openxmlformats.org/drawingml/2006/main">
            <a:off x="792000" y="1944000"/>
            <a:ext cx="5112000" cy="172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61" name="Element-14"/>
          <p:cNvSpPr/>
          <p:nvPr/>
        </p:nvSpPr>
        <p:spPr>
          <a:xfrm xmlns:a="http://schemas.openxmlformats.org/drawingml/2006/main">
            <a:off x="972000" y="2088000"/>
            <a:ext cx="475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700" b="0" i="1">
                <a:solidFill>
                  <a:srgbClr val="5C626C"/>
                </a:solidFill>
                <a:latin typeface="Arial"/>
                <a:ea typeface="Arial"/>
              </a:rPr>
              <a:t>“I read another organisation's data.”</a:t>
            </a:r>
          </a:p>
        </p:txBody>
      </p:sp>
      <p:sp>
        <p:nvSpPr>
          <p:cNvPr id="100062" name="Element-15"/>
          <p:cNvSpPr/>
          <p:nvPr/>
        </p:nvSpPr>
        <p:spPr>
          <a:xfrm xmlns:a="http://schemas.openxmlformats.org/drawingml/2006/main">
            <a:off x="972000" y="2988000"/>
            <a:ext cx="475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900" b="1" i="0">
                <a:solidFill>
                  <a:srgbClr val="B60036"/>
                </a:solidFill>
                <a:latin typeface="Arial"/>
                <a:ea typeface="Arial"/>
              </a:rPr>
              <a:t>✕   Not counted</a:t>
            </a:r>
          </a:p>
        </p:txBody>
      </p:sp>
      <p:sp>
        <p:nvSpPr>
          <p:cNvPr id="100063" name="Element-16"/>
          <p:cNvSpPr/>
          <p:nvPr/>
        </p:nvSpPr>
        <p:spPr>
          <a:xfrm xmlns:a="http://schemas.openxmlformats.org/drawingml/2006/main">
            <a:off x="6264000" y="1944000"/>
            <a:ext cx="5112000" cy="172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B60036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64" name="Element-17"/>
          <p:cNvSpPr/>
          <p:nvPr/>
        </p:nvSpPr>
        <p:spPr>
          <a:xfrm xmlns:a="http://schemas.openxmlformats.org/drawingml/2006/main">
            <a:off x="6444000" y="2088000"/>
            <a:ext cx="475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20252D"/>
                </a:solidFill>
                <a:latin typeface="Arial"/>
                <a:ea typeface="Arial"/>
              </a:rPr>
              <a:t>The request and its response</a:t>
            </a:r>
          </a:p>
          <a:p xmlns:a="http://schemas.openxmlformats.org/drawingml/2006/main">
            <a:pPr algn="ctr"/>
            <a:r>
              <a:rPr lang="en-US" sz="1400" b="0" i="0">
                <a:solidFill>
                  <a:srgbClr val="20252D"/>
                </a:solidFill>
                <a:latin typeface="Arial"/>
                <a:ea typeface="Arial"/>
              </a:rPr>
              <a:t>hold the data.</a:t>
            </a:r>
          </a:p>
        </p:txBody>
      </p:sp>
      <p:sp>
        <p:nvSpPr>
          <p:cNvPr id="100065" name="Element-18"/>
          <p:cNvSpPr/>
          <p:nvPr/>
        </p:nvSpPr>
        <p:spPr>
          <a:xfrm xmlns:a="http://schemas.openxmlformats.org/drawingml/2006/main">
            <a:off x="6444000" y="2988000"/>
            <a:ext cx="4752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900" b="1" i="0">
                <a:solidFill>
                  <a:srgbClr val="2E7D5B"/>
                </a:solidFill>
                <a:latin typeface="Arial"/>
                <a:ea typeface="Arial"/>
              </a:rPr>
              <a:t>✓   Counted</a:t>
            </a:r>
          </a:p>
        </p:txBody>
      </p:sp>
      <p:sp>
        <p:nvSpPr>
          <p:cNvPr id="100066" name="Element-19"/>
          <p:cNvSpPr/>
          <p:nvPr/>
        </p:nvSpPr>
        <p:spPr>
          <a:xfrm xmlns:a="http://schemas.openxmlformats.org/drawingml/2006/main">
            <a:off x="792000" y="4032000"/>
            <a:ext cx="10584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650" b="1" i="0">
                <a:solidFill>
                  <a:srgbClr val="B60036"/>
                </a:solidFill>
                <a:latin typeface="Arial"/>
                <a:ea typeface="Arial"/>
              </a:rPr>
              <a:t>We recompute it from the log.</a:t>
            </a:r>
          </a:p>
          <a:p xmlns:a="http://schemas.openxmlformats.org/drawingml/2006/main">
            <a:pPr algn="ctr"/>
            <a:r>
              <a:rPr lang="en-US" sz="1650" b="1" i="0">
                <a:solidFill>
                  <a:srgbClr val="B60036"/>
                </a:solidFill>
                <a:latin typeface="Arial"/>
                <a:ea typeface="Arial"/>
              </a:rPr>
              <a:t>We never trust the conclusion.</a:t>
            </a:r>
          </a:p>
        </p:txBody>
      </p:sp>
      <p:sp>
        <p:nvSpPr>
          <p:cNvPr id="100067" name="Element-20"/>
          <p:cNvSpPr/>
          <p:nvPr/>
        </p:nvSpPr>
        <p:spPr>
          <a:xfrm xmlns:a="http://schemas.openxmlformats.org/drawingml/2006/main">
            <a:off x="792000" y="4860000"/>
            <a:ext cx="1058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The same trial runs on a healthy and on a vulnerable network.</a:t>
            </a:r>
          </a:p>
          <a:p xmlns:a="http://schemas.openxmlformats.org/drawingml/2006/main">
            <a:pPr algn="ctr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Finding something in the healthy one is an error.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68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1c4178dcf41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69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Where we are</a:t>
            </a:r>
          </a:p>
        </p:txBody>
      </p:sp>
      <p:sp>
        <p:nvSpPr>
          <p:cNvPr id="100070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1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72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73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74" name="Element-9"/>
          <p:cNvSpPr/>
          <p:nvPr/>
        </p:nvSpPr>
        <p:spPr>
          <a:xfrm xmlns:a="http://schemas.openxmlformats.org/drawingml/2006/main">
            <a:off x="4680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75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76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77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100078" name="Element-13"/>
          <p:cNvSpPr/>
          <p:nvPr/>
        </p:nvSpPr>
        <p:spPr>
          <a:xfrm xmlns:a="http://schemas.openxmlformats.org/drawingml/2006/main">
            <a:off x="792000" y="1872000"/>
            <a:ext cx="1058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450" b="1" i="0">
                <a:solidFill>
                  <a:srgbClr val="20252D"/>
                </a:solidFill>
                <a:latin typeface="Arial"/>
                <a:ea typeface="Arial"/>
              </a:rPr>
              <a:t>Both approaches succeed everywhere.</a:t>
            </a:r>
          </a:p>
        </p:txBody>
      </p:sp>
      <p:sp>
        <p:nvSpPr>
          <p:cNvPr id="100079" name="Element-14"/>
          <p:cNvSpPr/>
          <p:nvPr/>
        </p:nvSpPr>
        <p:spPr>
          <a:xfrm xmlns:a="http://schemas.openxmlformats.org/drawingml/2006/main">
            <a:off x="1872000" y="2880000"/>
            <a:ext cx="1368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800" b="1" i="0">
                <a:solidFill>
                  <a:srgbClr val="20252D"/>
                </a:solidFill>
                <a:latin typeface="Arial"/>
                <a:ea typeface="Arial"/>
              </a:rPr>
              <a:t>Rules</a:t>
            </a:r>
          </a:p>
        </p:txBody>
      </p:sp>
      <p:sp>
        <p:nvSpPr>
          <p:cNvPr id="100080" name="Element-15"/>
          <p:cNvSpPr/>
          <p:nvPr/>
        </p:nvSpPr>
        <p:spPr>
          <a:xfrm xmlns:a="http://schemas.openxmlformats.org/drawingml/2006/main">
            <a:off x="3456000" y="2934000"/>
            <a:ext cx="4536000" cy="3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C626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1" name="Element-16"/>
          <p:cNvSpPr/>
          <p:nvPr/>
        </p:nvSpPr>
        <p:spPr>
          <a:xfrm xmlns:a="http://schemas.openxmlformats.org/drawingml/2006/main">
            <a:off x="8208000" y="2880000"/>
            <a:ext cx="1224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050" b="1" i="0">
                <a:solidFill>
                  <a:srgbClr val="5C626C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082" name="Element-17"/>
          <p:cNvSpPr/>
          <p:nvPr/>
        </p:nvSpPr>
        <p:spPr>
          <a:xfrm xmlns:a="http://schemas.openxmlformats.org/drawingml/2006/main">
            <a:off x="1872000" y="3708000"/>
            <a:ext cx="1368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800" b="1" i="0">
                <a:solidFill>
                  <a:srgbClr val="20252D"/>
                </a:solidFill>
                <a:latin typeface="Arial"/>
                <a:ea typeface="Arial"/>
              </a:rPr>
              <a:t>Model</a:t>
            </a:r>
          </a:p>
        </p:txBody>
      </p:sp>
      <p:sp>
        <p:nvSpPr>
          <p:cNvPr id="100083" name="Element-18"/>
          <p:cNvSpPr/>
          <p:nvPr/>
        </p:nvSpPr>
        <p:spPr>
          <a:xfrm xmlns:a="http://schemas.openxmlformats.org/drawingml/2006/main">
            <a:off x="3456000" y="3762000"/>
            <a:ext cx="4536000" cy="3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84" name="Element-19"/>
          <p:cNvSpPr/>
          <p:nvPr/>
        </p:nvSpPr>
        <p:spPr>
          <a:xfrm xmlns:a="http://schemas.openxmlformats.org/drawingml/2006/main">
            <a:off x="8208000" y="3708000"/>
            <a:ext cx="1224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6 / 6</a:t>
            </a:r>
          </a:p>
        </p:txBody>
      </p:sp>
      <p:sp>
        <p:nvSpPr>
          <p:cNvPr id="100085" name="Element-20"/>
          <p:cNvSpPr/>
          <p:nvPr/>
        </p:nvSpPr>
        <p:spPr>
          <a:xfrm xmlns:a="http://schemas.openxmlformats.org/drawingml/2006/main">
            <a:off x="792000" y="4680000"/>
            <a:ext cx="10584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It cannot tell them apart.</a:t>
            </a:r>
          </a:p>
        </p:txBody>
      </p:sp>
      <p:sp>
        <p:nvSpPr>
          <p:cNvPr id="100086" name="Element-21"/>
          <p:cNvSpPr/>
          <p:nvPr/>
        </p:nvSpPr>
        <p:spPr>
          <a:xfrm xmlns:a="http://schemas.openxmlformats.org/drawingml/2006/main">
            <a:off x="792000" y="5184000"/>
            <a:ext cx="1058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400" b="0" i="0">
                <a:solidFill>
                  <a:srgbClr val="5C626C"/>
                </a:solidFill>
                <a:latin typeface="Arial"/>
                <a:ea typeface="Arial"/>
              </a:rPr>
              <a:t>Not a failure of the model — a failure of the instrument.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087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feeac8f824db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088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The objective, restated as hypotheses</a:t>
            </a:r>
          </a:p>
        </p:txBody>
      </p:sp>
      <p:sp>
        <p:nvSpPr>
          <p:cNvPr id="100089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0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091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092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093" name="Element-9"/>
          <p:cNvSpPr/>
          <p:nvPr/>
        </p:nvSpPr>
        <p:spPr>
          <a:xfrm xmlns:a="http://schemas.openxmlformats.org/drawingml/2006/main">
            <a:off x="4680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4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095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096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100097" name="Element-13"/>
          <p:cNvSpPr/>
          <p:nvPr/>
        </p:nvSpPr>
        <p:spPr>
          <a:xfrm xmlns:a="http://schemas.openxmlformats.org/drawingml/2006/main">
            <a:off x="792000" y="1944000"/>
            <a:ext cx="3348000" cy="12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098" name="Element-14"/>
          <p:cNvSpPr/>
          <p:nvPr/>
        </p:nvSpPr>
        <p:spPr>
          <a:xfrm xmlns:a="http://schemas.openxmlformats.org/drawingml/2006/main">
            <a:off x="1008000" y="2088000"/>
            <a:ext cx="57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H1</a:t>
            </a:r>
          </a:p>
        </p:txBody>
      </p:sp>
      <p:sp>
        <p:nvSpPr>
          <p:cNvPr id="100099" name="Element-15"/>
          <p:cNvSpPr/>
          <p:nvPr/>
        </p:nvSpPr>
        <p:spPr>
          <a:xfrm xmlns:a="http://schemas.openxmlformats.org/drawingml/2006/main">
            <a:off x="1692000" y="2088000"/>
            <a:ext cx="22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Connected devices</a:t>
            </a:r>
          </a:p>
        </p:txBody>
      </p:sp>
      <p:sp>
        <p:nvSpPr>
          <p:cNvPr id="100100" name="Element-16"/>
          <p:cNvSpPr/>
          <p:nvPr/>
        </p:nvSpPr>
        <p:spPr>
          <a:xfrm xmlns:a="http://schemas.openxmlformats.org/drawingml/2006/main">
            <a:off x="1008000" y="2592000"/>
            <a:ext cx="291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a hidden link</a:t>
            </a:r>
          </a:p>
        </p:txBody>
      </p:sp>
      <p:sp>
        <p:nvSpPr>
          <p:cNvPr id="100101" name="Element-17"/>
          <p:cNvSpPr/>
          <p:nvPr/>
        </p:nvSpPr>
        <p:spPr>
          <a:xfrm xmlns:a="http://schemas.openxmlformats.org/drawingml/2006/main">
            <a:off x="4356000" y="1944000"/>
            <a:ext cx="3348000" cy="12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2" name="Element-18"/>
          <p:cNvSpPr/>
          <p:nvPr/>
        </p:nvSpPr>
        <p:spPr>
          <a:xfrm xmlns:a="http://schemas.openxmlformats.org/drawingml/2006/main">
            <a:off x="4572000" y="2088000"/>
            <a:ext cx="57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H2</a:t>
            </a:r>
          </a:p>
        </p:txBody>
      </p:sp>
      <p:sp>
        <p:nvSpPr>
          <p:cNvPr id="100103" name="Element-19"/>
          <p:cNvSpPr/>
          <p:nvPr/>
        </p:nvSpPr>
        <p:spPr>
          <a:xfrm xmlns:a="http://schemas.openxmlformats.org/drawingml/2006/main">
            <a:off x="5256000" y="2088000"/>
            <a:ext cx="22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Mixed formats</a:t>
            </a:r>
          </a:p>
        </p:txBody>
      </p:sp>
      <p:sp>
        <p:nvSpPr>
          <p:cNvPr id="100104" name="Element-20"/>
          <p:cNvSpPr/>
          <p:nvPr/>
        </p:nvSpPr>
        <p:spPr>
          <a:xfrm xmlns:a="http://schemas.openxmlformats.org/drawingml/2006/main">
            <a:off x="4572000" y="2592000"/>
            <a:ext cx="291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an unknown parser</a:t>
            </a:r>
          </a:p>
        </p:txBody>
      </p:sp>
      <p:sp>
        <p:nvSpPr>
          <p:cNvPr id="100105" name="Element-21"/>
          <p:cNvSpPr/>
          <p:nvPr/>
        </p:nvSpPr>
        <p:spPr>
          <a:xfrm xmlns:a="http://schemas.openxmlformats.org/drawingml/2006/main">
            <a:off x="7920000" y="1944000"/>
            <a:ext cx="3348000" cy="12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06" name="Element-22"/>
          <p:cNvSpPr/>
          <p:nvPr/>
        </p:nvSpPr>
        <p:spPr>
          <a:xfrm xmlns:a="http://schemas.openxmlformats.org/drawingml/2006/main">
            <a:off x="8136000" y="2088000"/>
            <a:ext cx="57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H3</a:t>
            </a:r>
          </a:p>
        </p:txBody>
      </p:sp>
      <p:sp>
        <p:nvSpPr>
          <p:cNvPr id="100107" name="Element-23"/>
          <p:cNvSpPr/>
          <p:nvPr/>
        </p:nvSpPr>
        <p:spPr>
          <a:xfrm xmlns:a="http://schemas.openxmlformats.org/drawingml/2006/main">
            <a:off x="8820000" y="2088000"/>
            <a:ext cx="22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Unseen contracts</a:t>
            </a:r>
          </a:p>
        </p:txBody>
      </p:sp>
      <p:sp>
        <p:nvSpPr>
          <p:cNvPr id="100108" name="Element-24"/>
          <p:cNvSpPr/>
          <p:nvPr/>
        </p:nvSpPr>
        <p:spPr>
          <a:xfrm xmlns:a="http://schemas.openxmlformats.org/drawingml/2006/main">
            <a:off x="8136000" y="2592000"/>
            <a:ext cx="291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undocumented rights</a:t>
            </a:r>
          </a:p>
        </p:txBody>
      </p:sp>
      <p:sp>
        <p:nvSpPr>
          <p:cNvPr id="100109" name="Element-25"/>
          <p:cNvSpPr/>
          <p:nvPr/>
        </p:nvSpPr>
        <p:spPr>
          <a:xfrm xmlns:a="http://schemas.openxmlformats.org/drawingml/2006/main">
            <a:off x="792000" y="3420000"/>
            <a:ext cx="3348000" cy="12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0" name="Element-26"/>
          <p:cNvSpPr/>
          <p:nvPr/>
        </p:nvSpPr>
        <p:spPr>
          <a:xfrm xmlns:a="http://schemas.openxmlformats.org/drawingml/2006/main">
            <a:off x="1008000" y="3564000"/>
            <a:ext cx="57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H4</a:t>
            </a:r>
          </a:p>
        </p:txBody>
      </p:sp>
      <p:sp>
        <p:nvSpPr>
          <p:cNvPr id="100111" name="Element-27"/>
          <p:cNvSpPr/>
          <p:nvPr/>
        </p:nvSpPr>
        <p:spPr>
          <a:xfrm xmlns:a="http://schemas.openxmlformats.org/drawingml/2006/main">
            <a:off x="1692000" y="3564000"/>
            <a:ext cx="22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Vendor meaning</a:t>
            </a:r>
          </a:p>
        </p:txBody>
      </p:sp>
      <p:sp>
        <p:nvSpPr>
          <p:cNvPr id="100112" name="Element-28"/>
          <p:cNvSpPr/>
          <p:nvPr/>
        </p:nvSpPr>
        <p:spPr>
          <a:xfrm xmlns:a="http://schemas.openxmlformats.org/drawingml/2006/main">
            <a:off x="1008000" y="4068000"/>
            <a:ext cx="291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a field's sense</a:t>
            </a:r>
          </a:p>
        </p:txBody>
      </p:sp>
      <p:sp>
        <p:nvSpPr>
          <p:cNvPr id="100113" name="Element-29"/>
          <p:cNvSpPr/>
          <p:nvPr/>
        </p:nvSpPr>
        <p:spPr>
          <a:xfrm xmlns:a="http://schemas.openxmlformats.org/drawingml/2006/main">
            <a:off x="4356000" y="3420000"/>
            <a:ext cx="3348000" cy="12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4" name="Element-30"/>
          <p:cNvSpPr/>
          <p:nvPr/>
        </p:nvSpPr>
        <p:spPr>
          <a:xfrm xmlns:a="http://schemas.openxmlformats.org/drawingml/2006/main">
            <a:off x="4572000" y="3564000"/>
            <a:ext cx="57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H5</a:t>
            </a:r>
          </a:p>
        </p:txBody>
      </p:sp>
      <p:sp>
        <p:nvSpPr>
          <p:cNvPr id="100115" name="Element-31"/>
          <p:cNvSpPr/>
          <p:nvPr/>
        </p:nvSpPr>
        <p:spPr>
          <a:xfrm xmlns:a="http://schemas.openxmlformats.org/drawingml/2006/main">
            <a:off x="5256000" y="3564000"/>
            <a:ext cx="22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20252D"/>
                </a:solidFill>
                <a:latin typeface="Arial"/>
                <a:ea typeface="Arial"/>
              </a:rPr>
              <a:t>Refusals</a:t>
            </a:r>
          </a:p>
        </p:txBody>
      </p:sp>
      <p:sp>
        <p:nvSpPr>
          <p:cNvPr id="100116" name="Element-32"/>
          <p:cNvSpPr/>
          <p:nvPr/>
        </p:nvSpPr>
        <p:spPr>
          <a:xfrm xmlns:a="http://schemas.openxmlformats.org/drawingml/2006/main">
            <a:off x="4572000" y="4068000"/>
            <a:ext cx="291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resuming after failure</a:t>
            </a:r>
          </a:p>
        </p:txBody>
      </p:sp>
      <p:sp>
        <p:nvSpPr>
          <p:cNvPr id="100117" name="Element-33"/>
          <p:cNvSpPr/>
          <p:nvPr/>
        </p:nvSpPr>
        <p:spPr>
          <a:xfrm xmlns:a="http://schemas.openxmlformats.org/drawingml/2006/main">
            <a:off x="7920000" y="3420000"/>
            <a:ext cx="3348000" cy="12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18" name="Element-34"/>
          <p:cNvSpPr/>
          <p:nvPr/>
        </p:nvSpPr>
        <p:spPr>
          <a:xfrm xmlns:a="http://schemas.openxmlformats.org/drawingml/2006/main">
            <a:off x="8136000" y="3564000"/>
            <a:ext cx="576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H6</a:t>
            </a:r>
          </a:p>
        </p:txBody>
      </p:sp>
      <p:sp>
        <p:nvSpPr>
          <p:cNvPr id="100119" name="Element-35"/>
          <p:cNvSpPr/>
          <p:nvPr/>
        </p:nvSpPr>
        <p:spPr>
          <a:xfrm xmlns:a="http://schemas.openxmlformats.org/drawingml/2006/main">
            <a:off x="8820000" y="3564000"/>
            <a:ext cx="22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Hostile content</a:t>
            </a:r>
          </a:p>
        </p:txBody>
      </p:sp>
      <p:sp>
        <p:nvSpPr>
          <p:cNvPr id="100120" name="Element-36"/>
          <p:cNvSpPr/>
          <p:nvPr/>
        </p:nvSpPr>
        <p:spPr>
          <a:xfrm xmlns:a="http://schemas.openxmlformats.org/drawingml/2006/main">
            <a:off x="8136000" y="4068000"/>
            <a:ext cx="2916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5C626C"/>
                </a:solidFill>
                <a:latin typeface="Arial"/>
                <a:ea typeface="Arial"/>
              </a:rPr>
              <a:t>an obeyed instruction</a:t>
            </a:r>
          </a:p>
        </p:txBody>
      </p:sp>
      <p:sp>
        <p:nvSpPr>
          <p:cNvPr id="100121" name="Element-37"/>
          <p:cNvSpPr/>
          <p:nvPr/>
        </p:nvSpPr>
        <p:spPr>
          <a:xfrm xmlns:a="http://schemas.openxmlformats.org/drawingml/2006/main">
            <a:off x="792000" y="5040000"/>
            <a:ext cx="1058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H1–H5 measure a possible gain.   H6 measures a risk.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22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449502eea49a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123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Before testing the model, test the test</a:t>
            </a:r>
          </a:p>
        </p:txBody>
      </p:sp>
      <p:sp>
        <p:nvSpPr>
          <p:cNvPr id="100124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5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26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27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28" name="Element-9"/>
          <p:cNvSpPr/>
          <p:nvPr/>
        </p:nvSpPr>
        <p:spPr>
          <a:xfrm xmlns:a="http://schemas.openxmlformats.org/drawingml/2006/main">
            <a:off x="4680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29" name="Element-10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30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31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100132" name="Element-13"/>
          <p:cNvSpPr/>
          <p:nvPr/>
        </p:nvSpPr>
        <p:spPr>
          <a:xfrm xmlns:a="http://schemas.openxmlformats.org/drawingml/2006/main">
            <a:off x="864000" y="1764000"/>
            <a:ext cx="10512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650" b="1" i="0">
                <a:solidFill>
                  <a:srgbClr val="20252D"/>
                </a:solidFill>
                <a:latin typeface="Arial"/>
                <a:ea typeface="Arial"/>
              </a:rPr>
              <a:t>A control task, simple enough to solve without inference.</a:t>
            </a:r>
          </a:p>
          <a:p xmlns:a="http://schemas.openxmlformats.org/drawingml/2006/main">
            <a:pPr algn="ctr"/>
            <a:r>
              <a:rPr lang="en-US" sz="1650" b="1" i="0">
                <a:solidFill>
                  <a:srgbClr val="20252D"/>
                </a:solidFill>
                <a:latin typeface="Arial"/>
                <a:ea typeface="Arial"/>
              </a:rPr>
              <a:t>Both approaches must pass.</a:t>
            </a:r>
          </a:p>
        </p:txBody>
      </p:sp>
      <p:sp>
        <p:nvSpPr>
          <p:cNvPr id="100133" name="Element-14"/>
          <p:cNvSpPr/>
          <p:nvPr/>
        </p:nvSpPr>
        <p:spPr>
          <a:xfrm xmlns:a="http://schemas.openxmlformats.org/drawingml/2006/main">
            <a:off x="792000" y="2736000"/>
            <a:ext cx="5184000" cy="79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4" name="Element-15"/>
          <p:cNvSpPr/>
          <p:nvPr/>
        </p:nvSpPr>
        <p:spPr>
          <a:xfrm xmlns:a="http://schemas.openxmlformats.org/drawingml/2006/main">
            <a:off x="1044000" y="2916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1" i="0">
                <a:solidFill>
                  <a:srgbClr val="B60036"/>
                </a:solidFill>
                <a:latin typeface="Arial"/>
                <a:ea typeface="Arial"/>
              </a:rPr>
              <a:t>script ✓  model ✗</a:t>
            </a:r>
          </a:p>
        </p:txBody>
      </p:sp>
      <p:sp>
        <p:nvSpPr>
          <p:cNvPr id="100135" name="Element-16"/>
          <p:cNvSpPr/>
          <p:nvPr/>
        </p:nvSpPr>
        <p:spPr>
          <a:xfrm xmlns:a="http://schemas.openxmlformats.org/drawingml/2006/main">
            <a:off x="1044000" y="3186000"/>
            <a:ext cx="46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B60036"/>
                </a:solidFill>
                <a:latin typeface="Arial"/>
                <a:ea typeface="Arial"/>
              </a:rPr>
              <a:t>a defect in the instrument</a:t>
            </a:r>
          </a:p>
        </p:txBody>
      </p:sp>
      <p:sp>
        <p:nvSpPr>
          <p:cNvPr id="100136" name="Element-17"/>
          <p:cNvSpPr/>
          <p:nvPr/>
        </p:nvSpPr>
        <p:spPr>
          <a:xfrm xmlns:a="http://schemas.openxmlformats.org/drawingml/2006/main">
            <a:off x="6192000" y="2736000"/>
            <a:ext cx="5184000" cy="79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37" name="Element-18"/>
          <p:cNvSpPr/>
          <p:nvPr/>
        </p:nvSpPr>
        <p:spPr>
          <a:xfrm xmlns:a="http://schemas.openxmlformats.org/drawingml/2006/main">
            <a:off x="6444000" y="2916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1" i="0">
                <a:solidFill>
                  <a:srgbClr val="20252D"/>
                </a:solidFill>
                <a:latin typeface="Arial"/>
                <a:ea typeface="Arial"/>
              </a:rPr>
              <a:t>script ✗  model ✓</a:t>
            </a:r>
          </a:p>
        </p:txBody>
      </p:sp>
      <p:sp>
        <p:nvSpPr>
          <p:cNvPr id="100138" name="Element-19"/>
          <p:cNvSpPr/>
          <p:nvPr/>
        </p:nvSpPr>
        <p:spPr>
          <a:xfrm xmlns:a="http://schemas.openxmlformats.org/drawingml/2006/main">
            <a:off x="6444000" y="3186000"/>
            <a:ext cx="46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20252D"/>
                </a:solidFill>
                <a:latin typeface="Arial"/>
                <a:ea typeface="Arial"/>
              </a:rPr>
              <a:t>a gain, or a coverage gap</a:t>
            </a:r>
          </a:p>
        </p:txBody>
      </p:sp>
      <p:sp>
        <p:nvSpPr>
          <p:cNvPr id="100139" name="Element-20"/>
          <p:cNvSpPr/>
          <p:nvPr/>
        </p:nvSpPr>
        <p:spPr>
          <a:xfrm xmlns:a="http://schemas.openxmlformats.org/drawingml/2006/main">
            <a:off x="792000" y="3672000"/>
            <a:ext cx="5184000" cy="79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0" name="Element-21"/>
          <p:cNvSpPr/>
          <p:nvPr/>
        </p:nvSpPr>
        <p:spPr>
          <a:xfrm xmlns:a="http://schemas.openxmlformats.org/drawingml/2006/main">
            <a:off x="1044000" y="3852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1" i="0">
                <a:solidFill>
                  <a:srgbClr val="5C626C"/>
                </a:solidFill>
                <a:latin typeface="Arial"/>
                <a:ea typeface="Arial"/>
              </a:rPr>
              <a:t>script ✗  model ✗</a:t>
            </a:r>
          </a:p>
        </p:txBody>
      </p:sp>
      <p:sp>
        <p:nvSpPr>
          <p:cNvPr id="100141" name="Element-22"/>
          <p:cNvSpPr/>
          <p:nvPr/>
        </p:nvSpPr>
        <p:spPr>
          <a:xfrm xmlns:a="http://schemas.openxmlformats.org/drawingml/2006/main">
            <a:off x="1044000" y="4122000"/>
            <a:ext cx="46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5C626C"/>
                </a:solidFill>
                <a:latin typeface="Arial"/>
                <a:ea typeface="Arial"/>
              </a:rPr>
              <a:t>out of reach for this instrument</a:t>
            </a:r>
          </a:p>
        </p:txBody>
      </p:sp>
      <p:sp>
        <p:nvSpPr>
          <p:cNvPr id="100142" name="Element-23"/>
          <p:cNvSpPr/>
          <p:nvPr/>
        </p:nvSpPr>
        <p:spPr>
          <a:xfrm xmlns:a="http://schemas.openxmlformats.org/drawingml/2006/main">
            <a:off x="6192000" y="3672000"/>
            <a:ext cx="5184000" cy="79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C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43" name="Element-24"/>
          <p:cNvSpPr/>
          <p:nvPr/>
        </p:nvSpPr>
        <p:spPr>
          <a:xfrm xmlns:a="http://schemas.openxmlformats.org/drawingml/2006/main">
            <a:off x="6444000" y="3852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1" i="0">
                <a:solidFill>
                  <a:srgbClr val="2E7D5B"/>
                </a:solidFill>
                <a:latin typeface="Arial"/>
                <a:ea typeface="Arial"/>
              </a:rPr>
              <a:t>script ✓  model ✓</a:t>
            </a:r>
          </a:p>
        </p:txBody>
      </p:sp>
      <p:sp>
        <p:nvSpPr>
          <p:cNvPr id="100144" name="Element-25"/>
          <p:cNvSpPr/>
          <p:nvPr/>
        </p:nvSpPr>
        <p:spPr>
          <a:xfrm xmlns:a="http://schemas.openxmlformats.org/drawingml/2006/main">
            <a:off x="6444000" y="4122000"/>
            <a:ext cx="4680000" cy="2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950" b="0" i="0">
                <a:solidFill>
                  <a:srgbClr val="2E7D5B"/>
                </a:solidFill>
                <a:latin typeface="Arial"/>
                <a:ea typeface="Arial"/>
              </a:rPr>
              <a:t>valid — read the hypotheses</a:t>
            </a:r>
          </a:p>
        </p:txBody>
      </p:sp>
      <p:sp>
        <p:nvSpPr>
          <p:cNvPr id="100145" name="Element-26"/>
          <p:cNvSpPr/>
          <p:nvPr/>
        </p:nvSpPr>
        <p:spPr>
          <a:xfrm xmlns:a="http://schemas.openxmlformats.org/drawingml/2006/main">
            <a:off x="792000" y="4950000"/>
            <a:ext cx="10584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Only the last one licenses reading the six hypotheses.</a:t>
            </a:r>
          </a:p>
        </p:txBody>
      </p:sp>
      <p:sp>
        <p:nvSpPr>
          <p:cNvPr id="100146" name="Element-27"/>
          <p:cNvSpPr/>
          <p:nvPr/>
        </p:nvSpPr>
        <p:spPr>
          <a:xfrm xmlns:a="http://schemas.openxmlformats.org/drawingml/2006/main">
            <a:off x="792000" y="5364000"/>
            <a:ext cx="10584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300" b="0" i="0">
                <a:solidFill>
                  <a:srgbClr val="5C626C"/>
                </a:solidFill>
                <a:latin typeface="Arial"/>
                <a:ea typeface="Arial"/>
              </a:rPr>
              <a:t>Written and tested offline. The laboratory run remains to be done.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47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dee5ad8fe476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148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What we cannot claim</a:t>
            </a:r>
          </a:p>
        </p:txBody>
      </p:sp>
      <p:sp>
        <p:nvSpPr>
          <p:cNvPr id="100149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0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51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52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53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54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5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56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100157" name="Element-13"/>
          <p:cNvSpPr/>
          <p:nvPr/>
        </p:nvSpPr>
        <p:spPr>
          <a:xfrm xmlns:a="http://schemas.openxmlformats.org/drawingml/2006/main">
            <a:off x="792000" y="1944000"/>
            <a:ext cx="3384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58" name="Element-14"/>
          <p:cNvSpPr/>
          <p:nvPr/>
        </p:nvSpPr>
        <p:spPr>
          <a:xfrm xmlns:a="http://schemas.openxmlformats.org/drawingml/2006/main">
            <a:off x="1044000" y="2124000"/>
            <a:ext cx="4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159" name="Element-15"/>
          <p:cNvSpPr/>
          <p:nvPr/>
        </p:nvSpPr>
        <p:spPr>
          <a:xfrm xmlns:a="http://schemas.openxmlformats.org/drawingml/2006/main">
            <a:off x="1044000" y="2556000"/>
            <a:ext cx="288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No general advantage</a:t>
            </a:r>
          </a:p>
        </p:txBody>
      </p:sp>
      <p:sp>
        <p:nvSpPr>
          <p:cNvPr id="100160" name="Element-16"/>
          <p:cNvSpPr/>
          <p:nvPr/>
        </p:nvSpPr>
        <p:spPr>
          <a:xfrm xmlns:a="http://schemas.openxmlformats.org/drawingml/2006/main">
            <a:off x="1044000" y="3096000"/>
            <a:ext cx="288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No hypothesis has been executed yet.</a:t>
            </a:r>
          </a:p>
        </p:txBody>
      </p:sp>
      <p:sp>
        <p:nvSpPr>
          <p:cNvPr id="100161" name="Element-17"/>
          <p:cNvSpPr/>
          <p:nvPr/>
        </p:nvSpPr>
        <p:spPr>
          <a:xfrm xmlns:a="http://schemas.openxmlformats.org/drawingml/2006/main">
            <a:off x="4356000" y="1944000"/>
            <a:ext cx="3384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2" name="Element-18"/>
          <p:cNvSpPr/>
          <p:nvPr/>
        </p:nvSpPr>
        <p:spPr>
          <a:xfrm xmlns:a="http://schemas.openxmlformats.org/drawingml/2006/main">
            <a:off x="4608000" y="2124000"/>
            <a:ext cx="4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163" name="Element-19"/>
          <p:cNvSpPr/>
          <p:nvPr/>
        </p:nvSpPr>
        <p:spPr>
          <a:xfrm xmlns:a="http://schemas.openxmlformats.org/drawingml/2006/main">
            <a:off x="4608000" y="2556000"/>
            <a:ext cx="288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700" b="1" i="0">
                <a:solidFill>
                  <a:srgbClr val="B60036"/>
                </a:solidFill>
                <a:latin typeface="Arial"/>
                <a:ea typeface="Arial"/>
              </a:rPr>
              <a:t>No confidence interval</a:t>
            </a:r>
          </a:p>
        </p:txBody>
      </p:sp>
      <p:sp>
        <p:nvSpPr>
          <p:cNvPr id="100164" name="Element-20"/>
          <p:cNvSpPr/>
          <p:nvPr/>
        </p:nvSpPr>
        <p:spPr>
          <a:xfrm xmlns:a="http://schemas.openxmlformats.org/drawingml/2006/main">
            <a:off x="4608000" y="3096000"/>
            <a:ext cx="288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Three repetitions give a dispersion, not a sample.</a:t>
            </a:r>
          </a:p>
        </p:txBody>
      </p:sp>
      <p:sp>
        <p:nvSpPr>
          <p:cNvPr id="100165" name="Element-21"/>
          <p:cNvSpPr/>
          <p:nvPr/>
        </p:nvSpPr>
        <p:spPr>
          <a:xfrm xmlns:a="http://schemas.openxmlformats.org/drawingml/2006/main">
            <a:off x="7920000" y="1944000"/>
            <a:ext cx="33840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12700">
            <a:solidFill>
              <a:srgbClr val="D9DEE5"/>
            </a:solidFill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66" name="Element-22"/>
          <p:cNvSpPr/>
          <p:nvPr/>
        </p:nvSpPr>
        <p:spPr>
          <a:xfrm xmlns:a="http://schemas.openxmlformats.org/drawingml/2006/main">
            <a:off x="8172000" y="2124000"/>
            <a:ext cx="432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✕</a:t>
            </a:r>
          </a:p>
        </p:txBody>
      </p:sp>
      <p:sp>
        <p:nvSpPr>
          <p:cNvPr id="100167" name="Element-23"/>
          <p:cNvSpPr/>
          <p:nvPr/>
        </p:nvSpPr>
        <p:spPr>
          <a:xfrm xmlns:a="http://schemas.openxmlformats.org/drawingml/2006/main">
            <a:off x="8172000" y="2556000"/>
            <a:ext cx="288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1" i="0">
                <a:solidFill>
                  <a:srgbClr val="B60036"/>
                </a:solidFill>
                <a:latin typeface="Arial"/>
                <a:ea typeface="Arial"/>
              </a:rPr>
              <a:t>Nothing admitted as evidence</a:t>
            </a:r>
          </a:p>
        </p:txBody>
      </p:sp>
      <p:sp>
        <p:nvSpPr>
          <p:cNvPr id="100168" name="Element-24"/>
          <p:cNvSpPr/>
          <p:nvPr/>
        </p:nvSpPr>
        <p:spPr>
          <a:xfrm xmlns:a="http://schemas.openxmlformats.org/drawingml/2006/main">
            <a:off x="8172000" y="3096000"/>
            <a:ext cx="288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00" b="0" i="0">
                <a:solidFill>
                  <a:srgbClr val="20252D"/>
                </a:solidFill>
                <a:latin typeface="Arial"/>
                <a:ea typeface="Arial"/>
              </a:rPr>
              <a:t>The metric definition is not frozen.</a:t>
            </a:r>
          </a:p>
        </p:txBody>
      </p:sp>
      <p:sp>
        <p:nvSpPr>
          <p:cNvPr id="100169" name="Element-25"/>
          <p:cNvSpPr/>
          <p:nvPr/>
        </p:nvSpPr>
        <p:spPr>
          <a:xfrm xmlns:a="http://schemas.openxmlformats.org/drawingml/2006/main">
            <a:off x="792000" y="4104000"/>
            <a:ext cx="1058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A “green run” is not a measurement — an early run was green while every model arm had failed.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70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5a55c32a642f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171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Next steps</a:t>
            </a:r>
          </a:p>
        </p:txBody>
      </p:sp>
      <p:sp>
        <p:nvSpPr>
          <p:cNvPr id="100172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3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74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175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176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177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78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179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100180" name="Element-13"/>
          <p:cNvSpPr/>
          <p:nvPr/>
        </p:nvSpPr>
        <p:spPr>
          <a:xfrm xmlns:a="http://schemas.openxmlformats.org/drawingml/2006/main">
            <a:off x="864000" y="1872000"/>
            <a:ext cx="43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181" name="Element-14"/>
          <p:cNvSpPr/>
          <p:nvPr/>
        </p:nvSpPr>
        <p:spPr>
          <a:xfrm xmlns:a="http://schemas.openxmlformats.org/drawingml/2006/main">
            <a:off x="1512000" y="1872000"/>
            <a:ext cx="75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0" i="0">
                <a:solidFill>
                  <a:srgbClr val="20252D"/>
                </a:solidFill>
                <a:latin typeface="Arial"/>
                <a:ea typeface="Arial"/>
              </a:rPr>
              <a:t>V0 on a held-out instance</a:t>
            </a:r>
          </a:p>
        </p:txBody>
      </p:sp>
      <p:sp>
        <p:nvSpPr>
          <p:cNvPr id="100182" name="Element-15"/>
          <p:cNvSpPr/>
          <p:nvPr/>
        </p:nvSpPr>
        <p:spPr>
          <a:xfrm xmlns:a="http://schemas.openxmlformats.org/drawingml/2006/main">
            <a:off x="1512000" y="2394000"/>
            <a:ext cx="7560000" cy="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3" name="Element-16"/>
          <p:cNvSpPr/>
          <p:nvPr/>
        </p:nvSpPr>
        <p:spPr>
          <a:xfrm xmlns:a="http://schemas.openxmlformats.org/drawingml/2006/main">
            <a:off x="864000" y="2538000"/>
            <a:ext cx="43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184" name="Element-17"/>
          <p:cNvSpPr/>
          <p:nvPr/>
        </p:nvSpPr>
        <p:spPr>
          <a:xfrm xmlns:a="http://schemas.openxmlformats.org/drawingml/2006/main">
            <a:off x="1512000" y="2538000"/>
            <a:ext cx="75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0" i="0">
                <a:solidFill>
                  <a:srgbClr val="20252D"/>
                </a:solidFill>
                <a:latin typeface="Arial"/>
                <a:ea typeface="Arial"/>
              </a:rPr>
              <a:t>A parameterisable test harness</a:t>
            </a:r>
          </a:p>
        </p:txBody>
      </p:sp>
      <p:sp>
        <p:nvSpPr>
          <p:cNvPr id="100185" name="Element-18"/>
          <p:cNvSpPr/>
          <p:nvPr/>
        </p:nvSpPr>
        <p:spPr>
          <a:xfrm xmlns:a="http://schemas.openxmlformats.org/drawingml/2006/main">
            <a:off x="1512000" y="3060000"/>
            <a:ext cx="7560000" cy="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6" name="Element-19"/>
          <p:cNvSpPr/>
          <p:nvPr/>
        </p:nvSpPr>
        <p:spPr>
          <a:xfrm xmlns:a="http://schemas.openxmlformats.org/drawingml/2006/main">
            <a:off x="864000" y="3204000"/>
            <a:ext cx="43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187" name="Element-20"/>
          <p:cNvSpPr/>
          <p:nvPr/>
        </p:nvSpPr>
        <p:spPr>
          <a:xfrm xmlns:a="http://schemas.openxmlformats.org/drawingml/2006/main">
            <a:off x="1512000" y="3204000"/>
            <a:ext cx="75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0" i="0">
                <a:solidFill>
                  <a:srgbClr val="20252D"/>
                </a:solidFill>
                <a:latin typeface="Arial"/>
                <a:ea typeface="Arial"/>
              </a:rPr>
              <a:t>Families for H2, H3 and H4</a:t>
            </a:r>
          </a:p>
        </p:txBody>
      </p:sp>
      <p:sp>
        <p:nvSpPr>
          <p:cNvPr id="100188" name="Element-21"/>
          <p:cNvSpPr/>
          <p:nvPr/>
        </p:nvSpPr>
        <p:spPr>
          <a:xfrm xmlns:a="http://schemas.openxmlformats.org/drawingml/2006/main">
            <a:off x="1512000" y="3726000"/>
            <a:ext cx="7560000" cy="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89" name="Element-22"/>
          <p:cNvSpPr/>
          <p:nvPr/>
        </p:nvSpPr>
        <p:spPr>
          <a:xfrm xmlns:a="http://schemas.openxmlformats.org/drawingml/2006/main">
            <a:off x="864000" y="3870000"/>
            <a:ext cx="43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1" i="0">
                <a:solidFill>
                  <a:srgbClr val="B60036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190" name="Element-23"/>
          <p:cNvSpPr/>
          <p:nvPr/>
        </p:nvSpPr>
        <p:spPr>
          <a:xfrm xmlns:a="http://schemas.openxmlformats.org/drawingml/2006/main">
            <a:off x="1512000" y="3870000"/>
            <a:ext cx="75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050" b="0" i="0">
                <a:solidFill>
                  <a:srgbClr val="20252D"/>
                </a:solidFill>
                <a:latin typeface="Arial"/>
                <a:ea typeface="Arial"/>
              </a:rPr>
              <a:t>Reproducible platform deployment</a:t>
            </a:r>
          </a:p>
        </p:txBody>
      </p:sp>
      <p:sp>
        <p:nvSpPr>
          <p:cNvPr id="100191" name="Element-24"/>
          <p:cNvSpPr/>
          <p:nvPr/>
        </p:nvSpPr>
        <p:spPr>
          <a:xfrm xmlns:a="http://schemas.openxmlformats.org/drawingml/2006/main">
            <a:off x="864000" y="4716000"/>
            <a:ext cx="10512000" cy="68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CF0F4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2" name="Element-25"/>
          <p:cNvSpPr/>
          <p:nvPr/>
        </p:nvSpPr>
        <p:spPr>
          <a:xfrm xmlns:a="http://schemas.openxmlformats.org/drawingml/2006/main">
            <a:off x="1152000" y="4806000"/>
            <a:ext cx="9936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1" i="0">
                <a:solidFill>
                  <a:srgbClr val="B60036"/>
                </a:solidFill>
                <a:latin typeface="Arial"/>
                <a:ea typeface="Arial"/>
              </a:rPr>
              <a:t>What would help most</a:t>
            </a:r>
          </a:p>
        </p:txBody>
      </p:sp>
      <p:sp>
        <p:nvSpPr>
          <p:cNvPr id="100193" name="Element-26"/>
          <p:cNvSpPr/>
          <p:nvPr/>
        </p:nvSpPr>
        <p:spPr>
          <a:xfrm xmlns:a="http://schemas.openxmlformats.org/drawingml/2006/main">
            <a:off x="1152000" y="5040000"/>
            <a:ext cx="9936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350" b="0" i="0">
                <a:solidFill>
                  <a:srgbClr val="20252D"/>
                </a:solidFill>
                <a:latin typeface="Arial"/>
                <a:ea typeface="Arial"/>
              </a:rPr>
              <a:t>real vendor artifacts   ·   an adversarial review of the register</a:t>
            </a:r>
          </a:p>
        </p:txBody>
      </p:sp>
      <p:sp>
        <p:nvSpPr>
          <p:cNvPr id="100194" name="Element-27"/>
          <p:cNvSpPr/>
          <p:nvPr/>
        </p:nvSpPr>
        <p:spPr>
          <a:xfrm xmlns:a="http://schemas.openxmlformats.org/drawingml/2006/main">
            <a:off x="864000" y="5580000"/>
            <a:ext cx="10512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150" b="0" i="0">
                <a:solidFill>
                  <a:srgbClr val="5C626C"/>
                </a:solidFill>
                <a:latin typeface="Arial"/>
                <a:ea typeface="Arial"/>
              </a:rPr>
              <a:t>AsiaCCS 2027 — submission 11 December 2026 (AoE).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id="100195" name="Picture 1" descr="SMart ILIA — UMON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501adc556441c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792000" y="223200"/>
            <a:ext cx="1692000" cy="579864"/>
          </a:xfrm>
          <a:prstGeom xmlns:a="http://schemas.openxmlformats.org/drawingml/2006/main" prst="rect">
            <a:avLst/>
          </a:prstGeom>
        </p:spPr>
      </p:pic>
      <p:sp>
        <p:nvSpPr>
          <p:cNvPr id="100196" name="Title"/>
          <p:cNvSpPr/>
          <p:nvPr/>
        </p:nvSpPr>
        <p:spPr>
          <a:xfrm xmlns:a="http://schemas.openxmlformats.org/drawingml/2006/main">
            <a:off x="648000" y="630000"/>
            <a:ext cx="89280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900" b="1" i="0">
                <a:solidFill>
                  <a:srgbClr val="20252D"/>
                </a:solidFill>
                <a:latin typeface="Arial"/>
                <a:ea typeface="Arial"/>
              </a:rPr>
              <a:t>Reserve — declared coverage gaps</a:t>
            </a:r>
          </a:p>
        </p:txBody>
      </p:sp>
      <p:sp>
        <p:nvSpPr>
          <p:cNvPr id="100197" name="Element-5"/>
          <p:cNvSpPr/>
          <p:nvPr/>
        </p:nvSpPr>
        <p:spPr>
          <a:xfrm xmlns:a="http://schemas.openxmlformats.org/drawingml/2006/main">
            <a:off x="648000" y="1422000"/>
            <a:ext cx="12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198" name="Element-6"/>
          <p:cNvSpPr/>
          <p:nvPr/>
        </p:nvSpPr>
        <p:spPr>
          <a:xfrm xmlns:a="http://schemas.openxmlformats.org/drawingml/2006/main">
            <a:off x="648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Objective</a:t>
            </a:r>
          </a:p>
        </p:txBody>
      </p:sp>
      <p:sp>
        <p:nvSpPr>
          <p:cNvPr id="100199" name="Element-7"/>
          <p:cNvSpPr/>
          <p:nvPr/>
        </p:nvSpPr>
        <p:spPr>
          <a:xfrm xmlns:a="http://schemas.openxmlformats.org/drawingml/2006/main">
            <a:off x="2664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Instrument</a:t>
            </a:r>
          </a:p>
        </p:txBody>
      </p:sp>
      <p:sp>
        <p:nvSpPr>
          <p:cNvPr id="100200" name="Element-8"/>
          <p:cNvSpPr/>
          <p:nvPr/>
        </p:nvSpPr>
        <p:spPr>
          <a:xfrm xmlns:a="http://schemas.openxmlformats.org/drawingml/2006/main">
            <a:off x="4680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5C626C"/>
                </a:solidFill>
                <a:latin typeface="Arial"/>
                <a:ea typeface="Arial"/>
              </a:rPr>
              <a:t>Hypotheses</a:t>
            </a:r>
          </a:p>
        </p:txBody>
      </p:sp>
      <p:sp>
        <p:nvSpPr>
          <p:cNvPr id="100201" name="Element-9"/>
          <p:cNvSpPr/>
          <p:nvPr/>
        </p:nvSpPr>
        <p:spPr>
          <a:xfrm xmlns:a="http://schemas.openxmlformats.org/drawingml/2006/main">
            <a:off x="6696000" y="306000"/>
            <a:ext cx="1800000" cy="2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000" b="0" i="0">
                <a:solidFill>
                  <a:srgbClr val="B60036"/>
                </a:solidFill>
                <a:latin typeface="Arial"/>
                <a:ea typeface="Arial"/>
              </a:rPr>
              <a:t>Outlook</a:t>
            </a:r>
          </a:p>
        </p:txBody>
      </p:sp>
      <p:sp>
        <p:nvSpPr>
          <p:cNvPr id="100202" name="Element-10"/>
          <p:cNvSpPr/>
          <p:nvPr/>
        </p:nvSpPr>
        <p:spPr>
          <a:xfrm xmlns:a="http://schemas.openxmlformats.org/drawingml/2006/main">
            <a:off x="6696000" y="540000"/>
            <a:ext cx="1800000" cy="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003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endParaRPr lang="en-US" sz="1800" b="0" i="0">
              <a:solidFill>
                <a:srgbClr val="20252D"/>
              </a:solidFill>
              <a:latin typeface="Arial"/>
              <a:ea typeface="Arial"/>
            </a:endParaRPr>
          </a:p>
        </p:txBody>
      </p:sp>
      <p:sp>
        <p:nvSpPr>
          <p:cNvPr id="100203" name="Element-11"/>
          <p:cNvSpPr/>
          <p:nvPr/>
        </p:nvSpPr>
        <p:spPr>
          <a:xfrm xmlns:a="http://schemas.openxmlformats.org/drawingml/2006/main">
            <a:off x="648000" y="6300000"/>
            <a:ext cx="504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Project LANCE — NATO SPS G6259</a:t>
            </a:r>
          </a:p>
        </p:txBody>
      </p:sp>
      <p:sp>
        <p:nvSpPr>
          <p:cNvPr id="100204" name="Element-12"/>
          <p:cNvSpPr/>
          <p:nvPr/>
        </p:nvSpPr>
        <p:spPr>
          <a:xfrm xmlns:a="http://schemas.openxmlformats.org/drawingml/2006/main">
            <a:off x="11016000" y="6300000"/>
            <a:ext cx="504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/>
            <a:r>
              <a:rPr lang="en-US" sz="850" b="0" i="0">
                <a:solidFill>
                  <a:srgbClr val="5C626C"/>
                </a:solidFill>
                <a:latin typeface="Arial"/>
                <a:ea typeface="Arial"/>
              </a:rPr>
              <a:t>10</a:t>
            </a:r>
          </a:p>
        </p:txBody>
      </p:sp>
      <p:sp>
        <p:nvSpPr>
          <p:cNvPr id="100205" name="Element-13"/>
          <p:cNvSpPr/>
          <p:nvPr/>
        </p:nvSpPr>
        <p:spPr>
          <a:xfrm xmlns:a="http://schemas.openxmlformats.org/drawingml/2006/main">
            <a:off x="864000" y="1764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206" name="Element-14"/>
          <p:cNvSpPr/>
          <p:nvPr/>
        </p:nvSpPr>
        <p:spPr>
          <a:xfrm xmlns:a="http://schemas.openxmlformats.org/drawingml/2006/main">
            <a:off x="1296000" y="1764000"/>
            <a:ext cx="10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Physical impact and functional safety</a:t>
            </a:r>
          </a:p>
        </p:txBody>
      </p:sp>
      <p:sp>
        <p:nvSpPr>
          <p:cNvPr id="100207" name="Element-15"/>
          <p:cNvSpPr/>
          <p:nvPr/>
        </p:nvSpPr>
        <p:spPr>
          <a:xfrm xmlns:a="http://schemas.openxmlformats.org/drawingml/2006/main">
            <a:off x="864000" y="2304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208" name="Element-16"/>
          <p:cNvSpPr/>
          <p:nvPr/>
        </p:nvSpPr>
        <p:spPr>
          <a:xfrm xmlns:a="http://schemas.openxmlformats.org/drawingml/2006/main">
            <a:off x="1296000" y="2304000"/>
            <a:ext cx="10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Device fragility under probing</a:t>
            </a:r>
          </a:p>
        </p:txBody>
      </p:sp>
      <p:sp>
        <p:nvSpPr>
          <p:cNvPr id="100209" name="Element-17"/>
          <p:cNvSpPr/>
          <p:nvPr/>
        </p:nvSpPr>
        <p:spPr>
          <a:xfrm xmlns:a="http://schemas.openxmlformats.org/drawingml/2006/main">
            <a:off x="864000" y="2844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210" name="Element-18"/>
          <p:cNvSpPr/>
          <p:nvPr/>
        </p:nvSpPr>
        <p:spPr>
          <a:xfrm xmlns:a="http://schemas.openxmlformats.org/drawingml/2006/main">
            <a:off x="1296000" y="2844000"/>
            <a:ext cx="10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Real fleet scale</a:t>
            </a:r>
          </a:p>
        </p:txBody>
      </p:sp>
      <p:sp>
        <p:nvSpPr>
          <p:cNvPr id="100211" name="Element-19"/>
          <p:cNvSpPr/>
          <p:nvPr/>
        </p:nvSpPr>
        <p:spPr>
          <a:xfrm xmlns:a="http://schemas.openxmlformats.org/drawingml/2006/main">
            <a:off x="864000" y="3384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212" name="Element-20"/>
          <p:cNvSpPr/>
          <p:nvPr/>
        </p:nvSpPr>
        <p:spPr>
          <a:xfrm xmlns:a="http://schemas.openxmlformats.org/drawingml/2006/main">
            <a:off x="1296000" y="3384000"/>
            <a:ext cx="10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Proprietary industrial protocols that are not simulated</a:t>
            </a:r>
          </a:p>
        </p:txBody>
      </p:sp>
      <p:sp>
        <p:nvSpPr>
          <p:cNvPr id="100213" name="Element-21"/>
          <p:cNvSpPr/>
          <p:nvPr/>
        </p:nvSpPr>
        <p:spPr>
          <a:xfrm xmlns:a="http://schemas.openxmlformats.org/drawingml/2006/main">
            <a:off x="864000" y="3924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214" name="Element-22"/>
          <p:cNvSpPr/>
          <p:nvPr/>
        </p:nvSpPr>
        <p:spPr>
          <a:xfrm xmlns:a="http://schemas.openxmlformats.org/drawingml/2006/main">
            <a:off x="1296000" y="3924000"/>
            <a:ext cx="10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Complete multi-step exploitation chains</a:t>
            </a:r>
          </a:p>
        </p:txBody>
      </p:sp>
      <p:sp>
        <p:nvSpPr>
          <p:cNvPr id="100215" name="Element-23"/>
          <p:cNvSpPr/>
          <p:nvPr/>
        </p:nvSpPr>
        <p:spPr>
          <a:xfrm xmlns:a="http://schemas.openxmlformats.org/drawingml/2006/main">
            <a:off x="864000" y="4464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216" name="Element-24"/>
          <p:cNvSpPr/>
          <p:nvPr/>
        </p:nvSpPr>
        <p:spPr>
          <a:xfrm xmlns:a="http://schemas.openxmlformats.org/drawingml/2006/main">
            <a:off x="1296000" y="4464000"/>
            <a:ext cx="10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Abstention and calibration</a:t>
            </a:r>
          </a:p>
        </p:txBody>
      </p:sp>
      <p:sp>
        <p:nvSpPr>
          <p:cNvPr id="100217" name="Element-25"/>
          <p:cNvSpPr/>
          <p:nvPr/>
        </p:nvSpPr>
        <p:spPr>
          <a:xfrm xmlns:a="http://schemas.openxmlformats.org/drawingml/2006/main">
            <a:off x="864000" y="5004000"/>
            <a:ext cx="36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1" i="0">
                <a:solidFill>
                  <a:srgbClr val="B60036"/>
                </a:solidFill>
                <a:latin typeface="Arial"/>
                <a:ea typeface="Arial"/>
              </a:rPr>
              <a:t>—</a:t>
            </a:r>
          </a:p>
        </p:txBody>
      </p:sp>
      <p:sp>
        <p:nvSpPr>
          <p:cNvPr id="100218" name="Element-26"/>
          <p:cNvSpPr/>
          <p:nvPr/>
        </p:nvSpPr>
        <p:spPr>
          <a:xfrm xmlns:a="http://schemas.openxmlformats.org/drawingml/2006/main">
            <a:off x="1296000" y="5004000"/>
            <a:ext cx="1008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1500" b="0" i="0">
                <a:solidFill>
                  <a:srgbClr val="20252D"/>
                </a:solidFill>
                <a:latin typeface="Arial"/>
                <a:ea typeface="Arial"/>
              </a:rPr>
              <a:t>Generic IT scenarios, deliberately excluded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OfficeCLI/1.0.158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Project LANCE</dc:creator>
  <dcterms:created xsi:type="dcterms:W3CDTF">2026-10-21T11:40:13.0000000Z</dcterms:created>
  <lastModifiedBy>OfficeCLI</lastModifiedBy>
  <dcterms:modified xsi:type="dcterms:W3CDTF">2026-10-21T11:40:13.8563360Z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2026-10-21T11:40:19Z</vt:lpwstr>
  </op:property>
</op:Properties>
</file>