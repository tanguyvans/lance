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508eeb866a94652" /><Relationship Type="http://schemas.openxmlformats.org/package/2006/relationships/metadata/core-properties" Target="/docProps/core.xml" Id="R5b87e480c98242a1" /><Relationship Type="http://schemas.openxmlformats.org/officeDocument/2006/relationships/extended-properties" Target="/docProps/app.xml" Id="R74de0a3eb6ce43b1" /><Relationship Type="http://schemas.openxmlformats.org/officeDocument/2006/relationships/custom-properties" Target="/docProps/custom.xml" Id="R78b6fa8673f24d1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7683b7896daf4d7c"/>
  </p:notesMasterIdLst>
  <p:sldIdLst>
    <p:sldId id="256" r:id="Rdd2dc3d3cbae4557"/>
    <p:sldId id="257" r:id="R4068fc708b9e495c"/>
    <p:sldId id="258" r:id="R244c1387bfcb4a10"/>
    <p:sldId id="259" r:id="R60b7f0e4df954e90"/>
    <p:sldId id="260" r:id="Rd13eabc45c4d4054"/>
    <p:sldId id="261" r:id="R2b8af28730e04ec5"/>
    <p:sldId id="262" r:id="Ra392a143b3cc4d2d"/>
    <p:sldId id="263" r:id="R18fc9ed356ea4fbc"/>
    <p:sldId id="264" r:id="R671888aea44c47e8"/>
    <p:sldId id="265" r:id="Rd54f01cdcfbc49cd"/>
    <p:sldId id="266" r:id="R23fb4301ac6f4f8b"/>
    <p:sldId id="267" r:id="Rd16481f808ed428e"/>
    <p:sldId id="268" r:id="Re7e6b71ad85945e5"/>
  </p:sldIdLst>
  <p:sldSz cx="12192000" cy="6858000" type="custom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dd2dc3d3cbae4557" /><Relationship Type="http://schemas.openxmlformats.org/officeDocument/2006/relationships/notesMaster" Target="/ppt/notesMasters/notesMaster1.xml" Id="R7683b7896daf4d7c" /><Relationship Type="http://schemas.openxmlformats.org/officeDocument/2006/relationships/slide" Target="/ppt/slides/slide2.xml" Id="R4068fc708b9e495c" /><Relationship Type="http://schemas.openxmlformats.org/officeDocument/2006/relationships/slide" Target="/ppt/slides/slide3.xml" Id="R244c1387bfcb4a10" /><Relationship Type="http://schemas.openxmlformats.org/officeDocument/2006/relationships/slide" Target="/ppt/slides/slide4.xml" Id="R60b7f0e4df954e90" /><Relationship Type="http://schemas.openxmlformats.org/officeDocument/2006/relationships/slide" Target="/ppt/slides/slide5.xml" Id="Rd13eabc45c4d4054" /><Relationship Type="http://schemas.openxmlformats.org/officeDocument/2006/relationships/slide" Target="/ppt/slides/slide6.xml" Id="R2b8af28730e04ec5" /><Relationship Type="http://schemas.openxmlformats.org/officeDocument/2006/relationships/slide" Target="/ppt/slides/slide7.xml" Id="Ra392a143b3cc4d2d" /><Relationship Type="http://schemas.openxmlformats.org/officeDocument/2006/relationships/slide" Target="/ppt/slides/slide8.xml" Id="R18fc9ed356ea4fbc" /><Relationship Type="http://schemas.openxmlformats.org/officeDocument/2006/relationships/slide" Target="/ppt/slides/slide9.xml" Id="R671888aea44c47e8" /><Relationship Type="http://schemas.openxmlformats.org/officeDocument/2006/relationships/slide" Target="/ppt/slides/slide10.xml" Id="Rd54f01cdcfbc49cd" /><Relationship Type="http://schemas.openxmlformats.org/officeDocument/2006/relationships/slide" Target="/ppt/slides/slide11.xml" Id="R23fb4301ac6f4f8b" /><Relationship Type="http://schemas.openxmlformats.org/officeDocument/2006/relationships/slide" Target="/ppt/slides/slide12.xml" Id="Rd16481f808ed428e" /><Relationship Type="http://schemas.openxmlformats.org/officeDocument/2006/relationships/slide" Target="/ppt/slides/slide13.xml" Id="Re7e6b71ad85945e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d2d064ac6e647cc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b5a495241be4573" /><Relationship Type="http://schemas.openxmlformats.org/officeDocument/2006/relationships/slide" Target="/ppt/slides/slide1.xml" Id="R80368cb7b3a6469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395e45ef2714f13" /><Relationship Type="http://schemas.openxmlformats.org/officeDocument/2006/relationships/slide" Target="/ppt/slides/slide2.xml" Id="R0f5f96aef06e425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79c88a79f3c4be4" /><Relationship Type="http://schemas.openxmlformats.org/officeDocument/2006/relationships/slide" Target="/ppt/slides/slide3.xml" Id="R4e9262cc15ba426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1cfec7a92c8485b" /><Relationship Type="http://schemas.openxmlformats.org/officeDocument/2006/relationships/slide" Target="/ppt/slides/slide4.xml" Id="Rd18dc0cc8bab486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86d36a3b7e749c5" /><Relationship Type="http://schemas.openxmlformats.org/officeDocument/2006/relationships/slide" Target="/ppt/slides/slide5.xml" Id="R2735ae3caf2f408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745af668d9140d9" /><Relationship Type="http://schemas.openxmlformats.org/officeDocument/2006/relationships/slide" Target="/ppt/slides/slide6.xml" Id="R2990306dbe27466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097840ed5d843df" /><Relationship Type="http://schemas.openxmlformats.org/officeDocument/2006/relationships/slide" Target="/ppt/slides/slide7.xml" Id="Rabb82fab907346c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2cca3198099473b" /><Relationship Type="http://schemas.openxmlformats.org/officeDocument/2006/relationships/slide" Target="/ppt/slides/slide8.xml" Id="R4cce3de1bc85433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718afafbd534a48" /><Relationship Type="http://schemas.openxmlformats.org/officeDocument/2006/relationships/slide" Target="/ppt/slides/slide9.xml" Id="R1dcc678c7fff49f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c212a9597034f1f" /><Relationship Type="http://schemas.openxmlformats.org/officeDocument/2006/relationships/slide" Target="/ppt/slides/slide10.xml" Id="Rc0c1461773f8489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7da083a5096435b" /><Relationship Type="http://schemas.openxmlformats.org/officeDocument/2006/relationships/slide" Target="/ppt/slides/slide11.xml" Id="Rc1a5bbaf739b4fa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7a66c34f7b64dc6" /><Relationship Type="http://schemas.openxmlformats.org/officeDocument/2006/relationships/slide" Target="/ppt/slides/slide12.xml" Id="R07729dcfe0a94db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66a145cdcc04043" /><Relationship Type="http://schemas.openxmlformats.org/officeDocument/2006/relationships/slide" Target="/ppt/slides/slide13.xml" Id="Rd0dab677788b483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20 seconds.</a:t>
            </a:r>
          </a:p>
          <a:p xmlns:a="http://schemas.openxmlformats.org/drawingml/2006/main">
            <a:r>
              <a:rPr lang="en-US"/>
              <a:t>Cover. Say: this is a progress report, not a results talk.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75 seconds.</a:t>
            </a:r>
          </a:p>
          <a:p xmlns:a="http://schemas.openxmlformats.org/drawingml/2006/main">
            <a:r>
              <a:rPr lang="en-US"/>
              <a:t>The objective commits us to three things. Say them in order: conditions rather than ranking, parity of tools, verifiable not plausible.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55 seconds.</a:t>
            </a:r>
          </a:p>
          <a:p xmlns:a="http://schemas.openxmlformats.org/drawingml/2006/main">
            <a:r>
              <a:rPr lang="en-US"/>
              <a:t>The laboratory reconstructs known networks; the platform runs the audit; the benchmark is what turns a run into a measurement. The model is only one piece.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80 seconds.</a:t>
            </a:r>
          </a:p>
          <a:p xmlns:a="http://schemas.openxmlformats.org/drawingml/2006/main">
            <a:r>
              <a:rPr lang="en-US"/>
              <a:t>Two halves. Left: we recompute from the log, never from the conclusion. Right: the same trial runs on both configurations, so a false positive is visible.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70 seconds.</a:t>
            </a:r>
          </a:p>
          <a:p xmlns:a="http://schemas.openxmlformats.org/drawingml/2006/main">
            <a:r>
              <a:rPr lang="en-US"/>
              <a:t>Both arms succeed everywhere. That is a property of the instrument, not a verdict on the model. Do not say the model is useless.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90 seconds.</a:t>
            </a:r>
          </a:p>
          <a:p xmlns:a="http://schemas.openxmlformats.org/drawingml/2006/main">
            <a:r>
              <a:rPr lang="en-US"/>
              <a:t>The objective does not change, its form does. Six properties, six tests. H6 is a risk, not a gain.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75 seconds.</a:t>
            </a:r>
          </a:p>
          <a:p xmlns:a="http://schemas.openxmlformats.org/drawingml/2006/main">
            <a:r>
              <a:rPr lang="en-US"/>
              <a:t>V0 is the condition of interpretation for everything else. It is a gate on both arms. The briefing failure is the concrete example.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85 seconds.</a:t>
            </a:r>
          </a:p>
          <a:p xmlns:a="http://schemas.openxmlformats.org/drawingml/2006/main">
            <a:r>
              <a:rPr lang="en-US"/>
              <a:t>Three descriptive measurements. Not the results of the six hypotheses. The third one is coverage, not intelligence.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60 seconds.</a:t>
            </a:r>
          </a:p>
          <a:p xmlns:a="http://schemas.openxmlformats.org/drawingml/2006/main">
            <a:r>
              <a:rPr lang="en-US"/>
              <a:t>Be explicit. This is the slide that buys credibility. Four limits.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70 seconds.</a:t>
            </a:r>
          </a:p>
          <a:p xmlns:a="http://schemas.openxmlformats.org/drawingml/2006/main">
            <a:r>
              <a:rPr lang="en-US"/>
              <a:t>Order follows conditions, not dates. Only external constraint is the submission. End by naming the two things that would help.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0 seconds.</a:t>
            </a:r>
          </a:p>
          <a:p xmlns:a="http://schemas.openxmlformats.org/drawingml/2006/main">
            <a:r>
              <a:rPr lang="en-US"/>
              <a:t>Only if asked. Costs are tariff estimates, not billed measurements.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0 seconds.</a:t>
            </a:r>
          </a:p>
          <a:p xmlns:a="http://schemas.openxmlformats.org/drawingml/2006/main">
            <a:r>
              <a:rPr lang="en-US"/>
              <a:t>Coefficient of variation over three repetitions. The 92 % figure is one cold model load, not policy variability.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0 seconds.</a:t>
            </a:r>
          </a:p>
          <a:p xmlns:a="http://schemas.openxmlformats.org/drawingml/2006/main">
            <a:r>
              <a:rPr lang="en-US"/>
              <a:t>A benchmark that states its gaps is stronger than one that claims full coverage.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c0b4965624410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44a70fcd414ab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a401d193db47c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dbaf04bddc430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f88d8bceaf4e8e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0aae1b1cf38546ee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bcca2b47dd42d9" /><Relationship Type="http://schemas.openxmlformats.org/officeDocument/2006/relationships/notesSlide" Target="/ppt/notesSlides/notesSlide1.xml" Id="Rd94ffe3f06af4472" /><Relationship Type="http://schemas.openxmlformats.org/officeDocument/2006/relationships/image" Target="/ppt/media/image.png" Id="R64b71ccd28dd4bc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7cc827677a4c25" /><Relationship Type="http://schemas.openxmlformats.org/officeDocument/2006/relationships/notesSlide" Target="/ppt/notesSlides/notesSlide2.xml" Id="Rcfd8b2b611234d85" /><Relationship Type="http://schemas.openxmlformats.org/officeDocument/2006/relationships/image" Target="/ppt/media/image2.png" Id="Ree3922fb8260425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903c9ab37f468f" /><Relationship Type="http://schemas.openxmlformats.org/officeDocument/2006/relationships/notesSlide" Target="/ppt/notesSlides/notesSlide3.xml" Id="R5e13d81dd0934e54" /><Relationship Type="http://schemas.openxmlformats.org/officeDocument/2006/relationships/image" Target="/ppt/media/image3.png" Id="R87154404a781483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c93574882741ef" /><Relationship Type="http://schemas.openxmlformats.org/officeDocument/2006/relationships/notesSlide" Target="/ppt/notesSlides/notesSlide4.xml" Id="R9a8a8b9e15df41cd" /><Relationship Type="http://schemas.openxmlformats.org/officeDocument/2006/relationships/image" Target="/ppt/media/image4.png" Id="R01bc1ab7d4d243c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49bdfe4725494a" /><Relationship Type="http://schemas.openxmlformats.org/officeDocument/2006/relationships/notesSlide" Target="/ppt/notesSlides/notesSlide5.xml" Id="Rc568c59313434489" /><Relationship Type="http://schemas.openxmlformats.org/officeDocument/2006/relationships/image" Target="/ppt/media/image5.png" Id="R6d18a9d4097f43c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40ed8cabf24e7b" /><Relationship Type="http://schemas.openxmlformats.org/officeDocument/2006/relationships/notesSlide" Target="/ppt/notesSlides/notesSlide6.xml" Id="R31952e09cd824ee2" /><Relationship Type="http://schemas.openxmlformats.org/officeDocument/2006/relationships/image" Target="/ppt/media/image6.png" Id="Re699eecd4d624ba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831f64d46e496d" /><Relationship Type="http://schemas.openxmlformats.org/officeDocument/2006/relationships/notesSlide" Target="/ppt/notesSlides/notesSlide7.xml" Id="Re0b7e54041f24060" /><Relationship Type="http://schemas.openxmlformats.org/officeDocument/2006/relationships/image" Target="/ppt/media/image7.png" Id="R40727ea192044bd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1383a31a2f45a0" /><Relationship Type="http://schemas.openxmlformats.org/officeDocument/2006/relationships/notesSlide" Target="/ppt/notesSlides/notesSlide8.xml" Id="Rab04c215e59f44bd" /><Relationship Type="http://schemas.openxmlformats.org/officeDocument/2006/relationships/image" Target="/ppt/media/image8.png" Id="R8e84f54b1cad412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c9b10cc71146de" /><Relationship Type="http://schemas.openxmlformats.org/officeDocument/2006/relationships/notesSlide" Target="/ppt/notesSlides/notesSlide9.xml" Id="Rd5334d32163647fc" /><Relationship Type="http://schemas.openxmlformats.org/officeDocument/2006/relationships/image" Target="/ppt/media/image9.png" Id="R828880d9fc2d401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c890c920a742ca" /><Relationship Type="http://schemas.openxmlformats.org/officeDocument/2006/relationships/notesSlide" Target="/ppt/notesSlides/notesSlide10.xml" Id="R4a3bb62639cb4984" /><Relationship Type="http://schemas.openxmlformats.org/officeDocument/2006/relationships/image" Target="/ppt/media/image10.png" Id="R468d13fe84744c4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7239b339d84c7c" /><Relationship Type="http://schemas.openxmlformats.org/officeDocument/2006/relationships/notesSlide" Target="/ppt/notesSlides/notesSlide11.xml" Id="R393fd11956234ff7" /><Relationship Type="http://schemas.openxmlformats.org/officeDocument/2006/relationships/image" Target="/ppt/media/image11.png" Id="R2ca156c09b7c447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920c885b1e4873" /><Relationship Type="http://schemas.openxmlformats.org/officeDocument/2006/relationships/notesSlide" Target="/ppt/notesSlides/notesSlide12.xml" Id="Rb2d8313e2cdc472d" /><Relationship Type="http://schemas.openxmlformats.org/officeDocument/2006/relationships/image" Target="/ppt/media/image12.png" Id="Re10f00836862495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fb741caf3e40ea" /><Relationship Type="http://schemas.openxmlformats.org/officeDocument/2006/relationships/notesSlide" Target="/ppt/notesSlides/notesSlide13.xml" Id="R104fc5345e2a4ccc" /><Relationship Type="http://schemas.openxmlformats.org/officeDocument/2006/relationships/image" Target="/ppt/media/image13.png" Id="R6562fe73cbcc4a0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00" name="Element-3"/>
          <p:cNvSpPr/>
          <p:nvPr/>
        </p:nvSpPr>
        <p:spPr>
          <a:xfrm xmlns:a="http://schemas.openxmlformats.org/drawingml/2006/main">
            <a:off x="720000" y="1584000"/>
            <a:ext cx="50400" cy="30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01" name="Element-4"/>
          <p:cNvSpPr/>
          <p:nvPr/>
        </p:nvSpPr>
        <p:spPr>
          <a:xfrm xmlns:a="http://schemas.openxmlformats.org/drawingml/2006/main">
            <a:off x="1224000" y="1404000"/>
            <a:ext cx="936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3900" b="1" i="0">
                <a:solidFill>
                  <a:srgbClr val="20252D"/>
                </a:solidFill>
                <a:latin typeface="Arial"/>
                <a:ea typeface="Arial"/>
              </a:rPr>
              <a:t>LANCE</a:t>
            </a:r>
          </a:p>
        </p:txBody>
      </p:sp>
      <p:sp>
        <p:nvSpPr>
          <p:cNvPr id="100002" name="Element-5"/>
          <p:cNvSpPr/>
          <p:nvPr/>
        </p:nvSpPr>
        <p:spPr>
          <a:xfrm xmlns:a="http://schemas.openxmlformats.org/drawingml/2006/main">
            <a:off x="1224000" y="2304000"/>
            <a:ext cx="9360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0" i="0">
                <a:solidFill>
                  <a:srgbClr val="5C626C"/>
                </a:solidFill>
                <a:latin typeface="Arial"/>
                <a:ea typeface="Arial"/>
              </a:rPr>
              <a:t>An autonomous, provable auditor</a:t>
            </a:r>
          </a:p>
          <a:p xmlns:a="http://schemas.openxmlformats.org/drawingml/2006/main">
            <a:pPr algn="l"/>
            <a:r>
              <a:rPr lang="en-US" sz="2100" b="0" i="0">
                <a:solidFill>
                  <a:srgbClr val="5C626C"/>
                </a:solidFill>
                <a:latin typeface="Arial"/>
                <a:ea typeface="Arial"/>
              </a:rPr>
              <a:t>for IoT/IIoT networks</a:t>
            </a:r>
          </a:p>
        </p:txBody>
      </p:sp>
      <p:sp>
        <p:nvSpPr>
          <p:cNvPr id="100003" name="Element-6"/>
          <p:cNvSpPr/>
          <p:nvPr/>
        </p:nvSpPr>
        <p:spPr>
          <a:xfrm xmlns:a="http://schemas.openxmlformats.org/drawingml/2006/main">
            <a:off x="1224000" y="3744000"/>
            <a:ext cx="936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700" b="1" i="0">
                <a:solidFill>
                  <a:srgbClr val="B60036"/>
                </a:solidFill>
                <a:latin typeface="Arial"/>
                <a:ea typeface="Arial"/>
              </a:rPr>
              <a:t>Progress report — NATO SPS G6259</a:t>
            </a:r>
          </a:p>
        </p:txBody>
      </p:sp>
      <p:sp>
        <p:nvSpPr>
          <p:cNvPr id="100004" name="Element-7"/>
          <p:cNvSpPr/>
          <p:nvPr/>
        </p:nvSpPr>
        <p:spPr>
          <a:xfrm xmlns:a="http://schemas.openxmlformats.org/drawingml/2006/main">
            <a:off x="1224000" y="4104000"/>
            <a:ext cx="936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5C626C"/>
                </a:solidFill>
                <a:latin typeface="Arial"/>
                <a:ea typeface="Arial"/>
              </a:rPr>
              <a:t>23 October 2026  ·  Université de Mons, ILIA</a:t>
            </a:r>
          </a:p>
        </p:txBody>
      </p:sp>
      <p:sp>
        <p:nvSpPr>
          <p:cNvPr id="100005" name="Element-8"/>
          <p:cNvSpPr/>
          <p:nvPr/>
        </p:nvSpPr>
        <p:spPr>
          <a:xfrm xmlns:a="http://schemas.openxmlformats.org/drawingml/2006/main">
            <a:off x="1224000" y="4896000"/>
            <a:ext cx="936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00" b="0" i="1">
                <a:solidFill>
                  <a:srgbClr val="5C626C"/>
                </a:solidFill>
                <a:latin typeface="Arial"/>
                <a:ea typeface="Arial"/>
              </a:rPr>
              <a:t>Work in progress: no general advantage of the model is demonstrated.</a:t>
            </a:r>
          </a:p>
        </p:txBody>
      </p:sp>
      <p:pic>
        <p:nvPicPr>
          <p:cNvPr id="100006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b71ccd28dd4bc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684000" y="504000"/>
            <a:ext cx="1872000" cy="641551"/>
          </a:xfrm>
          <a:prstGeom xmlns:a="http://schemas.openxmlformats.org/drawingml/2006/main" prst="rect">
            <a:avLst/>
          </a:prstGeom>
        </p:spPr>
      </p:pic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007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3922fb8260425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92000" y="223200"/>
            <a:ext cx="1692000" cy="579864"/>
          </a:xfrm>
          <a:prstGeom xmlns:a="http://schemas.openxmlformats.org/drawingml/2006/main" prst="rect">
            <a:avLst/>
          </a:prstGeom>
        </p:spPr>
      </p:pic>
      <p:sp>
        <p:nvSpPr>
          <p:cNvPr id="100008" name="Title"/>
          <p:cNvSpPr/>
          <p:nvPr/>
        </p:nvSpPr>
        <p:spPr>
          <a:xfrm xmlns:a="http://schemas.openxmlformats.org/drawingml/2006/main">
            <a:off x="648000" y="630000"/>
            <a:ext cx="8928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The objective, and what it implies</a:t>
            </a:r>
          </a:p>
        </p:txBody>
      </p:sp>
      <p:sp>
        <p:nvSpPr>
          <p:cNvPr id="100009" name="Element-5"/>
          <p:cNvSpPr/>
          <p:nvPr/>
        </p:nvSpPr>
        <p:spPr>
          <a:xfrm xmlns:a="http://schemas.openxmlformats.org/drawingml/2006/main">
            <a:off x="648000" y="1422000"/>
            <a:ext cx="12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10" name="Element-6"/>
          <p:cNvSpPr/>
          <p:nvPr/>
        </p:nvSpPr>
        <p:spPr>
          <a:xfrm xmlns:a="http://schemas.openxmlformats.org/drawingml/2006/main">
            <a:off x="648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B60036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011" name="Element-7"/>
          <p:cNvSpPr/>
          <p:nvPr/>
        </p:nvSpPr>
        <p:spPr>
          <a:xfrm xmlns:a="http://schemas.openxmlformats.org/drawingml/2006/main">
            <a:off x="648000" y="540000"/>
            <a:ext cx="1800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12" name="Element-8"/>
          <p:cNvSpPr/>
          <p:nvPr/>
        </p:nvSpPr>
        <p:spPr>
          <a:xfrm xmlns:a="http://schemas.openxmlformats.org/drawingml/2006/main">
            <a:off x="2664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013" name="Element-9"/>
          <p:cNvSpPr/>
          <p:nvPr/>
        </p:nvSpPr>
        <p:spPr>
          <a:xfrm xmlns:a="http://schemas.openxmlformats.org/drawingml/2006/main">
            <a:off x="4680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014" name="Element-10"/>
          <p:cNvSpPr/>
          <p:nvPr/>
        </p:nvSpPr>
        <p:spPr>
          <a:xfrm xmlns:a="http://schemas.openxmlformats.org/drawingml/2006/main">
            <a:off x="6696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015" name="Element-11"/>
          <p:cNvSpPr/>
          <p:nvPr/>
        </p:nvSpPr>
        <p:spPr>
          <a:xfrm xmlns:a="http://schemas.openxmlformats.org/drawingml/2006/main">
            <a:off x="648000" y="6300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016" name="Element-12"/>
          <p:cNvSpPr/>
          <p:nvPr/>
        </p:nvSpPr>
        <p:spPr>
          <a:xfrm xmlns:a="http://schemas.openxmlformats.org/drawingml/2006/main">
            <a:off x="11016000" y="6300000"/>
            <a:ext cx="504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00017" name="obj"/>
          <p:cNvSpPr/>
          <p:nvPr/>
        </p:nvSpPr>
        <p:spPr>
          <a:xfrm xmlns:a="http://schemas.openxmlformats.org/drawingml/2006/main">
            <a:off x="3024000" y="1764000"/>
            <a:ext cx="6120000" cy="93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B60036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2000" b="1" i="0">
                <a:solidFill>
                  <a:srgbClr val="B60036"/>
                </a:solidFill>
                <a:latin typeface="Arial"/>
                <a:ea typeface="Arial"/>
              </a:rPr>
              <a:t>An autonomous and provable auditor</a:t>
            </a:r>
          </a:p>
          <a:p xmlns:a="http://schemas.openxmlformats.org/drawingml/2006/main">
            <a:pPr algn="ctr"/>
            <a:r>
              <a:rPr lang="en-US" sz="2000" b="1" i="0">
                <a:solidFill>
                  <a:srgbClr val="B60036"/>
                </a:solidFill>
                <a:latin typeface="Arial"/>
                <a:ea typeface="Arial"/>
              </a:rPr>
              <a:t>for IoT/IIoT networks</a:t>
            </a:r>
          </a:p>
        </p:txBody>
      </p:sp>
      <p:sp>
        <p:nvSpPr>
          <p:cNvPr id="100018" name="Element-14"/>
          <p:cNvSpPr/>
          <p:nvPr/>
        </p:nvSpPr>
        <p:spPr>
          <a:xfrm xmlns:a="http://schemas.openxmlformats.org/drawingml/2006/main">
            <a:off x="3024000" y="2700000"/>
            <a:ext cx="612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explores · finds · verifies · reports · with recomputable evidence</a:t>
            </a:r>
          </a:p>
        </p:txBody>
      </p:sp>
      <p:sp>
        <p:nvSpPr>
          <p:cNvPr id="100019" name="Element-15"/>
          <p:cNvSpPr/>
          <p:nvPr/>
        </p:nvSpPr>
        <p:spPr>
          <a:xfrm xmlns:a="http://schemas.openxmlformats.org/drawingml/2006/main">
            <a:off x="6066000" y="3204000"/>
            <a:ext cx="21600" cy="1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20" name="bus"/>
          <p:cNvSpPr/>
          <p:nvPr/>
        </p:nvSpPr>
        <p:spPr>
          <a:xfrm xmlns:a="http://schemas.openxmlformats.org/drawingml/2006/main">
            <a:off x="720000" y="3384000"/>
            <a:ext cx="10728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21" name="c1"/>
          <p:cNvSpPr/>
          <p:nvPr/>
        </p:nvSpPr>
        <p:spPr>
          <a:xfrm xmlns:a="http://schemas.openxmlformats.org/drawingml/2006/main">
            <a:off x="720000" y="3564000"/>
            <a:ext cx="3312000" cy="86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700" b="1" i="0">
                <a:solidFill>
                  <a:srgbClr val="20252D"/>
                </a:solidFill>
                <a:latin typeface="Arial"/>
                <a:ea typeface="Arial"/>
              </a:rPr>
              <a:t>Which conditions?</a:t>
            </a:r>
          </a:p>
          <a:p xmlns:a="http://schemas.openxmlformats.org/drawingml/2006/main">
            <a:pPr algn="ctr"/>
            <a:r>
              <a:rPr lang="en-US" sz="1700" b="1" i="0">
                <a:solidFill>
                  <a:srgbClr val="20252D"/>
                </a:solidFill>
                <a:latin typeface="Arial"/>
                <a:ea typeface="Arial"/>
              </a:rPr>
              <a:t>not “which model wins”</a:t>
            </a:r>
          </a:p>
        </p:txBody>
      </p:sp>
      <p:sp>
        <p:nvSpPr>
          <p:cNvPr id="100022" name="c2"/>
          <p:cNvSpPr/>
          <p:nvPr/>
        </p:nvSpPr>
        <p:spPr>
          <a:xfrm xmlns:a="http://schemas.openxmlformats.org/drawingml/2006/main">
            <a:off x="4428000" y="3564000"/>
            <a:ext cx="3312000" cy="86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700" b="1" i="0">
                <a:solidFill>
                  <a:srgbClr val="20252D"/>
                </a:solidFill>
                <a:latin typeface="Arial"/>
                <a:ea typeface="Arial"/>
              </a:rPr>
              <a:t>Parity of tools,</a:t>
            </a:r>
          </a:p>
          <a:p xmlns:a="http://schemas.openxmlformats.org/drawingml/2006/main">
            <a:pPr algn="ctr"/>
            <a:r>
              <a:rPr lang="en-US" sz="1700" b="1" i="0">
                <a:solidFill>
                  <a:srgbClr val="20252D"/>
                </a:solidFill>
                <a:latin typeface="Arial"/>
                <a:ea typeface="Arial"/>
              </a:rPr>
              <a:t>inputs and budgets</a:t>
            </a:r>
          </a:p>
        </p:txBody>
      </p:sp>
      <p:sp>
        <p:nvSpPr>
          <p:cNvPr id="100023" name="c3"/>
          <p:cNvSpPr/>
          <p:nvPr/>
        </p:nvSpPr>
        <p:spPr>
          <a:xfrm xmlns:a="http://schemas.openxmlformats.org/drawingml/2006/main">
            <a:off x="8136000" y="3564000"/>
            <a:ext cx="3312000" cy="86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700" b="1" i="0">
                <a:solidFill>
                  <a:srgbClr val="20252D"/>
                </a:solidFill>
                <a:latin typeface="Arial"/>
                <a:ea typeface="Arial"/>
              </a:rPr>
              <a:t>Conclusions that are</a:t>
            </a:r>
          </a:p>
          <a:p xmlns:a="http://schemas.openxmlformats.org/drawingml/2006/main">
            <a:pPr algn="ctr"/>
            <a:r>
              <a:rPr lang="en-US" sz="1700" b="1" i="0">
                <a:solidFill>
                  <a:srgbClr val="20252D"/>
                </a:solidFill>
                <a:latin typeface="Arial"/>
                <a:ea typeface="Arial"/>
              </a:rPr>
              <a:t>verifiable, not plausible</a:t>
            </a:r>
          </a:p>
        </p:txBody>
      </p:sp>
      <p:sp>
        <p:nvSpPr>
          <p:cNvPr id="100024" name="Element-20"/>
          <p:cNvSpPr/>
          <p:nvPr/>
        </p:nvSpPr>
        <p:spPr>
          <a:xfrm xmlns:a="http://schemas.openxmlformats.org/drawingml/2006/main">
            <a:off x="2359800" y="3398400"/>
            <a:ext cx="32400" cy="18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25" name="Element-21"/>
          <p:cNvSpPr/>
          <p:nvPr/>
        </p:nvSpPr>
        <p:spPr>
          <a:xfrm xmlns:a="http://schemas.openxmlformats.org/drawingml/2006/main">
            <a:off x="6067800" y="3398400"/>
            <a:ext cx="32400" cy="18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26" name="Element-22"/>
          <p:cNvSpPr/>
          <p:nvPr/>
        </p:nvSpPr>
        <p:spPr>
          <a:xfrm xmlns:a="http://schemas.openxmlformats.org/drawingml/2006/main">
            <a:off x="9775800" y="3398400"/>
            <a:ext cx="32400" cy="18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27" name="Element-23"/>
          <p:cNvSpPr/>
          <p:nvPr/>
        </p:nvSpPr>
        <p:spPr>
          <a:xfrm xmlns:a="http://schemas.openxmlformats.org/drawingml/2006/main">
            <a:off x="720000" y="4896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50" b="1" i="0">
                <a:solidFill>
                  <a:srgbClr val="B60036"/>
                </a:solidFill>
                <a:latin typeface="Arial"/>
                <a:ea typeface="Arial"/>
              </a:rPr>
              <a:t>Current priorities</a:t>
            </a:r>
          </a:p>
        </p:txBody>
      </p:sp>
      <p:sp>
        <p:nvSpPr>
          <p:cNvPr id="100028" name="p1"/>
          <p:cNvSpPr/>
          <p:nvPr/>
        </p:nvSpPr>
        <p:spPr>
          <a:xfrm xmlns:a="http://schemas.openxmlformats.org/drawingml/2006/main">
            <a:off x="720000" y="5148000"/>
            <a:ext cx="5256000" cy="5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FF6FC"/>
          </a:solidFill>
          <a:ln xmlns:a="http://schemas.openxmlformats.org/drawingml/2006/main" w="12700">
            <a:solidFill>
              <a:srgbClr val="1D5C96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300" b="1" i="0">
                <a:solidFill>
                  <a:srgbClr val="1D5C96"/>
                </a:solidFill>
                <a:latin typeface="Arial"/>
                <a:ea typeface="Arial"/>
              </a:rPr>
              <a:t>1. Benchmark — the instrument that answers the question</a:t>
            </a:r>
          </a:p>
        </p:txBody>
      </p:sp>
      <p:sp>
        <p:nvSpPr>
          <p:cNvPr id="100029" name="p2"/>
          <p:cNvSpPr/>
          <p:nvPr/>
        </p:nvSpPr>
        <p:spPr>
          <a:xfrm xmlns:a="http://schemas.openxmlformats.org/drawingml/2006/main">
            <a:off x="6264000" y="5148000"/>
            <a:ext cx="5256000" cy="5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FF6FC"/>
          </a:solidFill>
          <a:ln xmlns:a="http://schemas.openxmlformats.org/drawingml/2006/main" w="12700">
            <a:solidFill>
              <a:srgbClr val="1D5C96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300" b="1" i="0">
                <a:solidFill>
                  <a:srgbClr val="1D5C96"/>
                </a:solidFill>
                <a:latin typeface="Arial"/>
                <a:ea typeface="Arial"/>
              </a:rPr>
              <a:t>2. Platform — deploy, launch, follow, retrieve, isolate, clean up</a:t>
            </a:r>
          </a:p>
        </p:txBody>
      </p:sp>
      <p:sp>
        <p:nvSpPr>
          <p:cNvPr id="100030" name="Element-26"/>
          <p:cNvSpPr/>
          <p:nvPr/>
        </p:nvSpPr>
        <p:spPr>
          <a:xfrm xmlns:a="http://schemas.openxmlformats.org/drawingml/2006/main">
            <a:off x="720000" y="5796000"/>
            <a:ext cx="1080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Out of priority: model training. The paper reports what the benchmark measures; it does not drive the order of work.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031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154404a781483b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92000" y="223200"/>
            <a:ext cx="1692000" cy="579864"/>
          </a:xfrm>
          <a:prstGeom xmlns:a="http://schemas.openxmlformats.org/drawingml/2006/main" prst="rect">
            <a:avLst/>
          </a:prstGeom>
        </p:spPr>
      </p:pic>
      <p:sp>
        <p:nvSpPr>
          <p:cNvPr id="100032" name="Title"/>
          <p:cNvSpPr/>
          <p:nvPr/>
        </p:nvSpPr>
        <p:spPr>
          <a:xfrm xmlns:a="http://schemas.openxmlformats.org/drawingml/2006/main">
            <a:off x="648000" y="630000"/>
            <a:ext cx="8928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850" b="1" i="0">
                <a:solidFill>
                  <a:srgbClr val="20252D"/>
                </a:solidFill>
                <a:latin typeface="Arial"/>
                <a:ea typeface="Arial"/>
              </a:rPr>
              <a:t>How we answer it: three pieces, three roles</a:t>
            </a:r>
          </a:p>
        </p:txBody>
      </p:sp>
      <p:sp>
        <p:nvSpPr>
          <p:cNvPr id="100033" name="Element-5"/>
          <p:cNvSpPr/>
          <p:nvPr/>
        </p:nvSpPr>
        <p:spPr>
          <a:xfrm xmlns:a="http://schemas.openxmlformats.org/drawingml/2006/main">
            <a:off x="648000" y="1422000"/>
            <a:ext cx="12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34" name="Element-6"/>
          <p:cNvSpPr/>
          <p:nvPr/>
        </p:nvSpPr>
        <p:spPr>
          <a:xfrm xmlns:a="http://schemas.openxmlformats.org/drawingml/2006/main">
            <a:off x="648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035" name="Element-7"/>
          <p:cNvSpPr/>
          <p:nvPr/>
        </p:nvSpPr>
        <p:spPr>
          <a:xfrm xmlns:a="http://schemas.openxmlformats.org/drawingml/2006/main">
            <a:off x="2664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B60036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036" name="Element-8"/>
          <p:cNvSpPr/>
          <p:nvPr/>
        </p:nvSpPr>
        <p:spPr>
          <a:xfrm xmlns:a="http://schemas.openxmlformats.org/drawingml/2006/main">
            <a:off x="2664000" y="540000"/>
            <a:ext cx="1800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37" name="Element-9"/>
          <p:cNvSpPr/>
          <p:nvPr/>
        </p:nvSpPr>
        <p:spPr>
          <a:xfrm xmlns:a="http://schemas.openxmlformats.org/drawingml/2006/main">
            <a:off x="4680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038" name="Element-10"/>
          <p:cNvSpPr/>
          <p:nvPr/>
        </p:nvSpPr>
        <p:spPr>
          <a:xfrm xmlns:a="http://schemas.openxmlformats.org/drawingml/2006/main">
            <a:off x="6696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039" name="Element-11"/>
          <p:cNvSpPr/>
          <p:nvPr/>
        </p:nvSpPr>
        <p:spPr>
          <a:xfrm xmlns:a="http://schemas.openxmlformats.org/drawingml/2006/main">
            <a:off x="648000" y="6300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040" name="Element-12"/>
          <p:cNvSpPr/>
          <p:nvPr/>
        </p:nvSpPr>
        <p:spPr>
          <a:xfrm xmlns:a="http://schemas.openxmlformats.org/drawingml/2006/main">
            <a:off x="11016000" y="6300000"/>
            <a:ext cx="504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00041" name="lab"/>
          <p:cNvSpPr/>
          <p:nvPr/>
        </p:nvSpPr>
        <p:spPr>
          <a:xfrm xmlns:a="http://schemas.openxmlformats.org/drawingml/2006/main">
            <a:off x="864000" y="2016000"/>
            <a:ext cx="3024000" cy="5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5C626C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2000" b="1" i="0">
                <a:solidFill>
                  <a:srgbClr val="20252D"/>
                </a:solidFill>
                <a:latin typeface="Arial"/>
                <a:ea typeface="Arial"/>
              </a:rPr>
              <a:t>Laboratory</a:t>
            </a:r>
          </a:p>
        </p:txBody>
      </p:sp>
      <p:sp>
        <p:nvSpPr>
          <p:cNvPr id="100042" name="Element-14"/>
          <p:cNvSpPr/>
          <p:nvPr/>
        </p:nvSpPr>
        <p:spPr>
          <a:xfrm xmlns:a="http://schemas.openxmlformats.org/drawingml/2006/main">
            <a:off x="864000" y="2574000"/>
            <a:ext cx="30240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networks we already know,</a:t>
            </a:r>
          </a:p>
          <a:p xmlns:a="http://schemas.openxmlformats.org/drawingml/2006/main">
            <a:pPr algn="ctr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with private ground truth</a:t>
            </a:r>
          </a:p>
        </p:txBody>
      </p:sp>
      <p:sp>
        <p:nvSpPr>
          <p:cNvPr id="100043" name="plat"/>
          <p:cNvSpPr/>
          <p:nvPr/>
        </p:nvSpPr>
        <p:spPr>
          <a:xfrm xmlns:a="http://schemas.openxmlformats.org/drawingml/2006/main">
            <a:off x="4572000" y="2016000"/>
            <a:ext cx="3024000" cy="5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FF6FC"/>
          </a:solidFill>
          <a:ln xmlns:a="http://schemas.openxmlformats.org/drawingml/2006/main" w="12700">
            <a:solidFill>
              <a:srgbClr val="1D5C96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2000" b="1" i="0">
                <a:solidFill>
                  <a:srgbClr val="1D5C96"/>
                </a:solidFill>
                <a:latin typeface="Arial"/>
                <a:ea typeface="Arial"/>
              </a:rPr>
              <a:t>Platform</a:t>
            </a:r>
          </a:p>
        </p:txBody>
      </p:sp>
      <p:sp>
        <p:nvSpPr>
          <p:cNvPr id="100044" name="Element-16"/>
          <p:cNvSpPr/>
          <p:nvPr/>
        </p:nvSpPr>
        <p:spPr>
          <a:xfrm xmlns:a="http://schemas.openxmlformats.org/drawingml/2006/main">
            <a:off x="4572000" y="2574000"/>
            <a:ext cx="30240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runs the audit,</a:t>
            </a:r>
          </a:p>
          <a:p xmlns:a="http://schemas.openxmlformats.org/drawingml/2006/main">
            <a:pPr algn="ctr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returns the result</a:t>
            </a:r>
          </a:p>
        </p:txBody>
      </p:sp>
      <p:sp>
        <p:nvSpPr>
          <p:cNvPr id="100045" name="bench"/>
          <p:cNvSpPr/>
          <p:nvPr/>
        </p:nvSpPr>
        <p:spPr>
          <a:xfrm xmlns:a="http://schemas.openxmlformats.org/drawingml/2006/main">
            <a:off x="8280000" y="2016000"/>
            <a:ext cx="3024000" cy="5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B60036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2000" b="1" i="0">
                <a:solidFill>
                  <a:srgbClr val="B60036"/>
                </a:solidFill>
                <a:latin typeface="Arial"/>
                <a:ea typeface="Arial"/>
              </a:rPr>
              <a:t>Benchmark</a:t>
            </a:r>
          </a:p>
        </p:txBody>
      </p:sp>
      <p:sp>
        <p:nvSpPr>
          <p:cNvPr id="100046" name="Element-18"/>
          <p:cNvSpPr/>
          <p:nvPr/>
        </p:nvSpPr>
        <p:spPr>
          <a:xfrm xmlns:a="http://schemas.openxmlformats.org/drawingml/2006/main">
            <a:off x="8280000" y="2574000"/>
            <a:ext cx="30240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confronts the result</a:t>
            </a:r>
          </a:p>
          <a:p xmlns:a="http://schemas.openxmlformats.org/drawingml/2006/main">
            <a:pPr algn="ctr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to the ground truth</a:t>
            </a:r>
          </a:p>
        </p:txBody>
      </p:sp>
      <p:cxnSp>
        <p:nvCxnSpPr>
          <p:cNvPr id="100047" name="Connector 1"/>
          <p:cNvCxnSpPr>
            <a:stCxn xmlns:a="http://schemas.openxmlformats.org/drawingml/2006/main" id="100041" idx="0"/>
            <a:endCxn xmlns:a="http://schemas.openxmlformats.org/drawingml/2006/main" id="100043" idx="0"/>
          </p:cNvCxnSpPr>
          <p:nvPr/>
        </p:nvCxnSpPr>
        <p:spPr>
          <a:xfrm xmlns:a="http://schemas.openxmlformats.org/drawingml/2006/main">
            <a:off x="3888000" y="2286000"/>
            <a:ext cx="684000" cy="0"/>
          </a:xfrm>
          <a:prstGeom xmlns:a="http://schemas.openxmlformats.org/drawingml/2006/main" prst="straightConnector1">
            <a:avLst/>
          </a:prstGeom>
          <a:ln xmlns:a="http://schemas.openxmlformats.org/drawingml/2006/main" w="27940">
            <a:solidFill>
              <a:srgbClr val="5C626C"/>
            </a:solidFill>
            <a:tailEnd type="triangle"/>
          </a:ln>
        </p:spPr>
      </p:cxnSp>
      <p:cxnSp>
        <p:nvCxnSpPr>
          <p:cNvPr id="100048" name="Connector 2"/>
          <p:cNvCxnSpPr>
            <a:stCxn xmlns:a="http://schemas.openxmlformats.org/drawingml/2006/main" id="100043" idx="0"/>
            <a:endCxn xmlns:a="http://schemas.openxmlformats.org/drawingml/2006/main" id="100045" idx="0"/>
          </p:cNvCxnSpPr>
          <p:nvPr/>
        </p:nvCxnSpPr>
        <p:spPr>
          <a:xfrm xmlns:a="http://schemas.openxmlformats.org/drawingml/2006/main">
            <a:off x="7596000" y="2286000"/>
            <a:ext cx="684000" cy="0"/>
          </a:xfrm>
          <a:prstGeom xmlns:a="http://schemas.openxmlformats.org/drawingml/2006/main" prst="straightConnector1">
            <a:avLst/>
          </a:prstGeom>
          <a:ln xmlns:a="http://schemas.openxmlformats.org/drawingml/2006/main" w="27940">
            <a:solidFill>
              <a:srgbClr val="5C626C"/>
            </a:solidFill>
            <a:tailEnd type="triangle"/>
          </a:ln>
        </p:spPr>
      </p:cxnSp>
      <p:sp>
        <p:nvSpPr>
          <p:cNvPr id="100049" name="Element-21"/>
          <p:cNvSpPr/>
          <p:nvPr/>
        </p:nvSpPr>
        <p:spPr>
          <a:xfrm xmlns:a="http://schemas.openxmlformats.org/drawingml/2006/main">
            <a:off x="864000" y="345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50" b="1" i="0">
                <a:solidFill>
                  <a:srgbClr val="B60036"/>
                </a:solidFill>
                <a:latin typeface="Arial"/>
                <a:ea typeface="Arial"/>
              </a:rPr>
              <a:t>Inside the platform: six phases, one shared record</a:t>
            </a:r>
          </a:p>
        </p:txBody>
      </p:sp>
      <p:sp>
        <p:nvSpPr>
          <p:cNvPr id="100050" name="ph0"/>
          <p:cNvSpPr/>
          <p:nvPr/>
        </p:nvSpPr>
        <p:spPr>
          <a:xfrm xmlns:a="http://schemas.openxmlformats.org/drawingml/2006/main">
            <a:off x="864000" y="3744000"/>
            <a:ext cx="1764000" cy="43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1. Map</a:t>
            </a:r>
          </a:p>
        </p:txBody>
      </p:sp>
      <p:sp>
        <p:nvSpPr>
          <p:cNvPr id="100051" name="Element-23"/>
          <p:cNvSpPr/>
          <p:nvPr/>
        </p:nvSpPr>
        <p:spPr>
          <a:xfrm xmlns:a="http://schemas.openxmlformats.org/drawingml/2006/main">
            <a:off x="864000" y="4194000"/>
            <a:ext cx="1764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100" b="0" i="0">
                <a:solidFill>
                  <a:srgbClr val="5C626C"/>
                </a:solidFill>
                <a:latin typeface="Arial"/>
                <a:ea typeface="Arial"/>
              </a:rPr>
              <a:t>what is there</a:t>
            </a:r>
          </a:p>
        </p:txBody>
      </p:sp>
      <p:sp>
        <p:nvSpPr>
          <p:cNvPr id="100052" name="Element-24"/>
          <p:cNvSpPr/>
          <p:nvPr/>
        </p:nvSpPr>
        <p:spPr>
          <a:xfrm xmlns:a="http://schemas.openxmlformats.org/drawingml/2006/main">
            <a:off x="2664000" y="3924000"/>
            <a:ext cx="180000" cy="2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950" b="1" i="0">
                <a:solidFill>
                  <a:srgbClr val="5C626C"/>
                </a:solidFill>
                <a:latin typeface="Arial"/>
                <a:ea typeface="Arial"/>
              </a:rPr>
              <a:t>›</a:t>
            </a:r>
          </a:p>
        </p:txBody>
      </p:sp>
      <p:sp>
        <p:nvSpPr>
          <p:cNvPr id="100053" name="ph1"/>
          <p:cNvSpPr/>
          <p:nvPr/>
        </p:nvSpPr>
        <p:spPr>
          <a:xfrm xmlns:a="http://schemas.openxmlformats.org/drawingml/2006/main">
            <a:off x="2887200" y="3744000"/>
            <a:ext cx="1764000" cy="43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2. Triage</a:t>
            </a:r>
          </a:p>
        </p:txBody>
      </p:sp>
      <p:sp>
        <p:nvSpPr>
          <p:cNvPr id="100054" name="Element-26"/>
          <p:cNvSpPr/>
          <p:nvPr/>
        </p:nvSpPr>
        <p:spPr>
          <a:xfrm xmlns:a="http://schemas.openxmlformats.org/drawingml/2006/main">
            <a:off x="2887200" y="4194000"/>
            <a:ext cx="1764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100" b="0" i="0">
                <a:solidFill>
                  <a:srgbClr val="5C626C"/>
                </a:solidFill>
                <a:latin typeface="Arial"/>
                <a:ea typeface="Arial"/>
              </a:rPr>
              <a:t>what looks wrong</a:t>
            </a:r>
          </a:p>
        </p:txBody>
      </p:sp>
      <p:sp>
        <p:nvSpPr>
          <p:cNvPr id="100055" name="Element-27"/>
          <p:cNvSpPr/>
          <p:nvPr/>
        </p:nvSpPr>
        <p:spPr>
          <a:xfrm xmlns:a="http://schemas.openxmlformats.org/drawingml/2006/main">
            <a:off x="4687200" y="3924000"/>
            <a:ext cx="180000" cy="2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950" b="1" i="0">
                <a:solidFill>
                  <a:srgbClr val="5C626C"/>
                </a:solidFill>
                <a:latin typeface="Arial"/>
                <a:ea typeface="Arial"/>
              </a:rPr>
              <a:t>›</a:t>
            </a:r>
          </a:p>
        </p:txBody>
      </p:sp>
      <p:sp>
        <p:nvSpPr>
          <p:cNvPr id="100056" name="ph2"/>
          <p:cNvSpPr/>
          <p:nvPr/>
        </p:nvSpPr>
        <p:spPr>
          <a:xfrm xmlns:a="http://schemas.openxmlformats.org/drawingml/2006/main">
            <a:off x="4910400" y="3744000"/>
            <a:ext cx="1764000" cy="43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3. Verify</a:t>
            </a:r>
          </a:p>
        </p:txBody>
      </p:sp>
      <p:sp>
        <p:nvSpPr>
          <p:cNvPr id="100057" name="Element-29"/>
          <p:cNvSpPr/>
          <p:nvPr/>
        </p:nvSpPr>
        <p:spPr>
          <a:xfrm xmlns:a="http://schemas.openxmlformats.org/drawingml/2006/main">
            <a:off x="4910400" y="4194000"/>
            <a:ext cx="1764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100" b="0" i="0">
                <a:solidFill>
                  <a:srgbClr val="5C626C"/>
                </a:solidFill>
                <a:latin typeface="Arial"/>
                <a:ea typeface="Arial"/>
              </a:rPr>
              <a:t>what is proven</a:t>
            </a:r>
          </a:p>
        </p:txBody>
      </p:sp>
      <p:sp>
        <p:nvSpPr>
          <p:cNvPr id="100058" name="Element-30"/>
          <p:cNvSpPr/>
          <p:nvPr/>
        </p:nvSpPr>
        <p:spPr>
          <a:xfrm xmlns:a="http://schemas.openxmlformats.org/drawingml/2006/main">
            <a:off x="6710400" y="3924000"/>
            <a:ext cx="180000" cy="2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950" b="1" i="0">
                <a:solidFill>
                  <a:srgbClr val="5C626C"/>
                </a:solidFill>
                <a:latin typeface="Arial"/>
                <a:ea typeface="Arial"/>
              </a:rPr>
              <a:t>›</a:t>
            </a:r>
          </a:p>
        </p:txBody>
      </p:sp>
      <p:sp>
        <p:nvSpPr>
          <p:cNvPr id="100059" name="ph3"/>
          <p:cNvSpPr/>
          <p:nvPr/>
        </p:nvSpPr>
        <p:spPr>
          <a:xfrm xmlns:a="http://schemas.openxmlformats.org/drawingml/2006/main">
            <a:off x="6933600" y="3744000"/>
            <a:ext cx="1764000" cy="43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4. Intrude</a:t>
            </a:r>
          </a:p>
        </p:txBody>
      </p:sp>
      <p:sp>
        <p:nvSpPr>
          <p:cNvPr id="100060" name="Element-32"/>
          <p:cNvSpPr/>
          <p:nvPr/>
        </p:nvSpPr>
        <p:spPr>
          <a:xfrm xmlns:a="http://schemas.openxmlformats.org/drawingml/2006/main">
            <a:off x="6933600" y="4194000"/>
            <a:ext cx="1764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100" b="0" i="0">
                <a:solidFill>
                  <a:srgbClr val="5C626C"/>
                </a:solidFill>
                <a:latin typeface="Arial"/>
                <a:ea typeface="Arial"/>
              </a:rPr>
              <a:t>what is reachable</a:t>
            </a:r>
          </a:p>
        </p:txBody>
      </p:sp>
      <p:sp>
        <p:nvSpPr>
          <p:cNvPr id="100061" name="Element-33"/>
          <p:cNvSpPr/>
          <p:nvPr/>
        </p:nvSpPr>
        <p:spPr>
          <a:xfrm xmlns:a="http://schemas.openxmlformats.org/drawingml/2006/main">
            <a:off x="8733600" y="3924000"/>
            <a:ext cx="180000" cy="2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950" b="1" i="0">
                <a:solidFill>
                  <a:srgbClr val="5C626C"/>
                </a:solidFill>
                <a:latin typeface="Arial"/>
                <a:ea typeface="Arial"/>
              </a:rPr>
              <a:t>›</a:t>
            </a:r>
          </a:p>
        </p:txBody>
      </p:sp>
      <p:sp>
        <p:nvSpPr>
          <p:cNvPr id="100062" name="ph4"/>
          <p:cNvSpPr/>
          <p:nvPr/>
        </p:nvSpPr>
        <p:spPr>
          <a:xfrm xmlns:a="http://schemas.openxmlformats.org/drawingml/2006/main">
            <a:off x="8956800" y="3744000"/>
            <a:ext cx="1764000" cy="43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5. Report</a:t>
            </a:r>
          </a:p>
        </p:txBody>
      </p:sp>
      <p:sp>
        <p:nvSpPr>
          <p:cNvPr id="100063" name="Element-35"/>
          <p:cNvSpPr/>
          <p:nvPr/>
        </p:nvSpPr>
        <p:spPr>
          <a:xfrm xmlns:a="http://schemas.openxmlformats.org/drawingml/2006/main">
            <a:off x="8956800" y="4194000"/>
            <a:ext cx="1764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100" b="0" i="0">
                <a:solidFill>
                  <a:srgbClr val="5C626C"/>
                </a:solidFill>
                <a:latin typeface="Arial"/>
                <a:ea typeface="Arial"/>
              </a:rPr>
              <a:t>what is said</a:t>
            </a:r>
          </a:p>
        </p:txBody>
      </p:sp>
      <p:sp>
        <p:nvSpPr>
          <p:cNvPr id="100064" name="eq"/>
          <p:cNvSpPr/>
          <p:nvPr/>
        </p:nvSpPr>
        <p:spPr>
          <a:xfrm xmlns:a="http://schemas.openxmlformats.org/drawingml/2006/main">
            <a:off x="864000" y="4644000"/>
            <a:ext cx="4536000" cy="45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B60036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200" b="1" i="0">
                <a:solidFill>
                  <a:srgbClr val="B60036"/>
                </a:solidFill>
                <a:latin typeface="Arial"/>
                <a:ea typeface="Arial"/>
              </a:rPr>
              <a:t>A shared record every phase reads and enriches</a:t>
            </a:r>
          </a:p>
        </p:txBody>
      </p:sp>
      <p:sp>
        <p:nvSpPr>
          <p:cNvPr id="100065" name="mdl"/>
          <p:cNvSpPr/>
          <p:nvPr/>
        </p:nvSpPr>
        <p:spPr>
          <a:xfrm xmlns:a="http://schemas.openxmlformats.org/drawingml/2006/main">
            <a:off x="5688000" y="4644000"/>
            <a:ext cx="5688000" cy="45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B60036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200" b="1" i="0">
                <a:solidFill>
                  <a:srgbClr val="B60036"/>
                </a:solidFill>
                <a:latin typeface="Arial"/>
                <a:ea typeface="Arial"/>
              </a:rPr>
              <a:t>The model proposes; it never records or verifies</a:t>
            </a:r>
          </a:p>
        </p:txBody>
      </p:sp>
      <p:sp>
        <p:nvSpPr>
          <p:cNvPr id="100066" name="Element-38"/>
          <p:cNvSpPr/>
          <p:nvPr/>
        </p:nvSpPr>
        <p:spPr>
          <a:xfrm xmlns:a="http://schemas.openxmlformats.org/drawingml/2006/main">
            <a:off x="864000" y="5292000"/>
            <a:ext cx="10512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400" b="1" i="0">
                <a:solidFill>
                  <a:srgbClr val="B60036"/>
                </a:solidFill>
                <a:latin typeface="Arial"/>
                <a:ea typeface="Arial"/>
              </a:rPr>
              <a:t>No phase substitutes for another; the model is one contributor among them.</a:t>
            </a:r>
          </a:p>
        </p:txBody>
      </p:sp>
      <p:sp>
        <p:nvSpPr>
          <p:cNvPr id="100067" name="Element-39"/>
          <p:cNvSpPr/>
          <p:nvPr/>
        </p:nvSpPr>
        <p:spPr>
          <a:xfrm xmlns:a="http://schemas.openxmlformats.org/drawingml/2006/main">
            <a:off x="864000" y="5652000"/>
            <a:ext cx="10512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250" b="0" i="0">
                <a:solidFill>
                  <a:srgbClr val="5C626C"/>
                </a:solidFill>
                <a:latin typeface="Arial"/>
                <a:ea typeface="Arial"/>
              </a:rPr>
              <a:t>A run is not a measurement until the benchmark confronts it to a known ground truth.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068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bc1ab7d4d243c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92000" y="223200"/>
            <a:ext cx="1692000" cy="579864"/>
          </a:xfrm>
          <a:prstGeom xmlns:a="http://schemas.openxmlformats.org/drawingml/2006/main" prst="rect">
            <a:avLst/>
          </a:prstGeom>
        </p:spPr>
      </p:pic>
      <p:sp>
        <p:nvSpPr>
          <p:cNvPr id="100069" name="Title"/>
          <p:cNvSpPr/>
          <p:nvPr/>
        </p:nvSpPr>
        <p:spPr>
          <a:xfrm xmlns:a="http://schemas.openxmlformats.org/drawingml/2006/main">
            <a:off x="648000" y="630000"/>
            <a:ext cx="8928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What counts as “found”</a:t>
            </a:r>
          </a:p>
        </p:txBody>
      </p:sp>
      <p:sp>
        <p:nvSpPr>
          <p:cNvPr id="100070" name="Element-5"/>
          <p:cNvSpPr/>
          <p:nvPr/>
        </p:nvSpPr>
        <p:spPr>
          <a:xfrm xmlns:a="http://schemas.openxmlformats.org/drawingml/2006/main">
            <a:off x="648000" y="1422000"/>
            <a:ext cx="12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71" name="Element-6"/>
          <p:cNvSpPr/>
          <p:nvPr/>
        </p:nvSpPr>
        <p:spPr>
          <a:xfrm xmlns:a="http://schemas.openxmlformats.org/drawingml/2006/main">
            <a:off x="648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072" name="Element-7"/>
          <p:cNvSpPr/>
          <p:nvPr/>
        </p:nvSpPr>
        <p:spPr>
          <a:xfrm xmlns:a="http://schemas.openxmlformats.org/drawingml/2006/main">
            <a:off x="2664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B60036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073" name="Element-8"/>
          <p:cNvSpPr/>
          <p:nvPr/>
        </p:nvSpPr>
        <p:spPr>
          <a:xfrm xmlns:a="http://schemas.openxmlformats.org/drawingml/2006/main">
            <a:off x="2664000" y="540000"/>
            <a:ext cx="1800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74" name="Element-9"/>
          <p:cNvSpPr/>
          <p:nvPr/>
        </p:nvSpPr>
        <p:spPr>
          <a:xfrm xmlns:a="http://schemas.openxmlformats.org/drawingml/2006/main">
            <a:off x="4680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075" name="Element-10"/>
          <p:cNvSpPr/>
          <p:nvPr/>
        </p:nvSpPr>
        <p:spPr>
          <a:xfrm xmlns:a="http://schemas.openxmlformats.org/drawingml/2006/main">
            <a:off x="6696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076" name="Element-11"/>
          <p:cNvSpPr/>
          <p:nvPr/>
        </p:nvSpPr>
        <p:spPr>
          <a:xfrm xmlns:a="http://schemas.openxmlformats.org/drawingml/2006/main">
            <a:off x="648000" y="6300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077" name="Element-12"/>
          <p:cNvSpPr/>
          <p:nvPr/>
        </p:nvSpPr>
        <p:spPr>
          <a:xfrm xmlns:a="http://schemas.openxmlformats.org/drawingml/2006/main">
            <a:off x="11016000" y="6300000"/>
            <a:ext cx="504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100078" name="claim"/>
          <p:cNvSpPr/>
          <p:nvPr/>
        </p:nvSpPr>
        <p:spPr>
          <a:xfrm xmlns:a="http://schemas.openxmlformats.org/drawingml/2006/main">
            <a:off x="792000" y="1764000"/>
            <a:ext cx="5112000" cy="5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400" b="1" i="0">
                <a:solidFill>
                  <a:srgbClr val="5C626C"/>
                </a:solidFill>
                <a:latin typeface="Arial"/>
                <a:ea typeface="Arial"/>
              </a:rPr>
              <a:t>“I read the data of another organisation.”</a:t>
            </a:r>
          </a:p>
        </p:txBody>
      </p:sp>
      <p:sp>
        <p:nvSpPr>
          <p:cNvPr id="100079" name="Element-14"/>
          <p:cNvSpPr/>
          <p:nvPr/>
        </p:nvSpPr>
        <p:spPr>
          <a:xfrm xmlns:a="http://schemas.openxmlformats.org/drawingml/2006/main">
            <a:off x="1044000" y="2376000"/>
            <a:ext cx="432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50" b="1" i="0">
                <a:solidFill>
                  <a:srgbClr val="B60036"/>
                </a:solidFill>
                <a:latin typeface="Arial"/>
                <a:ea typeface="Arial"/>
              </a:rPr>
              <a:t>✕</a:t>
            </a:r>
          </a:p>
        </p:txBody>
      </p:sp>
      <p:sp>
        <p:nvSpPr>
          <p:cNvPr id="100080" name="Element-15"/>
          <p:cNvSpPr/>
          <p:nvPr/>
        </p:nvSpPr>
        <p:spPr>
          <a:xfrm xmlns:a="http://schemas.openxmlformats.org/drawingml/2006/main">
            <a:off x="1584000" y="2376000"/>
            <a:ext cx="396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5C626C"/>
                </a:solidFill>
                <a:latin typeface="Arial"/>
                <a:ea typeface="Arial"/>
              </a:rPr>
              <a:t>Claimed only — not counted</a:t>
            </a:r>
          </a:p>
        </p:txBody>
      </p:sp>
      <p:sp>
        <p:nvSpPr>
          <p:cNvPr id="100081" name="evid"/>
          <p:cNvSpPr/>
          <p:nvPr/>
        </p:nvSpPr>
        <p:spPr>
          <a:xfrm xmlns:a="http://schemas.openxmlformats.org/drawingml/2006/main">
            <a:off x="792000" y="3024000"/>
            <a:ext cx="5112000" cy="61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The logged request and</a:t>
            </a:r>
          </a:p>
          <a:p xmlns:a="http://schemas.openxmlformats.org/drawingml/2006/main">
            <a:pPr algn="ctr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its response contain the data.</a:t>
            </a:r>
          </a:p>
        </p:txBody>
      </p:sp>
      <p:sp>
        <p:nvSpPr>
          <p:cNvPr id="100082" name="Element-17"/>
          <p:cNvSpPr/>
          <p:nvPr/>
        </p:nvSpPr>
        <p:spPr>
          <a:xfrm xmlns:a="http://schemas.openxmlformats.org/drawingml/2006/main">
            <a:off x="1044000" y="3708000"/>
            <a:ext cx="432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50" b="1" i="0">
                <a:solidFill>
                  <a:srgbClr val="2E7D5B"/>
                </a:solidFill>
                <a:latin typeface="Arial"/>
                <a:ea typeface="Arial"/>
              </a:rPr>
              <a:t>✓</a:t>
            </a:r>
          </a:p>
        </p:txBody>
      </p:sp>
      <p:sp>
        <p:nvSpPr>
          <p:cNvPr id="100083" name="Element-18"/>
          <p:cNvSpPr/>
          <p:nvPr/>
        </p:nvSpPr>
        <p:spPr>
          <a:xfrm xmlns:a="http://schemas.openxmlformats.org/drawingml/2006/main">
            <a:off x="1584000" y="3708000"/>
            <a:ext cx="396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0">
                <a:solidFill>
                  <a:srgbClr val="20252D"/>
                </a:solidFill>
                <a:latin typeface="Arial"/>
                <a:ea typeface="Arial"/>
              </a:rPr>
              <a:t>Recomputed from the tool log — counted</a:t>
            </a:r>
          </a:p>
        </p:txBody>
      </p:sp>
      <p:sp>
        <p:nvSpPr>
          <p:cNvPr id="100084" name="Element-19"/>
          <p:cNvSpPr/>
          <p:nvPr/>
        </p:nvSpPr>
        <p:spPr>
          <a:xfrm xmlns:a="http://schemas.openxmlformats.org/drawingml/2006/main">
            <a:off x="792000" y="4428000"/>
            <a:ext cx="5112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50" b="1" i="0">
                <a:solidFill>
                  <a:srgbClr val="B60036"/>
                </a:solidFill>
                <a:latin typeface="Arial"/>
                <a:ea typeface="Arial"/>
              </a:rPr>
              <a:t>We recompute the finding from the tool log.</a:t>
            </a:r>
          </a:p>
          <a:p xmlns:a="http://schemas.openxmlformats.org/drawingml/2006/main">
            <a:pPr algn="l"/>
            <a:r>
              <a:rPr lang="en-US" sz="1050" b="1" i="0">
                <a:solidFill>
                  <a:srgbClr val="B60036"/>
                </a:solidFill>
                <a:latin typeface="Arial"/>
                <a:ea typeface="Arial"/>
              </a:rPr>
              <a:t>We do not re-run the requests, and we never trust the conclusion.</a:t>
            </a:r>
          </a:p>
        </p:txBody>
      </p:sp>
      <p:sp>
        <p:nvSpPr>
          <p:cNvPr id="100085" name="Element-20"/>
          <p:cNvSpPr/>
          <p:nvPr/>
        </p:nvSpPr>
        <p:spPr>
          <a:xfrm xmlns:a="http://schemas.openxmlformats.org/drawingml/2006/main">
            <a:off x="6480000" y="1764000"/>
            <a:ext cx="5184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50" b="1" i="0">
                <a:solidFill>
                  <a:srgbClr val="B60036"/>
                </a:solidFill>
                <a:latin typeface="Arial"/>
                <a:ea typeface="Arial"/>
              </a:rPr>
              <a:t>The trap: two configurations of the same network</a:t>
            </a:r>
          </a:p>
        </p:txBody>
      </p:sp>
      <p:sp>
        <p:nvSpPr>
          <p:cNvPr id="100086" name="cfg0"/>
          <p:cNvSpPr/>
          <p:nvPr/>
        </p:nvSpPr>
        <p:spPr>
          <a:xfrm xmlns:a="http://schemas.openxmlformats.org/drawingml/2006/main">
            <a:off x="6480000" y="2124000"/>
            <a:ext cx="2484000" cy="79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FF6FC"/>
          </a:solidFill>
          <a:ln xmlns:a="http://schemas.openxmlformats.org/drawingml/2006/main" w="12700">
            <a:solidFill>
              <a:srgbClr val="1D5C96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300" b="1" i="0">
                <a:solidFill>
                  <a:srgbClr val="1D5C96"/>
                </a:solidFill>
                <a:latin typeface="Arial"/>
                <a:ea typeface="Arial"/>
              </a:rPr>
              <a:t>Configuration A</a:t>
            </a:r>
          </a:p>
          <a:p xmlns:a="http://schemas.openxmlformats.org/drawingml/2006/main">
            <a:pPr algn="ctr"/>
            <a:r>
              <a:rPr lang="en-US" sz="1300" b="1" i="0">
                <a:solidFill>
                  <a:srgbClr val="1D5C96"/>
                </a:solidFill>
                <a:latin typeface="Arial"/>
                <a:ea typeface="Arial"/>
              </a:rPr>
              <a:t>the tested weakness is absent</a:t>
            </a:r>
          </a:p>
        </p:txBody>
      </p:sp>
      <p:sp>
        <p:nvSpPr>
          <p:cNvPr id="100087" name="cfg1"/>
          <p:cNvSpPr/>
          <p:nvPr/>
        </p:nvSpPr>
        <p:spPr>
          <a:xfrm xmlns:a="http://schemas.openxmlformats.org/drawingml/2006/main">
            <a:off x="9180000" y="2124000"/>
            <a:ext cx="2484000" cy="79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B60036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300" b="1" i="0">
                <a:solidFill>
                  <a:srgbClr val="B60036"/>
                </a:solidFill>
                <a:latin typeface="Arial"/>
                <a:ea typeface="Arial"/>
              </a:rPr>
              <a:t>Configuration B</a:t>
            </a:r>
          </a:p>
          <a:p xmlns:a="http://schemas.openxmlformats.org/drawingml/2006/main">
            <a:pPr algn="ctr"/>
            <a:r>
              <a:rPr lang="en-US" sz="1300" b="1" i="0">
                <a:solidFill>
                  <a:srgbClr val="B60036"/>
                </a:solidFill>
                <a:latin typeface="Arial"/>
                <a:ea typeface="Arial"/>
              </a:rPr>
              <a:t>the tested weakness is present</a:t>
            </a:r>
          </a:p>
        </p:txBody>
      </p:sp>
      <p:sp>
        <p:nvSpPr>
          <p:cNvPr id="100088" name="Element-23"/>
          <p:cNvSpPr/>
          <p:nvPr/>
        </p:nvSpPr>
        <p:spPr>
          <a:xfrm xmlns:a="http://schemas.openxmlformats.org/drawingml/2006/main">
            <a:off x="6480000" y="2988000"/>
            <a:ext cx="2484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100" b="0" i="0">
                <a:solidFill>
                  <a:srgbClr val="5C626C"/>
                </a:solidFill>
                <a:latin typeface="Arial"/>
                <a:ea typeface="Arial"/>
              </a:rPr>
              <a:t>Correct answer:</a:t>
            </a:r>
          </a:p>
          <a:p xmlns:a="http://schemas.openxmlformats.org/drawingml/2006/main">
            <a:pPr algn="ctr"/>
            <a:r>
              <a:rPr lang="en-US" sz="1100" b="0" i="0">
                <a:solidFill>
                  <a:srgbClr val="5C626C"/>
                </a:solidFill>
                <a:latin typeface="Arial"/>
                <a:ea typeface="Arial"/>
              </a:rPr>
              <a:t>“nothing to report”</a:t>
            </a:r>
          </a:p>
        </p:txBody>
      </p:sp>
      <p:sp>
        <p:nvSpPr>
          <p:cNvPr id="100089" name="Element-24"/>
          <p:cNvSpPr/>
          <p:nvPr/>
        </p:nvSpPr>
        <p:spPr>
          <a:xfrm xmlns:a="http://schemas.openxmlformats.org/drawingml/2006/main">
            <a:off x="9180000" y="2988000"/>
            <a:ext cx="2484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100" b="0" i="0">
                <a:solidFill>
                  <a:srgbClr val="5C626C"/>
                </a:solidFill>
                <a:latin typeface="Arial"/>
                <a:ea typeface="Arial"/>
              </a:rPr>
              <a:t>Correct answer:</a:t>
            </a:r>
          </a:p>
          <a:p xmlns:a="http://schemas.openxmlformats.org/drawingml/2006/main">
            <a:pPr algn="ctr"/>
            <a:r>
              <a:rPr lang="en-US" sz="1100" b="0" i="0">
                <a:solidFill>
                  <a:srgbClr val="5C626C"/>
                </a:solidFill>
                <a:latin typeface="Arial"/>
                <a:ea typeface="Arial"/>
              </a:rPr>
              <a:t>“found, with proof”</a:t>
            </a:r>
          </a:p>
        </p:txBody>
      </p:sp>
      <p:sp>
        <p:nvSpPr>
          <p:cNvPr id="100090" name="Element-25"/>
          <p:cNvSpPr/>
          <p:nvPr/>
        </p:nvSpPr>
        <p:spPr>
          <a:xfrm xmlns:a="http://schemas.openxmlformats.org/drawingml/2006/main">
            <a:off x="6480000" y="3636000"/>
            <a:ext cx="5184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100" b="1" i="0">
                <a:solidFill>
                  <a:srgbClr val="B60036"/>
                </a:solidFill>
                <a:latin typeface="Arial"/>
                <a:ea typeface="Arial"/>
              </a:rPr>
              <a:t>Finding something in A is a false positive — counted as an error.</a:t>
            </a:r>
          </a:p>
        </p:txBody>
      </p:sp>
      <p:sp>
        <p:nvSpPr>
          <p:cNvPr id="100091" name="both"/>
          <p:cNvSpPr/>
          <p:nvPr/>
        </p:nvSpPr>
        <p:spPr>
          <a:xfrm xmlns:a="http://schemas.openxmlformats.org/drawingml/2006/main">
            <a:off x="6480000" y="4176000"/>
            <a:ext cx="5184000" cy="57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B60036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800" b="1" i="0">
                <a:solidFill>
                  <a:srgbClr val="B60036"/>
                </a:solidFill>
                <a:latin typeface="Arial"/>
                <a:ea typeface="Arial"/>
              </a:rPr>
              <a:t>A good auditor succeeds on both</a:t>
            </a:r>
          </a:p>
        </p:txBody>
      </p:sp>
      <p:sp>
        <p:nvSpPr>
          <p:cNvPr id="100092" name="Element-27"/>
          <p:cNvSpPr/>
          <p:nvPr/>
        </p:nvSpPr>
        <p:spPr>
          <a:xfrm xmlns:a="http://schemas.openxmlformats.org/drawingml/2006/main">
            <a:off x="6480000" y="4860000"/>
            <a:ext cx="5184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That single rule is what makes an audit measurable instead of believable.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093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8a9d4097f43cf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92000" y="223200"/>
            <a:ext cx="1692000" cy="579864"/>
          </a:xfrm>
          <a:prstGeom xmlns:a="http://schemas.openxmlformats.org/drawingml/2006/main" prst="rect">
            <a:avLst/>
          </a:prstGeom>
        </p:spPr>
      </p:pic>
      <p:sp>
        <p:nvSpPr>
          <p:cNvPr id="100094" name="Title"/>
          <p:cNvSpPr/>
          <p:nvPr/>
        </p:nvSpPr>
        <p:spPr>
          <a:xfrm xmlns:a="http://schemas.openxmlformats.org/drawingml/2006/main">
            <a:off x="648000" y="630000"/>
            <a:ext cx="8928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What the first campaign showed</a:t>
            </a:r>
          </a:p>
        </p:txBody>
      </p:sp>
      <p:sp>
        <p:nvSpPr>
          <p:cNvPr id="100095" name="Element-5"/>
          <p:cNvSpPr/>
          <p:nvPr/>
        </p:nvSpPr>
        <p:spPr>
          <a:xfrm xmlns:a="http://schemas.openxmlformats.org/drawingml/2006/main">
            <a:off x="648000" y="1422000"/>
            <a:ext cx="12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96" name="Element-6"/>
          <p:cNvSpPr/>
          <p:nvPr/>
        </p:nvSpPr>
        <p:spPr>
          <a:xfrm xmlns:a="http://schemas.openxmlformats.org/drawingml/2006/main">
            <a:off x="648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097" name="Element-7"/>
          <p:cNvSpPr/>
          <p:nvPr/>
        </p:nvSpPr>
        <p:spPr>
          <a:xfrm xmlns:a="http://schemas.openxmlformats.org/drawingml/2006/main">
            <a:off x="2664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098" name="Element-8"/>
          <p:cNvSpPr/>
          <p:nvPr/>
        </p:nvSpPr>
        <p:spPr>
          <a:xfrm xmlns:a="http://schemas.openxmlformats.org/drawingml/2006/main">
            <a:off x="4680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B60036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099" name="Element-9"/>
          <p:cNvSpPr/>
          <p:nvPr/>
        </p:nvSpPr>
        <p:spPr>
          <a:xfrm xmlns:a="http://schemas.openxmlformats.org/drawingml/2006/main">
            <a:off x="4680000" y="540000"/>
            <a:ext cx="1800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00" name="Element-10"/>
          <p:cNvSpPr/>
          <p:nvPr/>
        </p:nvSpPr>
        <p:spPr>
          <a:xfrm xmlns:a="http://schemas.openxmlformats.org/drawingml/2006/main">
            <a:off x="6696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101" name="Element-11"/>
          <p:cNvSpPr/>
          <p:nvPr/>
        </p:nvSpPr>
        <p:spPr>
          <a:xfrm xmlns:a="http://schemas.openxmlformats.org/drawingml/2006/main">
            <a:off x="648000" y="6300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102" name="Element-12"/>
          <p:cNvSpPr/>
          <p:nvPr/>
        </p:nvSpPr>
        <p:spPr>
          <a:xfrm xmlns:a="http://schemas.openxmlformats.org/drawingml/2006/main">
            <a:off x="11016000" y="6300000"/>
            <a:ext cx="504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5</a:t>
            </a:r>
          </a:p>
        </p:txBody>
      </p:sp>
      <p:sp>
        <p:nvSpPr>
          <p:cNvPr id="100103" name="Element-13"/>
          <p:cNvSpPr/>
          <p:nvPr/>
        </p:nvSpPr>
        <p:spPr>
          <a:xfrm xmlns:a="http://schemas.openxmlformats.org/drawingml/2006/main">
            <a:off x="792000" y="1764000"/>
            <a:ext cx="1044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50" b="0" i="0">
                <a:solidFill>
                  <a:srgbClr val="5C626C"/>
                </a:solidFill>
                <a:latin typeface="Arial"/>
                <a:ea typeface="Arial"/>
              </a:rPr>
              <a:t>Two network families · two configurations each · three repetitions</a:t>
            </a:r>
          </a:p>
        </p:txBody>
      </p:sp>
      <p:sp>
        <p:nvSpPr>
          <p:cNvPr id="100104" name="Element-14"/>
          <p:cNvSpPr/>
          <p:nvPr/>
        </p:nvSpPr>
        <p:spPr>
          <a:xfrm xmlns:a="http://schemas.openxmlformats.org/drawingml/2006/main">
            <a:off x="792000" y="2160000"/>
            <a:ext cx="5904000" cy="201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05" name="Element-15"/>
          <p:cNvSpPr/>
          <p:nvPr/>
        </p:nvSpPr>
        <p:spPr>
          <a:xfrm xmlns:a="http://schemas.openxmlformats.org/drawingml/2006/main">
            <a:off x="972000" y="2232000"/>
            <a:ext cx="5544000" cy="2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1" i="0">
                <a:solidFill>
                  <a:srgbClr val="5C626C"/>
                </a:solidFill>
                <a:latin typeface="Arial"/>
                <a:ea typeface="Arial"/>
              </a:rPr>
              <a:t>Trials succeeded, out of six</a:t>
            </a:r>
          </a:p>
        </p:txBody>
      </p:sp>
      <p:sp>
        <p:nvSpPr>
          <p:cNvPr id="100106" name="Element-16"/>
          <p:cNvSpPr/>
          <p:nvPr/>
        </p:nvSpPr>
        <p:spPr>
          <a:xfrm xmlns:a="http://schemas.openxmlformats.org/drawingml/2006/main">
            <a:off x="972000" y="2556000"/>
            <a:ext cx="936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00" b="1" i="0">
                <a:solidFill>
                  <a:srgbClr val="20252D"/>
                </a:solidFill>
                <a:latin typeface="Arial"/>
                <a:ea typeface="Arial"/>
              </a:rPr>
              <a:t>Rules</a:t>
            </a:r>
          </a:p>
        </p:txBody>
      </p:sp>
      <p:sp>
        <p:nvSpPr>
          <p:cNvPr id="100107" name="Element-17"/>
          <p:cNvSpPr/>
          <p:nvPr/>
        </p:nvSpPr>
        <p:spPr>
          <a:xfrm xmlns:a="http://schemas.openxmlformats.org/drawingml/2006/main">
            <a:off x="1980000" y="2592000"/>
            <a:ext cx="3816000" cy="25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626C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08" name="Element-18"/>
          <p:cNvSpPr/>
          <p:nvPr/>
        </p:nvSpPr>
        <p:spPr>
          <a:xfrm xmlns:a="http://schemas.openxmlformats.org/drawingml/2006/main">
            <a:off x="5904000" y="2556000"/>
            <a:ext cx="612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400" b="1" i="0">
                <a:solidFill>
                  <a:srgbClr val="5C626C"/>
                </a:solidFill>
                <a:latin typeface="Arial"/>
                <a:ea typeface="Arial"/>
              </a:rPr>
              <a:t>6 / 6</a:t>
            </a:r>
          </a:p>
        </p:txBody>
      </p:sp>
      <p:sp>
        <p:nvSpPr>
          <p:cNvPr id="100109" name="Element-19"/>
          <p:cNvSpPr/>
          <p:nvPr/>
        </p:nvSpPr>
        <p:spPr>
          <a:xfrm xmlns:a="http://schemas.openxmlformats.org/drawingml/2006/main">
            <a:off x="972000" y="3294000"/>
            <a:ext cx="936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00" b="1" i="0">
                <a:solidFill>
                  <a:srgbClr val="20252D"/>
                </a:solidFill>
                <a:latin typeface="Arial"/>
                <a:ea typeface="Arial"/>
              </a:rPr>
              <a:t>Model</a:t>
            </a:r>
          </a:p>
        </p:txBody>
      </p:sp>
      <p:sp>
        <p:nvSpPr>
          <p:cNvPr id="100110" name="Element-20"/>
          <p:cNvSpPr/>
          <p:nvPr/>
        </p:nvSpPr>
        <p:spPr>
          <a:xfrm xmlns:a="http://schemas.openxmlformats.org/drawingml/2006/main">
            <a:off x="1980000" y="3330000"/>
            <a:ext cx="3816000" cy="25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11" name="Element-21"/>
          <p:cNvSpPr/>
          <p:nvPr/>
        </p:nvSpPr>
        <p:spPr>
          <a:xfrm xmlns:a="http://schemas.openxmlformats.org/drawingml/2006/main">
            <a:off x="5904000" y="3294000"/>
            <a:ext cx="612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400" b="1" i="0">
                <a:solidFill>
                  <a:srgbClr val="B60036"/>
                </a:solidFill>
                <a:latin typeface="Arial"/>
                <a:ea typeface="Arial"/>
              </a:rPr>
              <a:t>6 / 6</a:t>
            </a:r>
          </a:p>
        </p:txBody>
      </p:sp>
      <p:sp>
        <p:nvSpPr>
          <p:cNvPr id="100112" name="Element-22"/>
          <p:cNvSpPr/>
          <p:nvPr/>
        </p:nvSpPr>
        <p:spPr>
          <a:xfrm xmlns:a="http://schemas.openxmlformats.org/drawingml/2006/main">
            <a:off x="972000" y="3924000"/>
            <a:ext cx="5544000" cy="2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Both bars are full, on every family and every repetition.</a:t>
            </a:r>
          </a:p>
        </p:txBody>
      </p:sp>
      <p:sp>
        <p:nvSpPr>
          <p:cNvPr id="100113" name="verdict"/>
          <p:cNvSpPr/>
          <p:nvPr/>
        </p:nvSpPr>
        <p:spPr>
          <a:xfrm xmlns:a="http://schemas.openxmlformats.org/drawingml/2006/main">
            <a:off x="7344000" y="2160000"/>
            <a:ext cx="4032000" cy="57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B60036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900" b="1" i="0">
                <a:solidFill>
                  <a:srgbClr val="B60036"/>
                </a:solidFill>
                <a:latin typeface="Arial"/>
                <a:ea typeface="Arial"/>
              </a:rPr>
              <a:t>The instrument is saturated</a:t>
            </a:r>
          </a:p>
        </p:txBody>
      </p:sp>
      <p:sp>
        <p:nvSpPr>
          <p:cNvPr id="100114" name="Element-24"/>
          <p:cNvSpPr/>
          <p:nvPr/>
        </p:nvSpPr>
        <p:spPr>
          <a:xfrm xmlns:a="http://schemas.openxmlformats.org/drawingml/2006/main">
            <a:off x="7344000" y="2808000"/>
            <a:ext cx="4032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50" b="0" i="0">
                <a:solidFill>
                  <a:srgbClr val="20252D"/>
                </a:solidFill>
                <a:latin typeface="Arial"/>
                <a:ea typeface="Arial"/>
              </a:rPr>
              <a:t>It cannot separate the two approaches — and separating them is exactly what a benchmark must do.</a:t>
            </a:r>
          </a:p>
        </p:txBody>
      </p:sp>
      <p:sp>
        <p:nvSpPr>
          <p:cNvPr id="100115" name="Element-25"/>
          <p:cNvSpPr/>
          <p:nvPr/>
        </p:nvSpPr>
        <p:spPr>
          <a:xfrm xmlns:a="http://schemas.openxmlformats.org/drawingml/2006/main">
            <a:off x="7344000" y="3420000"/>
            <a:ext cx="40320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100" b="1" i="0">
                <a:solidFill>
                  <a:srgbClr val="B60036"/>
                </a:solidFill>
                <a:latin typeface="Arial"/>
                <a:ea typeface="Arial"/>
              </a:rPr>
              <a:t>This is not a failure of the model.</a:t>
            </a:r>
          </a:p>
          <a:p xmlns:a="http://schemas.openxmlformats.org/drawingml/2006/main">
            <a:pPr algn="l"/>
            <a:r>
              <a:rPr lang="en-US" sz="1100" b="1" i="0">
                <a:solidFill>
                  <a:srgbClr val="B60036"/>
                </a:solidFill>
                <a:latin typeface="Arial"/>
                <a:ea typeface="Arial"/>
              </a:rPr>
              <a:t>It is a failure of the instrument: a set of scenarios passed by everyone tests no competence.</a:t>
            </a:r>
          </a:p>
        </p:txBody>
      </p:sp>
      <p:sp>
        <p:nvSpPr>
          <p:cNvPr id="100116" name="Element-26"/>
          <p:cNvSpPr/>
          <p:nvPr/>
        </p:nvSpPr>
        <p:spPr>
          <a:xfrm xmlns:a="http://schemas.openxmlformats.org/drawingml/2006/main">
            <a:off x="792000" y="4428000"/>
            <a:ext cx="4968000" cy="2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1" i="0">
                <a:solidFill>
                  <a:srgbClr val="B60036"/>
                </a:solidFill>
                <a:latin typeface="Arial"/>
                <a:ea typeface="Arial"/>
              </a:rPr>
              <a:t>What it means</a:t>
            </a:r>
          </a:p>
        </p:txBody>
      </p:sp>
      <p:sp>
        <p:nvSpPr>
          <p:cNvPr id="100117" name="Element-27"/>
          <p:cNvSpPr/>
          <p:nvPr/>
        </p:nvSpPr>
        <p:spPr>
          <a:xfrm xmlns:a="http://schemas.openxmlformats.org/drawingml/2006/main">
            <a:off x="792000" y="4644000"/>
            <a:ext cx="504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150" b="0" i="0">
                <a:solidFill>
                  <a:srgbClr val="20252D"/>
                </a:solidFill>
                <a:latin typeface="Arial"/>
                <a:ea typeface="Arial"/>
              </a:rPr>
              <a:t>• not “the model is better” — there is no difference</a:t>
            </a:r>
          </a:p>
          <a:p xmlns:a="http://schemas.openxmlformats.org/drawingml/2006/main">
            <a:pPr algn="l"/>
            <a:r>
              <a:rPr lang="en-US" sz="1150" b="0" i="0">
                <a:solidFill>
                  <a:srgbClr val="20252D"/>
                </a:solidFill>
                <a:latin typeface="Arial"/>
                <a:ea typeface="Arial"/>
              </a:rPr>
              <a:t>• not “the model is useless” — the pilot was built to qualify the</a:t>
            </a:r>
          </a:p>
          <a:p xmlns:a="http://schemas.openxmlformats.org/drawingml/2006/main">
            <a:pPr algn="l"/>
            <a:r>
              <a:rPr lang="en-US" sz="1150" b="0" i="0">
                <a:solidFill>
                  <a:srgbClr val="20252D"/>
                </a:solidFill>
                <a:latin typeface="Arial"/>
                <a:ea typeface="Arial"/>
              </a:rPr>
              <a:t>   instrument, not to decide between the arms</a:t>
            </a:r>
          </a:p>
        </p:txBody>
      </p:sp>
      <p:sp>
        <p:nvSpPr>
          <p:cNvPr id="100118" name="Element-28"/>
          <p:cNvSpPr/>
          <p:nvPr/>
        </p:nvSpPr>
        <p:spPr>
          <a:xfrm xmlns:a="http://schemas.openxmlformats.org/drawingml/2006/main">
            <a:off x="6336000" y="4428000"/>
            <a:ext cx="4968000" cy="2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1" i="0">
                <a:solidFill>
                  <a:srgbClr val="B60036"/>
                </a:solidFill>
                <a:latin typeface="Arial"/>
                <a:ea typeface="Arial"/>
              </a:rPr>
              <a:t>What it does not mean</a:t>
            </a:r>
          </a:p>
        </p:txBody>
      </p:sp>
      <p:sp>
        <p:nvSpPr>
          <p:cNvPr id="100119" name="Element-29"/>
          <p:cNvSpPr/>
          <p:nvPr/>
        </p:nvSpPr>
        <p:spPr>
          <a:xfrm xmlns:a="http://schemas.openxmlformats.org/drawingml/2006/main">
            <a:off x="6336000" y="4644000"/>
            <a:ext cx="504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150" b="0" i="0">
                <a:solidFill>
                  <a:srgbClr val="5C626C"/>
                </a:solidFill>
                <a:latin typeface="Arial"/>
                <a:ea typeface="Arial"/>
              </a:rPr>
              <a:t>It cannot decide between the arms. What it does establish is that both instruments measure at all — which is the precondition for the register to be worth running.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120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99eecd4d624ba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92000" y="223200"/>
            <a:ext cx="1692000" cy="579864"/>
          </a:xfrm>
          <a:prstGeom xmlns:a="http://schemas.openxmlformats.org/drawingml/2006/main" prst="rect">
            <a:avLst/>
          </a:prstGeom>
        </p:spPr>
      </p:pic>
      <p:sp>
        <p:nvSpPr>
          <p:cNvPr id="100121" name="Title"/>
          <p:cNvSpPr/>
          <p:nvPr/>
        </p:nvSpPr>
        <p:spPr>
          <a:xfrm xmlns:a="http://schemas.openxmlformats.org/drawingml/2006/main">
            <a:off x="648000" y="630000"/>
            <a:ext cx="8928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So the objective is restated as hypotheses</a:t>
            </a:r>
          </a:p>
        </p:txBody>
      </p:sp>
      <p:sp>
        <p:nvSpPr>
          <p:cNvPr id="100122" name="Element-5"/>
          <p:cNvSpPr/>
          <p:nvPr/>
        </p:nvSpPr>
        <p:spPr>
          <a:xfrm xmlns:a="http://schemas.openxmlformats.org/drawingml/2006/main">
            <a:off x="648000" y="1422000"/>
            <a:ext cx="12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23" name="Element-6"/>
          <p:cNvSpPr/>
          <p:nvPr/>
        </p:nvSpPr>
        <p:spPr>
          <a:xfrm xmlns:a="http://schemas.openxmlformats.org/drawingml/2006/main">
            <a:off x="648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124" name="Element-7"/>
          <p:cNvSpPr/>
          <p:nvPr/>
        </p:nvSpPr>
        <p:spPr>
          <a:xfrm xmlns:a="http://schemas.openxmlformats.org/drawingml/2006/main">
            <a:off x="2664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125" name="Element-8"/>
          <p:cNvSpPr/>
          <p:nvPr/>
        </p:nvSpPr>
        <p:spPr>
          <a:xfrm xmlns:a="http://schemas.openxmlformats.org/drawingml/2006/main">
            <a:off x="4680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B60036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126" name="Element-9"/>
          <p:cNvSpPr/>
          <p:nvPr/>
        </p:nvSpPr>
        <p:spPr>
          <a:xfrm xmlns:a="http://schemas.openxmlformats.org/drawingml/2006/main">
            <a:off x="4680000" y="540000"/>
            <a:ext cx="1800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27" name="Element-10"/>
          <p:cNvSpPr/>
          <p:nvPr/>
        </p:nvSpPr>
        <p:spPr>
          <a:xfrm xmlns:a="http://schemas.openxmlformats.org/drawingml/2006/main">
            <a:off x="6696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128" name="Element-11"/>
          <p:cNvSpPr/>
          <p:nvPr/>
        </p:nvSpPr>
        <p:spPr>
          <a:xfrm xmlns:a="http://schemas.openxmlformats.org/drawingml/2006/main">
            <a:off x="648000" y="6300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129" name="Element-12"/>
          <p:cNvSpPr/>
          <p:nvPr/>
        </p:nvSpPr>
        <p:spPr>
          <a:xfrm xmlns:a="http://schemas.openxmlformats.org/drawingml/2006/main">
            <a:off x="11016000" y="6300000"/>
            <a:ext cx="504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6</a:t>
            </a:r>
          </a:p>
        </p:txBody>
      </p:sp>
      <p:sp>
        <p:nvSpPr>
          <p:cNvPr id="100130" name="Element-13"/>
          <p:cNvSpPr/>
          <p:nvPr/>
        </p:nvSpPr>
        <p:spPr>
          <a:xfrm xmlns:a="http://schemas.openxmlformats.org/drawingml/2006/main">
            <a:off x="792000" y="1656000"/>
            <a:ext cx="1044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20252D"/>
                </a:solidFill>
                <a:latin typeface="Arial"/>
                <a:ea typeface="Arial"/>
              </a:rPr>
              <a:t>“Is the model better?” cannot be settled.  “Which properties of a network make a model add something — and which do not?” can.</a:t>
            </a:r>
          </a:p>
        </p:txBody>
      </p:sp>
      <p:sp>
        <p:nvSpPr>
          <p:cNvPr id="100131" name="Element-14"/>
          <p:cNvSpPr/>
          <p:nvPr/>
        </p:nvSpPr>
        <p:spPr>
          <a:xfrm xmlns:a="http://schemas.openxmlformats.org/drawingml/2006/main">
            <a:off x="792000" y="2160000"/>
            <a:ext cx="3348000" cy="140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32" name="Element-15"/>
          <p:cNvSpPr/>
          <p:nvPr/>
        </p:nvSpPr>
        <p:spPr>
          <a:xfrm xmlns:a="http://schemas.openxmlformats.org/drawingml/2006/main">
            <a:off x="972000" y="2286000"/>
            <a:ext cx="648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20252D"/>
                </a:solidFill>
                <a:latin typeface="Arial"/>
                <a:ea typeface="Arial"/>
              </a:rPr>
              <a:t>H1</a:t>
            </a:r>
          </a:p>
        </p:txBody>
      </p:sp>
      <p:sp>
        <p:nvSpPr>
          <p:cNvPr id="100133" name="Element-16"/>
          <p:cNvSpPr/>
          <p:nvPr/>
        </p:nvSpPr>
        <p:spPr>
          <a:xfrm xmlns:a="http://schemas.openxmlformats.org/drawingml/2006/main">
            <a:off x="1656000" y="2286000"/>
            <a:ext cx="230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50" b="1" i="0">
                <a:solidFill>
                  <a:srgbClr val="20252D"/>
                </a:solidFill>
                <a:latin typeface="Arial"/>
                <a:ea typeface="Arial"/>
              </a:rPr>
              <a:t>Devices are connected</a:t>
            </a:r>
          </a:p>
        </p:txBody>
      </p:sp>
      <p:sp>
        <p:nvSpPr>
          <p:cNvPr id="100134" name="Element-17"/>
          <p:cNvSpPr/>
          <p:nvPr/>
        </p:nvSpPr>
        <p:spPr>
          <a:xfrm xmlns:a="http://schemas.openxmlformats.org/drawingml/2006/main">
            <a:off x="972000" y="2682000"/>
            <a:ext cx="29880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an identity link absent from public inputs</a:t>
            </a:r>
          </a:p>
        </p:txBody>
      </p:sp>
      <p:sp>
        <p:nvSpPr>
          <p:cNvPr id="100135" name="Element-18"/>
          <p:cNvSpPr/>
          <p:nvPr/>
        </p:nvSpPr>
        <p:spPr>
          <a:xfrm xmlns:a="http://schemas.openxmlformats.org/drawingml/2006/main">
            <a:off x="4356000" y="2160000"/>
            <a:ext cx="3348000" cy="140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36" name="Element-19"/>
          <p:cNvSpPr/>
          <p:nvPr/>
        </p:nvSpPr>
        <p:spPr>
          <a:xfrm xmlns:a="http://schemas.openxmlformats.org/drawingml/2006/main">
            <a:off x="4536000" y="2286000"/>
            <a:ext cx="648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20252D"/>
                </a:solidFill>
                <a:latin typeface="Arial"/>
                <a:ea typeface="Arial"/>
              </a:rPr>
              <a:t>H2</a:t>
            </a:r>
          </a:p>
        </p:txBody>
      </p:sp>
      <p:sp>
        <p:nvSpPr>
          <p:cNvPr id="100137" name="Element-20"/>
          <p:cNvSpPr/>
          <p:nvPr/>
        </p:nvSpPr>
        <p:spPr>
          <a:xfrm xmlns:a="http://schemas.openxmlformats.org/drawingml/2006/main">
            <a:off x="5220000" y="2286000"/>
            <a:ext cx="230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100" b="1" i="0">
                <a:solidFill>
                  <a:srgbClr val="20252D"/>
                </a:solidFill>
                <a:latin typeface="Arial"/>
                <a:ea typeface="Arial"/>
              </a:rPr>
              <a:t>Formats are heterogeneous</a:t>
            </a:r>
          </a:p>
        </p:txBody>
      </p:sp>
      <p:sp>
        <p:nvSpPr>
          <p:cNvPr id="100138" name="Element-21"/>
          <p:cNvSpPr/>
          <p:nvPr/>
        </p:nvSpPr>
        <p:spPr>
          <a:xfrm xmlns:a="http://schemas.openxmlformats.org/drawingml/2006/main">
            <a:off x="4536000" y="2682000"/>
            <a:ext cx="29880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a format the declared parsers do not cover</a:t>
            </a:r>
          </a:p>
        </p:txBody>
      </p:sp>
      <p:sp>
        <p:nvSpPr>
          <p:cNvPr id="100139" name="Element-22"/>
          <p:cNvSpPr/>
          <p:nvPr/>
        </p:nvSpPr>
        <p:spPr>
          <a:xfrm xmlns:a="http://schemas.openxmlformats.org/drawingml/2006/main">
            <a:off x="7920000" y="2160000"/>
            <a:ext cx="3348000" cy="140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40" name="Element-23"/>
          <p:cNvSpPr/>
          <p:nvPr/>
        </p:nvSpPr>
        <p:spPr>
          <a:xfrm xmlns:a="http://schemas.openxmlformats.org/drawingml/2006/main">
            <a:off x="8100000" y="2286000"/>
            <a:ext cx="648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20252D"/>
                </a:solidFill>
                <a:latin typeface="Arial"/>
                <a:ea typeface="Arial"/>
              </a:rPr>
              <a:t>H3</a:t>
            </a:r>
          </a:p>
        </p:txBody>
      </p:sp>
      <p:sp>
        <p:nvSpPr>
          <p:cNvPr id="100141" name="Element-24"/>
          <p:cNvSpPr/>
          <p:nvPr/>
        </p:nvSpPr>
        <p:spPr>
          <a:xfrm xmlns:a="http://schemas.openxmlformats.org/drawingml/2006/main">
            <a:off x="8784000" y="2286000"/>
            <a:ext cx="230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Contracts are unseen</a:t>
            </a:r>
          </a:p>
        </p:txBody>
      </p:sp>
      <p:sp>
        <p:nvSpPr>
          <p:cNvPr id="100142" name="Element-25"/>
          <p:cNvSpPr/>
          <p:nvPr/>
        </p:nvSpPr>
        <p:spPr>
          <a:xfrm xmlns:a="http://schemas.openxmlformats.org/drawingml/2006/main">
            <a:off x="8100000" y="2682000"/>
            <a:ext cx="29880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rights and goals from never-seen documentation</a:t>
            </a:r>
          </a:p>
        </p:txBody>
      </p:sp>
      <p:sp>
        <p:nvSpPr>
          <p:cNvPr id="100143" name="Element-26"/>
          <p:cNvSpPr/>
          <p:nvPr/>
        </p:nvSpPr>
        <p:spPr>
          <a:xfrm xmlns:a="http://schemas.openxmlformats.org/drawingml/2006/main">
            <a:off x="792000" y="3744000"/>
            <a:ext cx="3348000" cy="140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44" name="Element-27"/>
          <p:cNvSpPr/>
          <p:nvPr/>
        </p:nvSpPr>
        <p:spPr>
          <a:xfrm xmlns:a="http://schemas.openxmlformats.org/drawingml/2006/main">
            <a:off x="972000" y="3870000"/>
            <a:ext cx="648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20252D"/>
                </a:solidFill>
                <a:latin typeface="Arial"/>
                <a:ea typeface="Arial"/>
              </a:rPr>
              <a:t>H4</a:t>
            </a:r>
          </a:p>
        </p:txBody>
      </p:sp>
      <p:sp>
        <p:nvSpPr>
          <p:cNvPr id="100145" name="Element-28"/>
          <p:cNvSpPr/>
          <p:nvPr/>
        </p:nvSpPr>
        <p:spPr>
          <a:xfrm xmlns:a="http://schemas.openxmlformats.org/drawingml/2006/main">
            <a:off x="1656000" y="3870000"/>
            <a:ext cx="230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150" b="1" i="0">
                <a:solidFill>
                  <a:srgbClr val="20252D"/>
                </a:solidFill>
                <a:latin typeface="Arial"/>
                <a:ea typeface="Arial"/>
              </a:rPr>
              <a:t>Meaning is vendor-specific</a:t>
            </a:r>
          </a:p>
        </p:txBody>
      </p:sp>
      <p:sp>
        <p:nvSpPr>
          <p:cNvPr id="100146" name="Element-29"/>
          <p:cNvSpPr/>
          <p:nvPr/>
        </p:nvSpPr>
        <p:spPr>
          <a:xfrm xmlns:a="http://schemas.openxmlformats.org/drawingml/2006/main">
            <a:off x="972000" y="4266000"/>
            <a:ext cx="29880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a field whose sense is only in naming or doc</a:t>
            </a:r>
          </a:p>
        </p:txBody>
      </p:sp>
      <p:sp>
        <p:nvSpPr>
          <p:cNvPr id="100147" name="Element-30"/>
          <p:cNvSpPr/>
          <p:nvPr/>
        </p:nvSpPr>
        <p:spPr>
          <a:xfrm xmlns:a="http://schemas.openxmlformats.org/drawingml/2006/main">
            <a:off x="4356000" y="3744000"/>
            <a:ext cx="3348000" cy="140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48" name="Element-31"/>
          <p:cNvSpPr/>
          <p:nvPr/>
        </p:nvSpPr>
        <p:spPr>
          <a:xfrm xmlns:a="http://schemas.openxmlformats.org/drawingml/2006/main">
            <a:off x="4536000" y="3870000"/>
            <a:ext cx="648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20252D"/>
                </a:solidFill>
                <a:latin typeface="Arial"/>
                <a:ea typeface="Arial"/>
              </a:rPr>
              <a:t>H5</a:t>
            </a:r>
          </a:p>
        </p:txBody>
      </p:sp>
      <p:sp>
        <p:nvSpPr>
          <p:cNvPr id="100149" name="Element-32"/>
          <p:cNvSpPr/>
          <p:nvPr/>
        </p:nvSpPr>
        <p:spPr>
          <a:xfrm xmlns:a="http://schemas.openxmlformats.org/drawingml/2006/main">
            <a:off x="5220000" y="3870000"/>
            <a:ext cx="230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Devices refuse</a:t>
            </a:r>
          </a:p>
        </p:txBody>
      </p:sp>
      <p:sp>
        <p:nvSpPr>
          <p:cNvPr id="100150" name="Element-33"/>
          <p:cNvSpPr/>
          <p:nvPr/>
        </p:nvSpPr>
        <p:spPr>
          <a:xfrm xmlns:a="http://schemas.openxmlformats.org/drawingml/2006/main">
            <a:off x="4536000" y="4266000"/>
            <a:ext cx="29880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resuming beyond the script's standard branch</a:t>
            </a:r>
          </a:p>
        </p:txBody>
      </p:sp>
      <p:sp>
        <p:nvSpPr>
          <p:cNvPr id="100151" name="Element-34"/>
          <p:cNvSpPr/>
          <p:nvPr/>
        </p:nvSpPr>
        <p:spPr>
          <a:xfrm xmlns:a="http://schemas.openxmlformats.org/drawingml/2006/main">
            <a:off x="7920000" y="3744000"/>
            <a:ext cx="3348000" cy="140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52" name="Element-35"/>
          <p:cNvSpPr/>
          <p:nvPr/>
        </p:nvSpPr>
        <p:spPr>
          <a:xfrm xmlns:a="http://schemas.openxmlformats.org/drawingml/2006/main">
            <a:off x="8100000" y="3870000"/>
            <a:ext cx="648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B60036"/>
                </a:solidFill>
                <a:latin typeface="Arial"/>
                <a:ea typeface="Arial"/>
              </a:rPr>
              <a:t>H6</a:t>
            </a:r>
          </a:p>
        </p:txBody>
      </p:sp>
      <p:sp>
        <p:nvSpPr>
          <p:cNvPr id="100153" name="Element-36"/>
          <p:cNvSpPr/>
          <p:nvPr/>
        </p:nvSpPr>
        <p:spPr>
          <a:xfrm xmlns:a="http://schemas.openxmlformats.org/drawingml/2006/main">
            <a:off x="8784000" y="3870000"/>
            <a:ext cx="230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1" i="0">
                <a:solidFill>
                  <a:srgbClr val="B60036"/>
                </a:solidFill>
                <a:latin typeface="Arial"/>
                <a:ea typeface="Arial"/>
              </a:rPr>
              <a:t>Content is hostile</a:t>
            </a:r>
          </a:p>
        </p:txBody>
      </p:sp>
      <p:sp>
        <p:nvSpPr>
          <p:cNvPr id="100154" name="Element-37"/>
          <p:cNvSpPr/>
          <p:nvPr/>
        </p:nvSpPr>
        <p:spPr>
          <a:xfrm xmlns:a="http://schemas.openxmlformats.org/drawingml/2006/main">
            <a:off x="8100000" y="4266000"/>
            <a:ext cx="29880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whether a planted instruction is obeyed</a:t>
            </a:r>
          </a:p>
        </p:txBody>
      </p:sp>
      <p:sp>
        <p:nvSpPr>
          <p:cNvPr id="100155" name="Element-38"/>
          <p:cNvSpPr/>
          <p:nvPr/>
        </p:nvSpPr>
        <p:spPr>
          <a:xfrm xmlns:a="http://schemas.openxmlformats.org/drawingml/2006/main">
            <a:off x="792000" y="5472000"/>
            <a:ext cx="10440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100" b="1" i="0">
                <a:solidFill>
                  <a:srgbClr val="B60036"/>
                </a:solidFill>
                <a:latin typeface="Arial"/>
                <a:ea typeface="Arial"/>
              </a:rPr>
              <a:t>H1–H5 measure a possible gain.   H6 measures a risk: we predict that a model obeys an injected instruction while a script ignores it — zero compliance is the good outcome.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156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727ea192044bd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92000" y="223200"/>
            <a:ext cx="1692000" cy="579864"/>
          </a:xfrm>
          <a:prstGeom xmlns:a="http://schemas.openxmlformats.org/drawingml/2006/main" prst="rect">
            <a:avLst/>
          </a:prstGeom>
        </p:spPr>
      </p:pic>
      <p:sp>
        <p:nvSpPr>
          <p:cNvPr id="100157" name="Title"/>
          <p:cNvSpPr/>
          <p:nvPr/>
        </p:nvSpPr>
        <p:spPr>
          <a:xfrm xmlns:a="http://schemas.openxmlformats.org/drawingml/2006/main">
            <a:off x="648000" y="630000"/>
            <a:ext cx="8928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Before testing the model, test the test</a:t>
            </a:r>
          </a:p>
        </p:txBody>
      </p:sp>
      <p:sp>
        <p:nvSpPr>
          <p:cNvPr id="100158" name="Element-5"/>
          <p:cNvSpPr/>
          <p:nvPr/>
        </p:nvSpPr>
        <p:spPr>
          <a:xfrm xmlns:a="http://schemas.openxmlformats.org/drawingml/2006/main">
            <a:off x="648000" y="1422000"/>
            <a:ext cx="12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59" name="Element-6"/>
          <p:cNvSpPr/>
          <p:nvPr/>
        </p:nvSpPr>
        <p:spPr>
          <a:xfrm xmlns:a="http://schemas.openxmlformats.org/drawingml/2006/main">
            <a:off x="648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160" name="Element-7"/>
          <p:cNvSpPr/>
          <p:nvPr/>
        </p:nvSpPr>
        <p:spPr>
          <a:xfrm xmlns:a="http://schemas.openxmlformats.org/drawingml/2006/main">
            <a:off x="2664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161" name="Element-8"/>
          <p:cNvSpPr/>
          <p:nvPr/>
        </p:nvSpPr>
        <p:spPr>
          <a:xfrm xmlns:a="http://schemas.openxmlformats.org/drawingml/2006/main">
            <a:off x="4680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B60036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162" name="Element-9"/>
          <p:cNvSpPr/>
          <p:nvPr/>
        </p:nvSpPr>
        <p:spPr>
          <a:xfrm xmlns:a="http://schemas.openxmlformats.org/drawingml/2006/main">
            <a:off x="4680000" y="540000"/>
            <a:ext cx="1800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63" name="Element-10"/>
          <p:cNvSpPr/>
          <p:nvPr/>
        </p:nvSpPr>
        <p:spPr>
          <a:xfrm xmlns:a="http://schemas.openxmlformats.org/drawingml/2006/main">
            <a:off x="6696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164" name="Element-11"/>
          <p:cNvSpPr/>
          <p:nvPr/>
        </p:nvSpPr>
        <p:spPr>
          <a:xfrm xmlns:a="http://schemas.openxmlformats.org/drawingml/2006/main">
            <a:off x="648000" y="6300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165" name="Element-12"/>
          <p:cNvSpPr/>
          <p:nvPr/>
        </p:nvSpPr>
        <p:spPr>
          <a:xfrm xmlns:a="http://schemas.openxmlformats.org/drawingml/2006/main">
            <a:off x="11016000" y="6300000"/>
            <a:ext cx="504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7</a:t>
            </a:r>
          </a:p>
        </p:txBody>
      </p:sp>
      <p:sp>
        <p:nvSpPr>
          <p:cNvPr id="100166" name="v0"/>
          <p:cNvSpPr/>
          <p:nvPr/>
        </p:nvSpPr>
        <p:spPr>
          <a:xfrm xmlns:a="http://schemas.openxmlformats.org/drawingml/2006/main">
            <a:off x="792000" y="1764000"/>
            <a:ext cx="4320000" cy="68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B60036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500" b="1" i="0">
                <a:solidFill>
                  <a:srgbClr val="B60036"/>
                </a:solidFill>
                <a:latin typeface="Arial"/>
                <a:ea typeface="Arial"/>
              </a:rPr>
              <a:t>Control task</a:t>
            </a:r>
          </a:p>
          <a:p xmlns:a="http://schemas.openxmlformats.org/drawingml/2006/main">
            <a:pPr algn="ctr"/>
            <a:r>
              <a:rPr lang="en-US" sz="1500" b="1" i="0">
                <a:solidFill>
                  <a:srgbClr val="B60036"/>
                </a:solidFill>
                <a:latin typeface="Arial"/>
                <a:ea typeface="Arial"/>
              </a:rPr>
              <a:t>solvable without inference</a:t>
            </a:r>
          </a:p>
        </p:txBody>
      </p:sp>
      <p:sp>
        <p:nvSpPr>
          <p:cNvPr id="100167" name="Element-14"/>
          <p:cNvSpPr/>
          <p:nvPr/>
        </p:nvSpPr>
        <p:spPr>
          <a:xfrm xmlns:a="http://schemas.openxmlformats.org/drawingml/2006/main">
            <a:off x="792000" y="2484000"/>
            <a:ext cx="432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Both approaches must pass, above a threshold frozen after the first pilot.</a:t>
            </a:r>
          </a:p>
        </p:txBody>
      </p:sp>
      <p:sp>
        <p:nvSpPr>
          <p:cNvPr id="100168" name="Element-15"/>
          <p:cNvSpPr/>
          <p:nvPr/>
        </p:nvSpPr>
        <p:spPr>
          <a:xfrm xmlns:a="http://schemas.openxmlformats.org/drawingml/2006/main">
            <a:off x="792000" y="3096000"/>
            <a:ext cx="4320000" cy="2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1" i="0">
                <a:solidFill>
                  <a:srgbClr val="B60036"/>
                </a:solidFill>
                <a:latin typeface="Arial"/>
                <a:ea typeface="Arial"/>
              </a:rPr>
              <a:t>What it already caught</a:t>
            </a:r>
          </a:p>
        </p:txBody>
      </p:sp>
      <p:sp>
        <p:nvSpPr>
          <p:cNvPr id="100169" name="Element-16"/>
          <p:cNvSpPr/>
          <p:nvPr/>
        </p:nvSpPr>
        <p:spPr>
          <a:xfrm xmlns:a="http://schemas.openxmlformats.org/drawingml/2006/main">
            <a:off x="792000" y="3312000"/>
            <a:ext cx="44640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50" b="0" i="0">
                <a:solidFill>
                  <a:srgbClr val="20252D"/>
                </a:solidFill>
                <a:latin typeface="Arial"/>
                <a:ea typeface="Arial"/>
              </a:rPr>
              <a:t>A briefing documented no HTTP route. The model tried paths outside the contract and collected 404s, while the script knew where to read the policy. The defect was in the harness.</a:t>
            </a:r>
          </a:p>
        </p:txBody>
      </p:sp>
      <p:sp>
        <p:nvSpPr>
          <p:cNvPr id="100170" name="green"/>
          <p:cNvSpPr/>
          <p:nvPr/>
        </p:nvSpPr>
        <p:spPr>
          <a:xfrm xmlns:a="http://schemas.openxmlformats.org/drawingml/2006/main">
            <a:off x="792000" y="4140000"/>
            <a:ext cx="4464000" cy="43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B60036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300" b="1" i="0">
                <a:solidFill>
                  <a:srgbClr val="B60036"/>
                </a:solidFill>
                <a:latin typeface="Arial"/>
                <a:ea typeface="Arial"/>
              </a:rPr>
              <a:t>A green run would have said nothing</a:t>
            </a:r>
          </a:p>
        </p:txBody>
      </p:sp>
      <p:sp>
        <p:nvSpPr>
          <p:cNvPr id="100171" name="Element-18"/>
          <p:cNvSpPr/>
          <p:nvPr/>
        </p:nvSpPr>
        <p:spPr>
          <a:xfrm xmlns:a="http://schemas.openxmlformats.org/drawingml/2006/main">
            <a:off x="5976000" y="1620000"/>
            <a:ext cx="5184000" cy="2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1" i="0">
                <a:solidFill>
                  <a:srgbClr val="B60036"/>
                </a:solidFill>
                <a:latin typeface="Arial"/>
                <a:ea typeface="Arial"/>
              </a:rPr>
              <a:t>The four outcomes of the gate</a:t>
            </a:r>
          </a:p>
        </p:txBody>
      </p:sp>
      <p:sp>
        <p:nvSpPr>
          <p:cNvPr id="100172" name="Element-19"/>
          <p:cNvSpPr/>
          <p:nvPr/>
        </p:nvSpPr>
        <p:spPr>
          <a:xfrm xmlns:a="http://schemas.openxmlformats.org/drawingml/2006/main">
            <a:off x="5976000" y="1890000"/>
            <a:ext cx="5184000" cy="51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73" name="Element-20"/>
          <p:cNvSpPr/>
          <p:nvPr/>
        </p:nvSpPr>
        <p:spPr>
          <a:xfrm xmlns:a="http://schemas.openxmlformats.org/drawingml/2006/main">
            <a:off x="6120000" y="1933200"/>
            <a:ext cx="1980000" cy="42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50" b="1" i="0">
                <a:solidFill>
                  <a:srgbClr val="B60036"/>
                </a:solidFill>
                <a:latin typeface="Arial"/>
                <a:ea typeface="Arial"/>
              </a:rPr>
              <a:t>script ✓  model ✗</a:t>
            </a:r>
          </a:p>
        </p:txBody>
      </p:sp>
      <p:sp>
        <p:nvSpPr>
          <p:cNvPr id="100174" name="Element-21"/>
          <p:cNvSpPr/>
          <p:nvPr/>
        </p:nvSpPr>
        <p:spPr>
          <a:xfrm xmlns:a="http://schemas.openxmlformats.org/drawingml/2006/main">
            <a:off x="8172000" y="1933200"/>
            <a:ext cx="2952000" cy="42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B60036"/>
                </a:solidFill>
                <a:latin typeface="Arial"/>
                <a:ea typeface="Arial"/>
              </a:rPr>
              <a:t>instrument defect, not a matter of competence</a:t>
            </a:r>
          </a:p>
        </p:txBody>
      </p:sp>
      <p:sp>
        <p:nvSpPr>
          <p:cNvPr id="100175" name="Element-22"/>
          <p:cNvSpPr/>
          <p:nvPr/>
        </p:nvSpPr>
        <p:spPr>
          <a:xfrm xmlns:a="http://schemas.openxmlformats.org/drawingml/2006/main">
            <a:off x="5976000" y="2473200"/>
            <a:ext cx="5184000" cy="51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76" name="Element-23"/>
          <p:cNvSpPr/>
          <p:nvPr/>
        </p:nvSpPr>
        <p:spPr>
          <a:xfrm xmlns:a="http://schemas.openxmlformats.org/drawingml/2006/main">
            <a:off x="6120000" y="2516400"/>
            <a:ext cx="1980000" cy="42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50" b="1" i="0">
                <a:solidFill>
                  <a:srgbClr val="20252D"/>
                </a:solidFill>
                <a:latin typeface="Arial"/>
                <a:ea typeface="Arial"/>
              </a:rPr>
              <a:t>script ✗  model ✓</a:t>
            </a:r>
          </a:p>
        </p:txBody>
      </p:sp>
      <p:sp>
        <p:nvSpPr>
          <p:cNvPr id="100177" name="Element-24"/>
          <p:cNvSpPr/>
          <p:nvPr/>
        </p:nvSpPr>
        <p:spPr>
          <a:xfrm xmlns:a="http://schemas.openxmlformats.org/drawingml/2006/main">
            <a:off x="8172000" y="2516400"/>
            <a:ext cx="2952000" cy="42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20252D"/>
                </a:solidFill>
                <a:latin typeface="Arial"/>
                <a:ea typeface="Arial"/>
              </a:rPr>
              <a:t>either a gain, or a coverage gap to requalify</a:t>
            </a:r>
          </a:p>
        </p:txBody>
      </p:sp>
      <p:sp>
        <p:nvSpPr>
          <p:cNvPr id="100178" name="Element-25"/>
          <p:cNvSpPr/>
          <p:nvPr/>
        </p:nvSpPr>
        <p:spPr>
          <a:xfrm xmlns:a="http://schemas.openxmlformats.org/drawingml/2006/main">
            <a:off x="5976000" y="3056400"/>
            <a:ext cx="5184000" cy="51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79" name="Element-26"/>
          <p:cNvSpPr/>
          <p:nvPr/>
        </p:nvSpPr>
        <p:spPr>
          <a:xfrm xmlns:a="http://schemas.openxmlformats.org/drawingml/2006/main">
            <a:off x="6120000" y="3099600"/>
            <a:ext cx="1980000" cy="42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50" b="1" i="0">
                <a:solidFill>
                  <a:srgbClr val="5C626C"/>
                </a:solidFill>
                <a:latin typeface="Arial"/>
                <a:ea typeface="Arial"/>
              </a:rPr>
              <a:t>script ✗  model ✗</a:t>
            </a:r>
          </a:p>
        </p:txBody>
      </p:sp>
      <p:sp>
        <p:nvSpPr>
          <p:cNvPr id="100180" name="Element-27"/>
          <p:cNvSpPr/>
          <p:nvPr/>
        </p:nvSpPr>
        <p:spPr>
          <a:xfrm xmlns:a="http://schemas.openxmlformats.org/drawingml/2006/main">
            <a:off x="8172000" y="3099600"/>
            <a:ext cx="2952000" cy="42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150" b="0" i="0">
                <a:solidFill>
                  <a:srgbClr val="5C626C"/>
                </a:solidFill>
                <a:latin typeface="Arial"/>
                <a:ea typeface="Arial"/>
              </a:rPr>
              <a:t>out of reach for this instrument</a:t>
            </a:r>
          </a:p>
        </p:txBody>
      </p:sp>
      <p:sp>
        <p:nvSpPr>
          <p:cNvPr id="100181" name="Element-28"/>
          <p:cNvSpPr/>
          <p:nvPr/>
        </p:nvSpPr>
        <p:spPr>
          <a:xfrm xmlns:a="http://schemas.openxmlformats.org/drawingml/2006/main">
            <a:off x="5976000" y="3639600"/>
            <a:ext cx="5184000" cy="51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FF6FC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82" name="Element-29"/>
          <p:cNvSpPr/>
          <p:nvPr/>
        </p:nvSpPr>
        <p:spPr>
          <a:xfrm xmlns:a="http://schemas.openxmlformats.org/drawingml/2006/main">
            <a:off x="6120000" y="3682800"/>
            <a:ext cx="1980000" cy="42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50" b="1" i="0">
                <a:solidFill>
                  <a:srgbClr val="2E7D5B"/>
                </a:solidFill>
                <a:latin typeface="Arial"/>
                <a:ea typeface="Arial"/>
              </a:rPr>
              <a:t>script ✓  model ✓</a:t>
            </a:r>
          </a:p>
        </p:txBody>
      </p:sp>
      <p:sp>
        <p:nvSpPr>
          <p:cNvPr id="100183" name="Element-30"/>
          <p:cNvSpPr/>
          <p:nvPr/>
        </p:nvSpPr>
        <p:spPr>
          <a:xfrm xmlns:a="http://schemas.openxmlformats.org/drawingml/2006/main">
            <a:off x="8172000" y="3682800"/>
            <a:ext cx="2952000" cy="42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50" b="0" i="0">
                <a:solidFill>
                  <a:srgbClr val="2E7D5B"/>
                </a:solidFill>
                <a:latin typeface="Arial"/>
                <a:ea typeface="Arial"/>
              </a:rPr>
              <a:t>valid control — interpret the hypotheses</a:t>
            </a:r>
          </a:p>
        </p:txBody>
      </p:sp>
      <p:sp>
        <p:nvSpPr>
          <p:cNvPr id="100184" name="Element-31"/>
          <p:cNvSpPr/>
          <p:nvPr/>
        </p:nvSpPr>
        <p:spPr>
          <a:xfrm xmlns:a="http://schemas.openxmlformats.org/drawingml/2006/main">
            <a:off x="792000" y="4752000"/>
            <a:ext cx="1044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300" b="1" i="0">
                <a:solidFill>
                  <a:srgbClr val="B60036"/>
                </a:solidFill>
                <a:latin typeface="Arial"/>
                <a:ea typeface="Arial"/>
              </a:rPr>
              <a:t>Both arms, four outcomes — and only the last one licenses reading the six hypotheses.</a:t>
            </a:r>
          </a:p>
        </p:txBody>
      </p:sp>
      <p:sp>
        <p:nvSpPr>
          <p:cNvPr id="100185" name="Element-32"/>
          <p:cNvSpPr/>
          <p:nvPr/>
        </p:nvSpPr>
        <p:spPr>
          <a:xfrm xmlns:a="http://schemas.openxmlformats.org/drawingml/2006/main">
            <a:off x="792000" y="5184000"/>
            <a:ext cx="1044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Status: the control is written and tested offline. The laboratory run on a held-out instance remains to be done — MQTT as it stands; SSH only after the dictionary is randomised.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186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84f54b1cad412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92000" y="223200"/>
            <a:ext cx="1692000" cy="579864"/>
          </a:xfrm>
          <a:prstGeom xmlns:a="http://schemas.openxmlformats.org/drawingml/2006/main" prst="rect">
            <a:avLst/>
          </a:prstGeom>
        </p:spPr>
      </p:pic>
      <p:sp>
        <p:nvSpPr>
          <p:cNvPr id="100187" name="Title"/>
          <p:cNvSpPr/>
          <p:nvPr/>
        </p:nvSpPr>
        <p:spPr>
          <a:xfrm xmlns:a="http://schemas.openxmlformats.org/drawingml/2006/main">
            <a:off x="648000" y="630000"/>
            <a:ext cx="8928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What we can measure today</a:t>
            </a:r>
          </a:p>
        </p:txBody>
      </p:sp>
      <p:sp>
        <p:nvSpPr>
          <p:cNvPr id="100188" name="Element-5"/>
          <p:cNvSpPr/>
          <p:nvPr/>
        </p:nvSpPr>
        <p:spPr>
          <a:xfrm xmlns:a="http://schemas.openxmlformats.org/drawingml/2006/main">
            <a:off x="648000" y="1422000"/>
            <a:ext cx="12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89" name="Element-6"/>
          <p:cNvSpPr/>
          <p:nvPr/>
        </p:nvSpPr>
        <p:spPr>
          <a:xfrm xmlns:a="http://schemas.openxmlformats.org/drawingml/2006/main">
            <a:off x="648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190" name="Element-7"/>
          <p:cNvSpPr/>
          <p:nvPr/>
        </p:nvSpPr>
        <p:spPr>
          <a:xfrm xmlns:a="http://schemas.openxmlformats.org/drawingml/2006/main">
            <a:off x="2664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191" name="Element-8"/>
          <p:cNvSpPr/>
          <p:nvPr/>
        </p:nvSpPr>
        <p:spPr>
          <a:xfrm xmlns:a="http://schemas.openxmlformats.org/drawingml/2006/main">
            <a:off x="4680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192" name="Element-9"/>
          <p:cNvSpPr/>
          <p:nvPr/>
        </p:nvSpPr>
        <p:spPr>
          <a:xfrm xmlns:a="http://schemas.openxmlformats.org/drawingml/2006/main">
            <a:off x="6696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B60036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193" name="Element-10"/>
          <p:cNvSpPr/>
          <p:nvPr/>
        </p:nvSpPr>
        <p:spPr>
          <a:xfrm xmlns:a="http://schemas.openxmlformats.org/drawingml/2006/main">
            <a:off x="6696000" y="540000"/>
            <a:ext cx="1800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94" name="Element-11"/>
          <p:cNvSpPr/>
          <p:nvPr/>
        </p:nvSpPr>
        <p:spPr>
          <a:xfrm xmlns:a="http://schemas.openxmlformats.org/drawingml/2006/main">
            <a:off x="648000" y="6300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195" name="Element-12"/>
          <p:cNvSpPr/>
          <p:nvPr/>
        </p:nvSpPr>
        <p:spPr>
          <a:xfrm xmlns:a="http://schemas.openxmlformats.org/drawingml/2006/main">
            <a:off x="11016000" y="6300000"/>
            <a:ext cx="504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8</a:t>
            </a:r>
          </a:p>
        </p:txBody>
      </p:sp>
      <p:sp>
        <p:nvSpPr>
          <p:cNvPr id="100196" name="Element-13"/>
          <p:cNvSpPr/>
          <p:nvPr/>
        </p:nvSpPr>
        <p:spPr>
          <a:xfrm xmlns:a="http://schemas.openxmlformats.org/drawingml/2006/main">
            <a:off x="792000" y="1692000"/>
            <a:ext cx="1044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50" b="1" i="0">
                <a:solidFill>
                  <a:srgbClr val="B60036"/>
                </a:solidFill>
                <a:latin typeface="Arial"/>
                <a:ea typeface="Arial"/>
              </a:rPr>
              <a:t>All three are descriptive. None is a result of the six hypotheses.</a:t>
            </a:r>
          </a:p>
        </p:txBody>
      </p:sp>
      <p:sp>
        <p:nvSpPr>
          <p:cNvPr id="100197" name="k1"/>
          <p:cNvSpPr/>
          <p:nvPr/>
        </p:nvSpPr>
        <p:spPr>
          <a:xfrm xmlns:a="http://schemas.openxmlformats.org/drawingml/2006/main">
            <a:off x="792000" y="2124000"/>
            <a:ext cx="2376000" cy="50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FF6FC"/>
          </a:solidFill>
          <a:ln xmlns:a="http://schemas.openxmlformats.org/drawingml/2006/main" w="12700">
            <a:solidFill>
              <a:srgbClr val="1D5C96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800" b="1" i="0">
                <a:solidFill>
                  <a:srgbClr val="1D5C96"/>
                </a:solidFill>
                <a:latin typeface="Arial"/>
                <a:ea typeface="Arial"/>
              </a:rPr>
              <a:t>2 models</a:t>
            </a:r>
          </a:p>
        </p:txBody>
      </p:sp>
      <p:sp>
        <p:nvSpPr>
          <p:cNvPr id="100198" name="Element-15"/>
          <p:cNvSpPr/>
          <p:nvPr/>
        </p:nvSpPr>
        <p:spPr>
          <a:xfrm xmlns:a="http://schemas.openxmlformats.org/drawingml/2006/main">
            <a:off x="792000" y="2646000"/>
            <a:ext cx="2376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150" b="0" i="0">
                <a:solidFill>
                  <a:srgbClr val="5C626C"/>
                </a:solidFill>
                <a:latin typeface="Arial"/>
                <a:ea typeface="Arial"/>
              </a:rPr>
              <a:t>both succeed on both families</a:t>
            </a:r>
          </a:p>
        </p:txBody>
      </p:sp>
      <p:sp>
        <p:nvSpPr>
          <p:cNvPr id="100199" name="Element-16"/>
          <p:cNvSpPr/>
          <p:nvPr/>
        </p:nvSpPr>
        <p:spPr>
          <a:xfrm xmlns:a="http://schemas.openxmlformats.org/drawingml/2006/main">
            <a:off x="792000" y="3024000"/>
            <a:ext cx="2376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≈ 2× cost</a:t>
            </a:r>
          </a:p>
          <a:p xmlns:a="http://schemas.openxmlformats.org/drawingml/2006/main">
            <a:pPr algn="ctr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1.3–1.7× time</a:t>
            </a:r>
          </a:p>
        </p:txBody>
      </p:sp>
      <p:sp>
        <p:nvSpPr>
          <p:cNvPr id="100200" name="k2"/>
          <p:cNvSpPr/>
          <p:nvPr/>
        </p:nvSpPr>
        <p:spPr>
          <a:xfrm xmlns:a="http://schemas.openxmlformats.org/drawingml/2006/main">
            <a:off x="3672000" y="2124000"/>
            <a:ext cx="2376000" cy="50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FF6FC"/>
          </a:solidFill>
          <a:ln xmlns:a="http://schemas.openxmlformats.org/drawingml/2006/main" w="12700">
            <a:solidFill>
              <a:srgbClr val="1D5C96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800" b="1" i="0">
                <a:solidFill>
                  <a:srgbClr val="1D5C96"/>
                </a:solidFill>
                <a:latin typeface="Arial"/>
                <a:ea typeface="Arial"/>
              </a:rPr>
              <a:t>Variability</a:t>
            </a:r>
          </a:p>
        </p:txBody>
      </p:sp>
      <p:sp>
        <p:nvSpPr>
          <p:cNvPr id="100201" name="Element-18"/>
          <p:cNvSpPr/>
          <p:nvPr/>
        </p:nvSpPr>
        <p:spPr>
          <a:xfrm xmlns:a="http://schemas.openxmlformats.org/drawingml/2006/main">
            <a:off x="3672000" y="2646000"/>
            <a:ext cx="2376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550" b="1" i="0">
                <a:solidFill>
                  <a:srgbClr val="20252D"/>
                </a:solidFill>
                <a:latin typeface="Arial"/>
                <a:ea typeface="Arial"/>
              </a:rPr>
              <a:t>6 % – 46 %</a:t>
            </a:r>
          </a:p>
          <a:p xmlns:a="http://schemas.openxmlformats.org/drawingml/2006/main">
            <a:pPr algn="ctr"/>
            <a:r>
              <a:rPr lang="en-US" sz="1550" b="1" i="0">
                <a:solidFill>
                  <a:srgbClr val="20252D"/>
                </a:solidFill>
                <a:latin typeface="Arial"/>
                <a:ea typeface="Arial"/>
              </a:rPr>
              <a:t>across repetitions</a:t>
            </a:r>
          </a:p>
        </p:txBody>
      </p:sp>
      <p:sp>
        <p:nvSpPr>
          <p:cNvPr id="100202" name="Element-19"/>
          <p:cNvSpPr/>
          <p:nvPr/>
        </p:nvSpPr>
        <p:spPr>
          <a:xfrm xmlns:a="http://schemas.openxmlformats.org/drawingml/2006/main">
            <a:off x="3780000" y="3384000"/>
            <a:ext cx="2160000" cy="57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03" name="Element-20"/>
          <p:cNvSpPr/>
          <p:nvPr/>
        </p:nvSpPr>
        <p:spPr>
          <a:xfrm xmlns:a="http://schemas.openxmlformats.org/drawingml/2006/main">
            <a:off x="4039200" y="3384000"/>
            <a:ext cx="1728000" cy="57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04" name="Element-21"/>
          <p:cNvSpPr/>
          <p:nvPr/>
        </p:nvSpPr>
        <p:spPr>
          <a:xfrm xmlns:a="http://schemas.openxmlformats.org/drawingml/2006/main">
            <a:off x="3672000" y="3492000"/>
            <a:ext cx="504000" cy="2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6 %</a:t>
            </a:r>
          </a:p>
        </p:txBody>
      </p:sp>
      <p:sp>
        <p:nvSpPr>
          <p:cNvPr id="100205" name="Element-22"/>
          <p:cNvSpPr/>
          <p:nvPr/>
        </p:nvSpPr>
        <p:spPr>
          <a:xfrm xmlns:a="http://schemas.openxmlformats.org/drawingml/2006/main">
            <a:off x="5616000" y="3492000"/>
            <a:ext cx="504000" cy="2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46 %</a:t>
            </a:r>
          </a:p>
        </p:txBody>
      </p:sp>
      <p:sp>
        <p:nvSpPr>
          <p:cNvPr id="100206" name="Element-23"/>
          <p:cNvSpPr/>
          <p:nvPr/>
        </p:nvSpPr>
        <p:spPr>
          <a:xfrm xmlns:a="http://schemas.openxmlformats.org/drawingml/2006/main">
            <a:off x="3672000" y="3726000"/>
            <a:ext cx="2376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050" b="0" i="0">
                <a:solidFill>
                  <a:srgbClr val="5C626C"/>
                </a:solidFill>
                <a:latin typeface="Arial"/>
                <a:ea typeface="Arial"/>
              </a:rPr>
              <a:t>one cold model load excluded</a:t>
            </a:r>
          </a:p>
        </p:txBody>
      </p:sp>
      <p:sp>
        <p:nvSpPr>
          <p:cNvPr id="100207" name="k3"/>
          <p:cNvSpPr/>
          <p:nvPr/>
        </p:nvSpPr>
        <p:spPr>
          <a:xfrm xmlns:a="http://schemas.openxmlformats.org/drawingml/2006/main">
            <a:off x="6552000" y="2124000"/>
            <a:ext cx="2376000" cy="50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B60036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500" b="1" i="0">
                <a:solidFill>
                  <a:srgbClr val="B60036"/>
                </a:solidFill>
                <a:latin typeface="Arial"/>
                <a:ea typeface="Arial"/>
              </a:rPr>
              <a:t>1 discriminating case</a:t>
            </a:r>
          </a:p>
        </p:txBody>
      </p:sp>
      <p:sp>
        <p:nvSpPr>
          <p:cNvPr id="100208" name="Element-25"/>
          <p:cNvSpPr/>
          <p:nvPr/>
        </p:nvSpPr>
        <p:spPr>
          <a:xfrm xmlns:a="http://schemas.openxmlformats.org/drawingml/2006/main">
            <a:off x="6552000" y="2646000"/>
            <a:ext cx="2376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400" b="0" i="0">
                <a:solidFill>
                  <a:srgbClr val="20252D"/>
                </a:solidFill>
                <a:latin typeface="Arial"/>
                <a:ea typeface="Arial"/>
              </a:rPr>
              <a:t>access control</a:t>
            </a:r>
          </a:p>
          <a:p xmlns:a="http://schemas.openxmlformats.org/drawingml/2006/main">
            <a:pPr algn="ctr"/>
            <a:r>
              <a:rPr lang="en-US" sz="1400" b="0" i="0">
                <a:solidFill>
                  <a:srgbClr val="20252D"/>
                </a:solidFill>
                <a:latin typeface="Arial"/>
                <a:ea typeface="Arial"/>
              </a:rPr>
              <a:t>between organisations</a:t>
            </a:r>
          </a:p>
        </p:txBody>
      </p:sp>
      <p:sp>
        <p:nvSpPr>
          <p:cNvPr id="100209" name="Element-26"/>
          <p:cNvSpPr/>
          <p:nvPr/>
        </p:nvSpPr>
        <p:spPr>
          <a:xfrm xmlns:a="http://schemas.openxmlformats.org/drawingml/2006/main">
            <a:off x="6552000" y="3294000"/>
            <a:ext cx="2376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one repetition, not admitted</a:t>
            </a:r>
          </a:p>
        </p:txBody>
      </p:sp>
      <p:sp>
        <p:nvSpPr>
          <p:cNvPr id="100210" name="k4"/>
          <p:cNvSpPr/>
          <p:nvPr/>
        </p:nvSpPr>
        <p:spPr>
          <a:xfrm xmlns:a="http://schemas.openxmlformats.org/drawingml/2006/main">
            <a:off x="9432000" y="2124000"/>
            <a:ext cx="1944000" cy="50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800" b="1" i="0">
                <a:solidFill>
                  <a:srgbClr val="20252D"/>
                </a:solidFill>
                <a:latin typeface="Arial"/>
                <a:ea typeface="Arial"/>
              </a:rPr>
              <a:t>3 repetitions</a:t>
            </a:r>
          </a:p>
        </p:txBody>
      </p:sp>
      <p:sp>
        <p:nvSpPr>
          <p:cNvPr id="100211" name="Element-28"/>
          <p:cNvSpPr/>
          <p:nvPr/>
        </p:nvSpPr>
        <p:spPr>
          <a:xfrm xmlns:a="http://schemas.openxmlformats.org/drawingml/2006/main">
            <a:off x="9432000" y="2646000"/>
            <a:ext cx="1944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300" b="0" i="0">
                <a:solidFill>
                  <a:srgbClr val="5C626C"/>
                </a:solidFill>
                <a:latin typeface="Arial"/>
                <a:ea typeface="Arial"/>
              </a:rPr>
              <a:t>a dispersion,</a:t>
            </a:r>
          </a:p>
          <a:p xmlns:a="http://schemas.openxmlformats.org/drawingml/2006/main">
            <a:pPr algn="ctr"/>
            <a:r>
              <a:rPr lang="en-US" sz="1300" b="0" i="0">
                <a:solidFill>
                  <a:srgbClr val="5C626C"/>
                </a:solidFill>
                <a:latin typeface="Arial"/>
                <a:ea typeface="Arial"/>
              </a:rPr>
              <a:t>not a sample</a:t>
            </a:r>
          </a:p>
        </p:txBody>
      </p:sp>
      <p:sp>
        <p:nvSpPr>
          <p:cNvPr id="100212" name="Element-29"/>
          <p:cNvSpPr/>
          <p:nvPr/>
        </p:nvSpPr>
        <p:spPr>
          <a:xfrm xmlns:a="http://schemas.openxmlformats.org/drawingml/2006/main">
            <a:off x="792000" y="3816000"/>
            <a:ext cx="10440000" cy="2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1" i="0">
                <a:solidFill>
                  <a:srgbClr val="B60036"/>
                </a:solidFill>
                <a:latin typeface="Arial"/>
                <a:ea typeface="Arial"/>
              </a:rPr>
              <a:t>The discriminating case</a:t>
            </a:r>
          </a:p>
        </p:txBody>
      </p:sp>
      <p:sp>
        <p:nvSpPr>
          <p:cNvPr id="100213" name="sc"/>
          <p:cNvSpPr/>
          <p:nvPr/>
        </p:nvSpPr>
        <p:spPr>
          <a:xfrm xmlns:a="http://schemas.openxmlformats.org/drawingml/2006/main">
            <a:off x="792000" y="4068000"/>
            <a:ext cx="3384000" cy="46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Scripted comparator</a:t>
            </a:r>
          </a:p>
        </p:txBody>
      </p:sp>
      <p:sp>
        <p:nvSpPr>
          <p:cNvPr id="100214" name="md"/>
          <p:cNvSpPr/>
          <p:nvPr/>
        </p:nvSpPr>
        <p:spPr>
          <a:xfrm xmlns:a="http://schemas.openxmlformats.org/drawingml/2006/main">
            <a:off x="4536000" y="4068000"/>
            <a:ext cx="3384000" cy="46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400" b="1" i="0">
                <a:solidFill>
                  <a:srgbClr val="20252D"/>
                </a:solidFill>
                <a:latin typeface="Arial"/>
                <a:ea typeface="Arial"/>
              </a:rPr>
              <a:t>Model</a:t>
            </a:r>
          </a:p>
        </p:txBody>
      </p:sp>
      <p:sp>
        <p:nvSpPr>
          <p:cNvPr id="100215" name="bd"/>
          <p:cNvSpPr/>
          <p:nvPr/>
        </p:nvSpPr>
        <p:spPr>
          <a:xfrm xmlns:a="http://schemas.openxmlformats.org/drawingml/2006/main">
            <a:off x="8280000" y="4068000"/>
            <a:ext cx="2952000" cy="46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B60036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400" b="1" i="0">
                <a:solidFill>
                  <a:srgbClr val="B60036"/>
                </a:solidFill>
                <a:latin typeface="Arial"/>
                <a:ea typeface="Arial"/>
              </a:rPr>
              <a:t>Boundary</a:t>
            </a:r>
          </a:p>
        </p:txBody>
      </p:sp>
      <p:sp>
        <p:nvSpPr>
          <p:cNvPr id="100216" name="Element-33"/>
          <p:cNvSpPr/>
          <p:nvPr/>
        </p:nvSpPr>
        <p:spPr>
          <a:xfrm xmlns:a="http://schemas.openxmlformats.org/drawingml/2006/main">
            <a:off x="792000" y="4572000"/>
            <a:ext cx="3384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100" b="0" i="0">
                <a:solidFill>
                  <a:srgbClr val="5C626C"/>
                </a:solidFill>
                <a:latin typeface="Arial"/>
                <a:ea typeface="Arial"/>
              </a:rPr>
              <a:t>stops at the object boundary</a:t>
            </a:r>
          </a:p>
          <a:p xmlns:a="http://schemas.openxmlformats.org/drawingml/2006/main">
            <a:pPr algn="l"/>
            <a:r>
              <a:rPr lang="en-US" sz="1100" b="0" i="0">
                <a:solidFill>
                  <a:srgbClr val="5C626C"/>
                </a:solidFill>
                <a:latin typeface="Arial"/>
                <a:ea typeface="Arial"/>
              </a:rPr>
              <a:t>declared in advance</a:t>
            </a:r>
          </a:p>
        </p:txBody>
      </p:sp>
      <p:sp>
        <p:nvSpPr>
          <p:cNvPr id="100217" name="Element-34"/>
          <p:cNvSpPr/>
          <p:nvPr/>
        </p:nvSpPr>
        <p:spPr>
          <a:xfrm xmlns:a="http://schemas.openxmlformats.org/drawingml/2006/main">
            <a:off x="4536000" y="4572000"/>
            <a:ext cx="3384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100" b="0" i="0">
                <a:solidFill>
                  <a:srgbClr val="5C626C"/>
                </a:solidFill>
                <a:latin typeface="Arial"/>
                <a:ea typeface="Arial"/>
              </a:rPr>
              <a:t>follows the published policy</a:t>
            </a:r>
          </a:p>
          <a:p xmlns:a="http://schemas.openxmlformats.org/drawingml/2006/main">
            <a:pPr algn="l"/>
            <a:r>
              <a:rPr lang="en-US" sz="1100" b="0" i="0">
                <a:solidFill>
                  <a:srgbClr val="5C626C"/>
                </a:solidFill>
                <a:latin typeface="Arial"/>
                <a:ea typeface="Arial"/>
              </a:rPr>
              <a:t>and crosses that boundary</a:t>
            </a:r>
          </a:p>
        </p:txBody>
      </p:sp>
      <p:sp>
        <p:nvSpPr>
          <p:cNvPr id="100218" name="Element-35"/>
          <p:cNvSpPr/>
          <p:nvPr/>
        </p:nvSpPr>
        <p:spPr>
          <a:xfrm xmlns:a="http://schemas.openxmlformats.org/drawingml/2006/main">
            <a:off x="8280000" y="4572000"/>
            <a:ext cx="2952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B60036"/>
                </a:solidFill>
                <a:latin typeface="Arial"/>
                <a:ea typeface="Arial"/>
              </a:rPr>
              <a:t>the script never inspects it</a:t>
            </a:r>
          </a:p>
        </p:txBody>
      </p:sp>
      <p:sp>
        <p:nvSpPr>
          <p:cNvPr id="100219" name="Element-36"/>
          <p:cNvSpPr/>
          <p:nvPr/>
        </p:nvSpPr>
        <p:spPr>
          <a:xfrm xmlns:a="http://schemas.openxmlformats.org/drawingml/2006/main">
            <a:off x="792000" y="5148000"/>
            <a:ext cx="1044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700" b="1" i="0">
                <a:solidFill>
                  <a:srgbClr val="B60036"/>
                </a:solidFill>
                <a:latin typeface="Arial"/>
                <a:ea typeface="Arial"/>
              </a:rPr>
              <a:t>That is coverage, not intelligence.</a:t>
            </a:r>
          </a:p>
        </p:txBody>
      </p:sp>
      <p:sp>
        <p:nvSpPr>
          <p:cNvPr id="100220" name="Element-37"/>
          <p:cNvSpPr/>
          <p:nvPr/>
        </p:nvSpPr>
        <p:spPr>
          <a:xfrm xmlns:a="http://schemas.openxmlformats.org/drawingml/2006/main">
            <a:off x="792000" y="5544000"/>
            <a:ext cx="1044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150" b="0" i="0">
                <a:solidFill>
                  <a:srgbClr val="5C626C"/>
                </a:solidFill>
                <a:latin typeface="Arial"/>
                <a:ea typeface="Arial"/>
              </a:rPr>
              <a:t>The script is deliberately built to stop where it stops. The comparison measures the declared limit of the baseline, not a capability gap.</a:t>
            </a:r>
          </a:p>
        </p:txBody>
      </p:sp>
    </p:spTree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221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8880d9fc2d401a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92000" y="223200"/>
            <a:ext cx="1692000" cy="579864"/>
          </a:xfrm>
          <a:prstGeom xmlns:a="http://schemas.openxmlformats.org/drawingml/2006/main" prst="rect">
            <a:avLst/>
          </a:prstGeom>
        </p:spPr>
      </p:pic>
      <p:sp>
        <p:nvSpPr>
          <p:cNvPr id="100222" name="Title"/>
          <p:cNvSpPr/>
          <p:nvPr/>
        </p:nvSpPr>
        <p:spPr>
          <a:xfrm xmlns:a="http://schemas.openxmlformats.org/drawingml/2006/main">
            <a:off x="648000" y="630000"/>
            <a:ext cx="8928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What we cannot claim</a:t>
            </a:r>
          </a:p>
        </p:txBody>
      </p:sp>
      <p:sp>
        <p:nvSpPr>
          <p:cNvPr id="100223" name="Element-5"/>
          <p:cNvSpPr/>
          <p:nvPr/>
        </p:nvSpPr>
        <p:spPr>
          <a:xfrm xmlns:a="http://schemas.openxmlformats.org/drawingml/2006/main">
            <a:off x="648000" y="1422000"/>
            <a:ext cx="12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24" name="Element-6"/>
          <p:cNvSpPr/>
          <p:nvPr/>
        </p:nvSpPr>
        <p:spPr>
          <a:xfrm xmlns:a="http://schemas.openxmlformats.org/drawingml/2006/main">
            <a:off x="648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225" name="Element-7"/>
          <p:cNvSpPr/>
          <p:nvPr/>
        </p:nvSpPr>
        <p:spPr>
          <a:xfrm xmlns:a="http://schemas.openxmlformats.org/drawingml/2006/main">
            <a:off x="2664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226" name="Element-8"/>
          <p:cNvSpPr/>
          <p:nvPr/>
        </p:nvSpPr>
        <p:spPr>
          <a:xfrm xmlns:a="http://schemas.openxmlformats.org/drawingml/2006/main">
            <a:off x="4680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227" name="Element-9"/>
          <p:cNvSpPr/>
          <p:nvPr/>
        </p:nvSpPr>
        <p:spPr>
          <a:xfrm xmlns:a="http://schemas.openxmlformats.org/drawingml/2006/main">
            <a:off x="6696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B60036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228" name="Element-10"/>
          <p:cNvSpPr/>
          <p:nvPr/>
        </p:nvSpPr>
        <p:spPr>
          <a:xfrm xmlns:a="http://schemas.openxmlformats.org/drawingml/2006/main">
            <a:off x="6696000" y="540000"/>
            <a:ext cx="1800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29" name="Element-11"/>
          <p:cNvSpPr/>
          <p:nvPr/>
        </p:nvSpPr>
        <p:spPr>
          <a:xfrm xmlns:a="http://schemas.openxmlformats.org/drawingml/2006/main">
            <a:off x="648000" y="6300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230" name="Element-12"/>
          <p:cNvSpPr/>
          <p:nvPr/>
        </p:nvSpPr>
        <p:spPr>
          <a:xfrm xmlns:a="http://schemas.openxmlformats.org/drawingml/2006/main">
            <a:off x="11016000" y="6300000"/>
            <a:ext cx="504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9</a:t>
            </a:r>
          </a:p>
        </p:txBody>
      </p:sp>
      <p:sp>
        <p:nvSpPr>
          <p:cNvPr id="100231" name="Element-13"/>
          <p:cNvSpPr/>
          <p:nvPr/>
        </p:nvSpPr>
        <p:spPr>
          <a:xfrm xmlns:a="http://schemas.openxmlformats.org/drawingml/2006/main">
            <a:off x="792000" y="1872000"/>
            <a:ext cx="5112000" cy="14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32" name="Element-14"/>
          <p:cNvSpPr/>
          <p:nvPr/>
        </p:nvSpPr>
        <p:spPr>
          <a:xfrm xmlns:a="http://schemas.openxmlformats.org/drawingml/2006/main">
            <a:off x="1008000" y="2034000"/>
            <a:ext cx="432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700" b="1" i="0">
                <a:solidFill>
                  <a:srgbClr val="B60036"/>
                </a:solidFill>
                <a:latin typeface="Arial"/>
                <a:ea typeface="Arial"/>
              </a:rPr>
              <a:t>✕</a:t>
            </a:r>
          </a:p>
        </p:txBody>
      </p:sp>
      <p:sp>
        <p:nvSpPr>
          <p:cNvPr id="100233" name="Element-15"/>
          <p:cNvSpPr/>
          <p:nvPr/>
        </p:nvSpPr>
        <p:spPr>
          <a:xfrm xmlns:a="http://schemas.openxmlformats.org/drawingml/2006/main">
            <a:off x="1512000" y="2034000"/>
            <a:ext cx="4104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700" b="1" i="0">
                <a:solidFill>
                  <a:srgbClr val="B60036"/>
                </a:solidFill>
                <a:latin typeface="Arial"/>
                <a:ea typeface="Arial"/>
              </a:rPr>
              <a:t>No general advantage</a:t>
            </a:r>
          </a:p>
        </p:txBody>
      </p:sp>
      <p:sp>
        <p:nvSpPr>
          <p:cNvPr id="100234" name="Element-16"/>
          <p:cNvSpPr/>
          <p:nvPr/>
        </p:nvSpPr>
        <p:spPr>
          <a:xfrm xmlns:a="http://schemas.openxmlformats.org/drawingml/2006/main">
            <a:off x="1008000" y="2448000"/>
            <a:ext cx="46800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00" b="0" i="0">
                <a:solidFill>
                  <a:srgbClr val="20252D"/>
                </a:solidFill>
                <a:latin typeface="Arial"/>
                <a:ea typeface="Arial"/>
              </a:rPr>
              <a:t>No hypothesis of the register has been executed yet. A measured gain is still ahead.</a:t>
            </a:r>
          </a:p>
        </p:txBody>
      </p:sp>
      <p:sp>
        <p:nvSpPr>
          <p:cNvPr id="100235" name="Element-17"/>
          <p:cNvSpPr/>
          <p:nvPr/>
        </p:nvSpPr>
        <p:spPr>
          <a:xfrm xmlns:a="http://schemas.openxmlformats.org/drawingml/2006/main">
            <a:off x="6156000" y="1872000"/>
            <a:ext cx="5112000" cy="14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36" name="Element-18"/>
          <p:cNvSpPr/>
          <p:nvPr/>
        </p:nvSpPr>
        <p:spPr>
          <a:xfrm xmlns:a="http://schemas.openxmlformats.org/drawingml/2006/main">
            <a:off x="6372000" y="2034000"/>
            <a:ext cx="432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700" b="1" i="0">
                <a:solidFill>
                  <a:srgbClr val="B60036"/>
                </a:solidFill>
                <a:latin typeface="Arial"/>
                <a:ea typeface="Arial"/>
              </a:rPr>
              <a:t>✕</a:t>
            </a:r>
          </a:p>
        </p:txBody>
      </p:sp>
      <p:sp>
        <p:nvSpPr>
          <p:cNvPr id="100237" name="Element-19"/>
          <p:cNvSpPr/>
          <p:nvPr/>
        </p:nvSpPr>
        <p:spPr>
          <a:xfrm xmlns:a="http://schemas.openxmlformats.org/drawingml/2006/main">
            <a:off x="6876000" y="2034000"/>
            <a:ext cx="4104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700" b="1" i="0">
                <a:solidFill>
                  <a:srgbClr val="B60036"/>
                </a:solidFill>
                <a:latin typeface="Arial"/>
                <a:ea typeface="Arial"/>
              </a:rPr>
              <a:t>No confidence interval</a:t>
            </a:r>
          </a:p>
        </p:txBody>
      </p:sp>
      <p:sp>
        <p:nvSpPr>
          <p:cNvPr id="100238" name="Element-20"/>
          <p:cNvSpPr/>
          <p:nvPr/>
        </p:nvSpPr>
        <p:spPr>
          <a:xfrm xmlns:a="http://schemas.openxmlformats.org/drawingml/2006/main">
            <a:off x="6372000" y="2448000"/>
            <a:ext cx="46800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00" b="0" i="0">
                <a:solidFill>
                  <a:srgbClr val="20252D"/>
                </a:solidFill>
                <a:latin typeface="Arial"/>
                <a:ea typeface="Arial"/>
              </a:rPr>
              <a:t>One family per harness. Three repetitions give a dispersion, not statistical inference.</a:t>
            </a:r>
          </a:p>
        </p:txBody>
      </p:sp>
      <p:sp>
        <p:nvSpPr>
          <p:cNvPr id="100239" name="Element-21"/>
          <p:cNvSpPr/>
          <p:nvPr/>
        </p:nvSpPr>
        <p:spPr>
          <a:xfrm xmlns:a="http://schemas.openxmlformats.org/drawingml/2006/main">
            <a:off x="792000" y="3528000"/>
            <a:ext cx="5112000" cy="14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40" name="Element-22"/>
          <p:cNvSpPr/>
          <p:nvPr/>
        </p:nvSpPr>
        <p:spPr>
          <a:xfrm xmlns:a="http://schemas.openxmlformats.org/drawingml/2006/main">
            <a:off x="1008000" y="3690000"/>
            <a:ext cx="432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700" b="1" i="0">
                <a:solidFill>
                  <a:srgbClr val="B60036"/>
                </a:solidFill>
                <a:latin typeface="Arial"/>
                <a:ea typeface="Arial"/>
              </a:rPr>
              <a:t>✕</a:t>
            </a:r>
          </a:p>
        </p:txBody>
      </p:sp>
      <p:sp>
        <p:nvSpPr>
          <p:cNvPr id="100241" name="Element-23"/>
          <p:cNvSpPr/>
          <p:nvPr/>
        </p:nvSpPr>
        <p:spPr>
          <a:xfrm xmlns:a="http://schemas.openxmlformats.org/drawingml/2006/main">
            <a:off x="1512000" y="3690000"/>
            <a:ext cx="4104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700" b="1" i="0">
                <a:solidFill>
                  <a:srgbClr val="B60036"/>
                </a:solidFill>
                <a:latin typeface="Arial"/>
                <a:ea typeface="Arial"/>
              </a:rPr>
              <a:t>Nothing admitted</a:t>
            </a:r>
          </a:p>
        </p:txBody>
      </p:sp>
      <p:sp>
        <p:nvSpPr>
          <p:cNvPr id="100242" name="Element-24"/>
          <p:cNvSpPr/>
          <p:nvPr/>
        </p:nvSpPr>
        <p:spPr>
          <a:xfrm xmlns:a="http://schemas.openxmlformats.org/drawingml/2006/main">
            <a:off x="1008000" y="4104000"/>
            <a:ext cx="46800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00" b="0" i="0">
                <a:solidFill>
                  <a:srgbClr val="20252D"/>
                </a:solidFill>
                <a:latin typeface="Arial"/>
                <a:ea typeface="Arial"/>
              </a:rPr>
              <a:t>The metric definition is not frozen, so no campaign can serve as confirmatory evidence.</a:t>
            </a:r>
          </a:p>
        </p:txBody>
      </p:sp>
      <p:sp>
        <p:nvSpPr>
          <p:cNvPr id="100243" name="Element-25"/>
          <p:cNvSpPr/>
          <p:nvPr/>
        </p:nvSpPr>
        <p:spPr>
          <a:xfrm xmlns:a="http://schemas.openxmlformats.org/drawingml/2006/main">
            <a:off x="6156000" y="3528000"/>
            <a:ext cx="5112000" cy="14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44" name="Element-26"/>
          <p:cNvSpPr/>
          <p:nvPr/>
        </p:nvSpPr>
        <p:spPr>
          <a:xfrm xmlns:a="http://schemas.openxmlformats.org/drawingml/2006/main">
            <a:off x="6372000" y="3690000"/>
            <a:ext cx="432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700" b="1" i="0">
                <a:solidFill>
                  <a:srgbClr val="B60036"/>
                </a:solidFill>
                <a:latin typeface="Arial"/>
                <a:ea typeface="Arial"/>
              </a:rPr>
              <a:t>✕</a:t>
            </a:r>
          </a:p>
        </p:txBody>
      </p:sp>
      <p:sp>
        <p:nvSpPr>
          <p:cNvPr id="100245" name="Element-27"/>
          <p:cNvSpPr/>
          <p:nvPr/>
        </p:nvSpPr>
        <p:spPr>
          <a:xfrm xmlns:a="http://schemas.openxmlformats.org/drawingml/2006/main">
            <a:off x="6876000" y="3690000"/>
            <a:ext cx="4104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700" b="1" i="0">
                <a:solidFill>
                  <a:srgbClr val="B60036"/>
                </a:solidFill>
                <a:latin typeface="Arial"/>
                <a:ea typeface="Arial"/>
              </a:rPr>
              <a:t>No measured cost</a:t>
            </a:r>
          </a:p>
        </p:txBody>
      </p:sp>
      <p:sp>
        <p:nvSpPr>
          <p:cNvPr id="100246" name="Element-28"/>
          <p:cNvSpPr/>
          <p:nvPr/>
        </p:nvSpPr>
        <p:spPr>
          <a:xfrm xmlns:a="http://schemas.openxmlformats.org/drawingml/2006/main">
            <a:off x="6372000" y="4104000"/>
            <a:ext cx="46800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00" b="0" i="0">
                <a:solidFill>
                  <a:srgbClr val="20252D"/>
                </a:solidFill>
                <a:latin typeface="Arial"/>
                <a:ea typeface="Arial"/>
              </a:rPr>
              <a:t>Neither billed nor hardware cost. Tariff estimates are not a monetary measurement.</a:t>
            </a:r>
          </a:p>
        </p:txBody>
      </p:sp>
      <p:sp>
        <p:nvSpPr>
          <p:cNvPr id="100247" name="Element-29"/>
          <p:cNvSpPr/>
          <p:nvPr/>
        </p:nvSpPr>
        <p:spPr>
          <a:xfrm xmlns:a="http://schemas.openxmlformats.org/drawingml/2006/main">
            <a:off x="792000" y="5364000"/>
            <a:ext cx="1044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150" b="0" i="0">
                <a:solidFill>
                  <a:srgbClr val="5C626C"/>
                </a:solidFill>
                <a:latin typeface="Arial"/>
                <a:ea typeface="Arial"/>
              </a:rPr>
              <a:t>And one lesson we keep: a “green run” is not an exploitable measurement — an early run was green while every model arm had failed.</a:t>
            </a:r>
          </a:p>
        </p:txBody>
      </p:sp>
    </p:spTree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248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8d13fe84744c4e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92000" y="223200"/>
            <a:ext cx="1692000" cy="579864"/>
          </a:xfrm>
          <a:prstGeom xmlns:a="http://schemas.openxmlformats.org/drawingml/2006/main" prst="rect">
            <a:avLst/>
          </a:prstGeom>
        </p:spPr>
      </p:pic>
      <p:sp>
        <p:nvSpPr>
          <p:cNvPr id="100249" name="Title"/>
          <p:cNvSpPr/>
          <p:nvPr/>
        </p:nvSpPr>
        <p:spPr>
          <a:xfrm xmlns:a="http://schemas.openxmlformats.org/drawingml/2006/main">
            <a:off x="648000" y="630000"/>
            <a:ext cx="8928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Next steps, and what would help</a:t>
            </a:r>
          </a:p>
        </p:txBody>
      </p:sp>
      <p:sp>
        <p:nvSpPr>
          <p:cNvPr id="100250" name="Element-5"/>
          <p:cNvSpPr/>
          <p:nvPr/>
        </p:nvSpPr>
        <p:spPr>
          <a:xfrm xmlns:a="http://schemas.openxmlformats.org/drawingml/2006/main">
            <a:off x="648000" y="1422000"/>
            <a:ext cx="12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51" name="Element-6"/>
          <p:cNvSpPr/>
          <p:nvPr/>
        </p:nvSpPr>
        <p:spPr>
          <a:xfrm xmlns:a="http://schemas.openxmlformats.org/drawingml/2006/main">
            <a:off x="648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252" name="Element-7"/>
          <p:cNvSpPr/>
          <p:nvPr/>
        </p:nvSpPr>
        <p:spPr>
          <a:xfrm xmlns:a="http://schemas.openxmlformats.org/drawingml/2006/main">
            <a:off x="2664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253" name="Element-8"/>
          <p:cNvSpPr/>
          <p:nvPr/>
        </p:nvSpPr>
        <p:spPr>
          <a:xfrm xmlns:a="http://schemas.openxmlformats.org/drawingml/2006/main">
            <a:off x="4680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254" name="Element-9"/>
          <p:cNvSpPr/>
          <p:nvPr/>
        </p:nvSpPr>
        <p:spPr>
          <a:xfrm xmlns:a="http://schemas.openxmlformats.org/drawingml/2006/main">
            <a:off x="6696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B60036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255" name="Element-10"/>
          <p:cNvSpPr/>
          <p:nvPr/>
        </p:nvSpPr>
        <p:spPr>
          <a:xfrm xmlns:a="http://schemas.openxmlformats.org/drawingml/2006/main">
            <a:off x="6696000" y="540000"/>
            <a:ext cx="1800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56" name="Element-11"/>
          <p:cNvSpPr/>
          <p:nvPr/>
        </p:nvSpPr>
        <p:spPr>
          <a:xfrm xmlns:a="http://schemas.openxmlformats.org/drawingml/2006/main">
            <a:off x="648000" y="6300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257" name="Element-12"/>
          <p:cNvSpPr/>
          <p:nvPr/>
        </p:nvSpPr>
        <p:spPr>
          <a:xfrm xmlns:a="http://schemas.openxmlformats.org/drawingml/2006/main">
            <a:off x="11016000" y="6300000"/>
            <a:ext cx="504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10</a:t>
            </a:r>
          </a:p>
        </p:txBody>
      </p:sp>
      <p:sp>
        <p:nvSpPr>
          <p:cNvPr id="100258" name="Element-13"/>
          <p:cNvSpPr/>
          <p:nvPr/>
        </p:nvSpPr>
        <p:spPr>
          <a:xfrm xmlns:a="http://schemas.openxmlformats.org/drawingml/2006/main">
            <a:off x="792000" y="1854000"/>
            <a:ext cx="504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50" b="1" i="0">
                <a:solidFill>
                  <a:srgbClr val="B60036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00259" name="Element-14"/>
          <p:cNvSpPr/>
          <p:nvPr/>
        </p:nvSpPr>
        <p:spPr>
          <a:xfrm xmlns:a="http://schemas.openxmlformats.org/drawingml/2006/main">
            <a:off x="1404000" y="1764000"/>
            <a:ext cx="446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20252D"/>
                </a:solidFill>
                <a:latin typeface="Arial"/>
                <a:ea typeface="Arial"/>
              </a:rPr>
              <a:t>V0 on a held-out instance</a:t>
            </a:r>
          </a:p>
        </p:txBody>
      </p:sp>
      <p:sp>
        <p:nvSpPr>
          <p:cNvPr id="100260" name="Element-15"/>
          <p:cNvSpPr/>
          <p:nvPr/>
        </p:nvSpPr>
        <p:spPr>
          <a:xfrm xmlns:a="http://schemas.openxmlformats.org/drawingml/2006/main">
            <a:off x="1404000" y="2070000"/>
            <a:ext cx="446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100" b="0" i="0">
                <a:solidFill>
                  <a:srgbClr val="5C626C"/>
                </a:solidFill>
                <a:latin typeface="Arial"/>
                <a:ea typeface="Arial"/>
              </a:rPr>
              <a:t>MQTT as it stands; SSH after the dictionary is randomised</a:t>
            </a:r>
          </a:p>
        </p:txBody>
      </p:sp>
      <p:sp>
        <p:nvSpPr>
          <p:cNvPr id="100261" name="Element-16"/>
          <p:cNvSpPr/>
          <p:nvPr/>
        </p:nvSpPr>
        <p:spPr>
          <a:xfrm xmlns:a="http://schemas.openxmlformats.org/drawingml/2006/main">
            <a:off x="1033200" y="2304000"/>
            <a:ext cx="21600" cy="3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62" name="Element-17"/>
          <p:cNvSpPr/>
          <p:nvPr/>
        </p:nvSpPr>
        <p:spPr>
          <a:xfrm xmlns:a="http://schemas.openxmlformats.org/drawingml/2006/main">
            <a:off x="792000" y="2736000"/>
            <a:ext cx="504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50" b="1" i="0">
                <a:solidFill>
                  <a:srgbClr val="B60036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00263" name="Element-18"/>
          <p:cNvSpPr/>
          <p:nvPr/>
        </p:nvSpPr>
        <p:spPr>
          <a:xfrm xmlns:a="http://schemas.openxmlformats.org/drawingml/2006/main">
            <a:off x="1404000" y="2646000"/>
            <a:ext cx="446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20252D"/>
                </a:solidFill>
                <a:latin typeface="Arial"/>
                <a:ea typeface="Arial"/>
              </a:rPr>
              <a:t>A parameterisable harness</a:t>
            </a:r>
          </a:p>
        </p:txBody>
      </p:sp>
      <p:sp>
        <p:nvSpPr>
          <p:cNvPr id="100264" name="Element-19"/>
          <p:cNvSpPr/>
          <p:nvPr/>
        </p:nvSpPr>
        <p:spPr>
          <a:xfrm xmlns:a="http://schemas.openxmlformats.org/drawingml/2006/main">
            <a:off x="1404000" y="2952000"/>
            <a:ext cx="446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00" b="0" i="0">
                <a:solidFill>
                  <a:srgbClr val="5C626C"/>
                </a:solidFill>
                <a:latin typeface="Arial"/>
                <a:ea typeface="Arial"/>
              </a:rPr>
              <a:t>today one scenario is a locked module; adding a family duplicates code</a:t>
            </a:r>
          </a:p>
        </p:txBody>
      </p:sp>
      <p:sp>
        <p:nvSpPr>
          <p:cNvPr id="100265" name="Element-20"/>
          <p:cNvSpPr/>
          <p:nvPr/>
        </p:nvSpPr>
        <p:spPr>
          <a:xfrm xmlns:a="http://schemas.openxmlformats.org/drawingml/2006/main">
            <a:off x="1033200" y="3186000"/>
            <a:ext cx="21600" cy="3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66" name="Element-21"/>
          <p:cNvSpPr/>
          <p:nvPr/>
        </p:nvSpPr>
        <p:spPr>
          <a:xfrm xmlns:a="http://schemas.openxmlformats.org/drawingml/2006/main">
            <a:off x="792000" y="3618000"/>
            <a:ext cx="504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50" b="1" i="0">
                <a:solidFill>
                  <a:srgbClr val="B60036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00267" name="Element-22"/>
          <p:cNvSpPr/>
          <p:nvPr/>
        </p:nvSpPr>
        <p:spPr>
          <a:xfrm xmlns:a="http://schemas.openxmlformats.org/drawingml/2006/main">
            <a:off x="1404000" y="3528000"/>
            <a:ext cx="446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20252D"/>
                </a:solidFill>
                <a:latin typeface="Arial"/>
                <a:ea typeface="Arial"/>
              </a:rPr>
              <a:t>Families for H2, H3, H4</a:t>
            </a:r>
          </a:p>
        </p:txBody>
      </p:sp>
      <p:sp>
        <p:nvSpPr>
          <p:cNvPr id="100268" name="Element-23"/>
          <p:cNvSpPr/>
          <p:nvPr/>
        </p:nvSpPr>
        <p:spPr>
          <a:xfrm xmlns:a="http://schemas.openxmlformats.org/drawingml/2006/main">
            <a:off x="1404000" y="3834000"/>
            <a:ext cx="446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private ground truth, declared baseline, evaluator</a:t>
            </a:r>
          </a:p>
        </p:txBody>
      </p:sp>
      <p:sp>
        <p:nvSpPr>
          <p:cNvPr id="100269" name="Element-24"/>
          <p:cNvSpPr/>
          <p:nvPr/>
        </p:nvSpPr>
        <p:spPr>
          <a:xfrm xmlns:a="http://schemas.openxmlformats.org/drawingml/2006/main">
            <a:off x="1033200" y="4068000"/>
            <a:ext cx="21600" cy="3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70" name="Element-25"/>
          <p:cNvSpPr/>
          <p:nvPr/>
        </p:nvSpPr>
        <p:spPr>
          <a:xfrm xmlns:a="http://schemas.openxmlformats.org/drawingml/2006/main">
            <a:off x="792000" y="4500000"/>
            <a:ext cx="504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50" b="1" i="0">
                <a:solidFill>
                  <a:srgbClr val="B60036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100271" name="Element-26"/>
          <p:cNvSpPr/>
          <p:nvPr/>
        </p:nvSpPr>
        <p:spPr>
          <a:xfrm xmlns:a="http://schemas.openxmlformats.org/drawingml/2006/main">
            <a:off x="1404000" y="4410000"/>
            <a:ext cx="446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20252D"/>
                </a:solidFill>
                <a:latin typeface="Arial"/>
                <a:ea typeface="Arial"/>
              </a:rPr>
              <a:t>The platform</a:t>
            </a:r>
          </a:p>
        </p:txBody>
      </p:sp>
      <p:sp>
        <p:nvSpPr>
          <p:cNvPr id="100272" name="Element-27"/>
          <p:cNvSpPr/>
          <p:nvPr/>
        </p:nvSpPr>
        <p:spPr>
          <a:xfrm xmlns:a="http://schemas.openxmlformats.org/drawingml/2006/main">
            <a:off x="1404000" y="4716000"/>
            <a:ext cx="446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5C626C"/>
                </a:solidFill>
                <a:latin typeface="Arial"/>
                <a:ea typeface="Arial"/>
              </a:rPr>
              <a:t>reproducible deployment, launch, follow-up, retrieval</a:t>
            </a:r>
          </a:p>
        </p:txBody>
      </p:sp>
      <p:sp>
        <p:nvSpPr>
          <p:cNvPr id="100273" name="Element-28"/>
          <p:cNvSpPr/>
          <p:nvPr/>
        </p:nvSpPr>
        <p:spPr>
          <a:xfrm xmlns:a="http://schemas.openxmlformats.org/drawingml/2006/main">
            <a:off x="6480000" y="1764000"/>
            <a:ext cx="5256000" cy="208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74" name="Element-29"/>
          <p:cNvSpPr/>
          <p:nvPr/>
        </p:nvSpPr>
        <p:spPr>
          <a:xfrm xmlns:a="http://schemas.openxmlformats.org/drawingml/2006/main">
            <a:off x="6696000" y="1872000"/>
            <a:ext cx="4824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150" b="1" i="0">
                <a:solidFill>
                  <a:srgbClr val="B60036"/>
                </a:solidFill>
                <a:latin typeface="Arial"/>
                <a:ea typeface="Arial"/>
              </a:rPr>
              <a:t>What would help most</a:t>
            </a:r>
          </a:p>
        </p:txBody>
      </p:sp>
      <p:sp>
        <p:nvSpPr>
          <p:cNvPr id="100275" name="Element-30"/>
          <p:cNvSpPr/>
          <p:nvPr/>
        </p:nvSpPr>
        <p:spPr>
          <a:xfrm xmlns:a="http://schemas.openxmlformats.org/drawingml/2006/main">
            <a:off x="6696000" y="2196000"/>
            <a:ext cx="4824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00" b="0" i="0">
                <a:solidFill>
                  <a:srgbClr val="20252D"/>
                </a:solidFill>
                <a:latin typeface="Arial"/>
                <a:ea typeface="Arial"/>
              </a:rPr>
              <a:t>• real vendor artifacts — H2 and H4 lack a corpus</a:t>
            </a:r>
          </a:p>
          <a:p xmlns:a="http://schemas.openxmlformats.org/drawingml/2006/main">
            <a:pPr algn="l"/>
            <a:r>
              <a:rPr lang="en-US" sz="1300" b="0" i="0">
                <a:solidFill>
                  <a:srgbClr val="20252D"/>
                </a:solidFill>
                <a:latin typeface="Arial"/>
                <a:ea typeface="Arial"/>
              </a:rPr>
              <a:t>• an adversarial review of the register, on falsifiability grounds</a:t>
            </a:r>
          </a:p>
        </p:txBody>
      </p:sp>
      <p:sp>
        <p:nvSpPr>
          <p:cNvPr id="100276" name="Element-31"/>
          <p:cNvSpPr/>
          <p:nvPr/>
        </p:nvSpPr>
        <p:spPr>
          <a:xfrm xmlns:a="http://schemas.openxmlformats.org/drawingml/2006/main">
            <a:off x="6480000" y="3960000"/>
            <a:ext cx="5256000" cy="122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77" name="Element-32"/>
          <p:cNvSpPr/>
          <p:nvPr/>
        </p:nvSpPr>
        <p:spPr>
          <a:xfrm xmlns:a="http://schemas.openxmlformats.org/drawingml/2006/main">
            <a:off x="6696000" y="4068000"/>
            <a:ext cx="4824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150" b="1" i="0">
                <a:solidFill>
                  <a:srgbClr val="B60036"/>
                </a:solidFill>
                <a:latin typeface="Arial"/>
                <a:ea typeface="Arial"/>
              </a:rPr>
              <a:t>Single external constraint</a:t>
            </a:r>
          </a:p>
        </p:txBody>
      </p:sp>
      <p:sp>
        <p:nvSpPr>
          <p:cNvPr id="100278" name="Element-33"/>
          <p:cNvSpPr/>
          <p:nvPr/>
        </p:nvSpPr>
        <p:spPr>
          <a:xfrm xmlns:a="http://schemas.openxmlformats.org/drawingml/2006/main">
            <a:off x="6696000" y="4356000"/>
            <a:ext cx="48240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200" b="0" i="0">
                <a:solidFill>
                  <a:srgbClr val="20252D"/>
                </a:solidFill>
                <a:latin typeface="Arial"/>
                <a:ea typeface="Arial"/>
              </a:rPr>
              <a:t>AsiaCCS 2027, 11 December 2026 (AoE).</a:t>
            </a:r>
          </a:p>
          <a:p xmlns:a="http://schemas.openxmlformats.org/drawingml/2006/main">
            <a:pPr algn="l"/>
            <a:r>
              <a:rPr lang="en-US" sz="1200" b="0" i="0">
                <a:solidFill>
                  <a:srgbClr val="20252D"/>
                </a:solidFill>
                <a:latin typeface="Arial"/>
                <a:ea typeface="Arial"/>
              </a:rPr>
              <a:t>It does not order the steps, and justifies neither an unvalidated scope nor an unmeasured result.</a:t>
            </a:r>
          </a:p>
        </p:txBody>
      </p:sp>
      <p:sp>
        <p:nvSpPr>
          <p:cNvPr id="100279" name="Element-34"/>
          <p:cNvSpPr/>
          <p:nvPr/>
        </p:nvSpPr>
        <p:spPr>
          <a:xfrm xmlns:a="http://schemas.openxmlformats.org/drawingml/2006/main">
            <a:off x="792000" y="5508000"/>
            <a:ext cx="1044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700" b="1" i="0">
                <a:solidFill>
                  <a:srgbClr val="B60036"/>
                </a:solidFill>
                <a:latin typeface="Arial"/>
                <a:ea typeface="Arial"/>
              </a:rPr>
              <a:t>The measure is now the hypothesis register, not the scenario count.</a:t>
            </a:r>
          </a:p>
        </p:txBody>
      </p:sp>
    </p:spTree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280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a156c09b7c447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92000" y="223200"/>
            <a:ext cx="1692000" cy="579864"/>
          </a:xfrm>
          <a:prstGeom xmlns:a="http://schemas.openxmlformats.org/drawingml/2006/main" prst="rect">
            <a:avLst/>
          </a:prstGeom>
        </p:spPr>
      </p:pic>
      <p:sp>
        <p:nvSpPr>
          <p:cNvPr id="100281" name="Title"/>
          <p:cNvSpPr/>
          <p:nvPr/>
        </p:nvSpPr>
        <p:spPr>
          <a:xfrm xmlns:a="http://schemas.openxmlformats.org/drawingml/2006/main">
            <a:off x="648000" y="630000"/>
            <a:ext cx="8928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Reserve — model panel</a:t>
            </a:r>
          </a:p>
        </p:txBody>
      </p:sp>
      <p:sp>
        <p:nvSpPr>
          <p:cNvPr id="100282" name="Element-5"/>
          <p:cNvSpPr/>
          <p:nvPr/>
        </p:nvSpPr>
        <p:spPr>
          <a:xfrm xmlns:a="http://schemas.openxmlformats.org/drawingml/2006/main">
            <a:off x="648000" y="1422000"/>
            <a:ext cx="12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83" name="Element-6"/>
          <p:cNvSpPr/>
          <p:nvPr/>
        </p:nvSpPr>
        <p:spPr>
          <a:xfrm xmlns:a="http://schemas.openxmlformats.org/drawingml/2006/main">
            <a:off x="648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284" name="Element-7"/>
          <p:cNvSpPr/>
          <p:nvPr/>
        </p:nvSpPr>
        <p:spPr>
          <a:xfrm xmlns:a="http://schemas.openxmlformats.org/drawingml/2006/main">
            <a:off x="2664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285" name="Element-8"/>
          <p:cNvSpPr/>
          <p:nvPr/>
        </p:nvSpPr>
        <p:spPr>
          <a:xfrm xmlns:a="http://schemas.openxmlformats.org/drawingml/2006/main">
            <a:off x="4680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286" name="Element-9"/>
          <p:cNvSpPr/>
          <p:nvPr/>
        </p:nvSpPr>
        <p:spPr>
          <a:xfrm xmlns:a="http://schemas.openxmlformats.org/drawingml/2006/main">
            <a:off x="6696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B60036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287" name="Element-10"/>
          <p:cNvSpPr/>
          <p:nvPr/>
        </p:nvSpPr>
        <p:spPr>
          <a:xfrm xmlns:a="http://schemas.openxmlformats.org/drawingml/2006/main">
            <a:off x="6696000" y="540000"/>
            <a:ext cx="1800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88" name="Element-11"/>
          <p:cNvSpPr/>
          <p:nvPr/>
        </p:nvSpPr>
        <p:spPr>
          <a:xfrm xmlns:a="http://schemas.openxmlformats.org/drawingml/2006/main">
            <a:off x="648000" y="6300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289" name="Element-12"/>
          <p:cNvSpPr/>
          <p:nvPr/>
        </p:nvSpPr>
        <p:spPr>
          <a:xfrm xmlns:a="http://schemas.openxmlformats.org/drawingml/2006/main">
            <a:off x="11016000" y="6300000"/>
            <a:ext cx="504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11</a:t>
            </a:r>
          </a:p>
        </p:txBody>
      </p:sp>
      <p:graphicFrame>
        <p:nvGraphicFramePr>
          <p:cNvPr id="100290" name="Table 1"/>
          <p:cNvGraphicFramePr/>
          <p:nvPr/>
        </p:nvGraphicFramePr>
        <p:xfrm>
          <a:off xmlns:a="http://schemas.openxmlformats.org/drawingml/2006/main" x="792000" y="2016000"/>
          <a:ext xmlns:a="http://schemas.openxmlformats.org/drawingml/2006/main" cx="10440000" cy="2664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0"/>
                <a:gridCol w="3240000"/>
                <a:gridCol w="1800000"/>
                <a:gridCol w="2520000"/>
              </a:tblGrid>
              <a:tr h="380571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B60036"/>
                          </a:solidFill>
                          <a:latin typeface="Arial"/>
                          <a:ea typeface="Arial"/>
                        </a:rPr>
                        <a:t>Family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B60036"/>
                          </a:solidFill>
                          <a:latin typeface="Arial"/>
                          <a:ea typeface="Arial"/>
                        </a:rPr>
                        <a:t>Approach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B60036"/>
                          </a:solidFill>
                          <a:latin typeface="Arial"/>
                          <a:ea typeface="Arial"/>
                        </a:rPr>
                        <a:t>Success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B60036"/>
                          </a:solidFill>
                          <a:latin typeface="Arial"/>
                          <a:ea typeface="Arial"/>
                        </a:rPr>
                        <a:t>Cost ($)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571"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SSH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rules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6/6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0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571"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SSH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dense model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6/6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0.006–0.008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571"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SSH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MoE model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6/6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0.012–0.017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571"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MQTT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rules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6/6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0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571"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MQTT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dense model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6/6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0.004–0.010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571"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MQTT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MoE model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6/6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0.012–0.016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291" name="Element-42"/>
          <p:cNvSpPr/>
          <p:nvPr/>
        </p:nvSpPr>
        <p:spPr>
          <a:xfrm xmlns:a="http://schemas.openxmlformats.org/drawingml/2006/main">
            <a:off x="792000" y="4896000"/>
            <a:ext cx="1044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00" b="0" i="0">
                <a:solidFill>
                  <a:srgbClr val="5C626C"/>
                </a:solidFill>
                <a:latin typeface="Arial"/>
                <a:ea typeface="Arial"/>
              </a:rPr>
              <a:t>Each family is a distinct configuration: the two are never pooled.</a:t>
            </a:r>
          </a:p>
        </p:txBody>
      </p:sp>
    </p:spTree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292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0f008368624955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92000" y="223200"/>
            <a:ext cx="1692000" cy="579864"/>
          </a:xfrm>
          <a:prstGeom xmlns:a="http://schemas.openxmlformats.org/drawingml/2006/main" prst="rect">
            <a:avLst/>
          </a:prstGeom>
        </p:spPr>
      </p:pic>
      <p:sp>
        <p:nvSpPr>
          <p:cNvPr id="100293" name="Title"/>
          <p:cNvSpPr/>
          <p:nvPr/>
        </p:nvSpPr>
        <p:spPr>
          <a:xfrm xmlns:a="http://schemas.openxmlformats.org/drawingml/2006/main">
            <a:off x="648000" y="630000"/>
            <a:ext cx="8928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Reserve — variability</a:t>
            </a:r>
          </a:p>
        </p:txBody>
      </p:sp>
      <p:sp>
        <p:nvSpPr>
          <p:cNvPr id="100294" name="Element-5"/>
          <p:cNvSpPr/>
          <p:nvPr/>
        </p:nvSpPr>
        <p:spPr>
          <a:xfrm xmlns:a="http://schemas.openxmlformats.org/drawingml/2006/main">
            <a:off x="648000" y="1422000"/>
            <a:ext cx="12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95" name="Element-6"/>
          <p:cNvSpPr/>
          <p:nvPr/>
        </p:nvSpPr>
        <p:spPr>
          <a:xfrm xmlns:a="http://schemas.openxmlformats.org/drawingml/2006/main">
            <a:off x="648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296" name="Element-7"/>
          <p:cNvSpPr/>
          <p:nvPr/>
        </p:nvSpPr>
        <p:spPr>
          <a:xfrm xmlns:a="http://schemas.openxmlformats.org/drawingml/2006/main">
            <a:off x="2664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297" name="Element-8"/>
          <p:cNvSpPr/>
          <p:nvPr/>
        </p:nvSpPr>
        <p:spPr>
          <a:xfrm xmlns:a="http://schemas.openxmlformats.org/drawingml/2006/main">
            <a:off x="4680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298" name="Element-9"/>
          <p:cNvSpPr/>
          <p:nvPr/>
        </p:nvSpPr>
        <p:spPr>
          <a:xfrm xmlns:a="http://schemas.openxmlformats.org/drawingml/2006/main">
            <a:off x="6696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B60036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299" name="Element-10"/>
          <p:cNvSpPr/>
          <p:nvPr/>
        </p:nvSpPr>
        <p:spPr>
          <a:xfrm xmlns:a="http://schemas.openxmlformats.org/drawingml/2006/main">
            <a:off x="6696000" y="540000"/>
            <a:ext cx="1800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300" name="Element-11"/>
          <p:cNvSpPr/>
          <p:nvPr/>
        </p:nvSpPr>
        <p:spPr>
          <a:xfrm xmlns:a="http://schemas.openxmlformats.org/drawingml/2006/main">
            <a:off x="648000" y="6300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301" name="Element-12"/>
          <p:cNvSpPr/>
          <p:nvPr/>
        </p:nvSpPr>
        <p:spPr>
          <a:xfrm xmlns:a="http://schemas.openxmlformats.org/drawingml/2006/main">
            <a:off x="11016000" y="6300000"/>
            <a:ext cx="504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12</a:t>
            </a:r>
          </a:p>
        </p:txBody>
      </p:sp>
      <p:graphicFrame>
        <p:nvGraphicFramePr>
          <p:cNvPr id="100302" name="Table 1"/>
          <p:cNvGraphicFramePr/>
          <p:nvPr/>
        </p:nvGraphicFramePr>
        <p:xfrm>
          <a:off xmlns:a="http://schemas.openxmlformats.org/drawingml/2006/main" x="792000" y="2016000"/>
          <a:ext xmlns:a="http://schemas.openxmlformats.org/drawingml/2006/main" cx="10440000" cy="2232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80000"/>
                <a:gridCol w="1908000"/>
                <a:gridCol w="1908000"/>
                <a:gridCol w="1944000"/>
              </a:tblGrid>
              <a:tr h="4464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B60036"/>
                          </a:solidFill>
                          <a:latin typeface="Arial"/>
                          <a:ea typeface="Arial"/>
                        </a:rPr>
                        <a:t>Family / configuration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B60036"/>
                          </a:solidFill>
                          <a:latin typeface="Arial"/>
                          <a:ea typeface="Arial"/>
                        </a:rPr>
                        <a:t>Duration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B60036"/>
                          </a:solidFill>
                          <a:latin typeface="Arial"/>
                          <a:ea typeface="Arial"/>
                        </a:rPr>
                        <a:t>Cost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B60036"/>
                          </a:solidFill>
                          <a:latin typeface="Arial"/>
                          <a:ea typeface="Arial"/>
                        </a:rPr>
                        <a:t>Tokens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SSH, weakness absent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92.3 %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7.0 %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5.9 %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SSH, weakness present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6.4 %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17.9 %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21.8 %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MQTT, weakness absent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27.8 %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46.1 %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25.6 %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 w="7620">
                      <a:solidFill>
                        <a:srgbClr val="D9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MQTT, weakness present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10.2 %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34.7 %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0">
                          <a:solidFill>
                            <a:srgbClr val="20252D"/>
                          </a:solidFill>
                          <a:latin typeface="Arial"/>
                          <a:ea typeface="Arial"/>
                        </a:rPr>
                        <a:t>35.6 %</a:t>
                      </a:r>
                    </a:p>
                  </a:txBody>
                  <a:tcPr marL="57600" marR="57600" marT="57600" marB="57600" anchor="ctr">
                    <a:lnL>
                      <a:noFill/>
                    </a:lnL>
                    <a:lnR>
                      <a:noFill/>
                    </a:lnR>
                    <a:lnT w="7620">
                      <a:solidFill>
                        <a:srgbClr val="D9DEE5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303" name="Element-34"/>
          <p:cNvSpPr/>
          <p:nvPr/>
        </p:nvSpPr>
        <p:spPr>
          <a:xfrm xmlns:a="http://schemas.openxmlformats.org/drawingml/2006/main">
            <a:off x="792000" y="4392000"/>
            <a:ext cx="1044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00" b="0" i="0">
                <a:solidFill>
                  <a:srgbClr val="5C626C"/>
                </a:solidFill>
                <a:latin typeface="Arial"/>
                <a:ea typeface="Arial"/>
              </a:rPr>
              <a:t>The 92 % comes from a cold model load (73.7 s against 16.6 and 16.7 s), not from policy variability.</a:t>
            </a:r>
          </a:p>
        </p:txBody>
      </p:sp>
    </p:spTree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304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62fe73cbcc4a0f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92000" y="223200"/>
            <a:ext cx="1692000" cy="579864"/>
          </a:xfrm>
          <a:prstGeom xmlns:a="http://schemas.openxmlformats.org/drawingml/2006/main" prst="rect">
            <a:avLst/>
          </a:prstGeom>
        </p:spPr>
      </p:pic>
      <p:sp>
        <p:nvSpPr>
          <p:cNvPr id="100305" name="Title"/>
          <p:cNvSpPr/>
          <p:nvPr/>
        </p:nvSpPr>
        <p:spPr>
          <a:xfrm xmlns:a="http://schemas.openxmlformats.org/drawingml/2006/main">
            <a:off x="648000" y="630000"/>
            <a:ext cx="8928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Reserve — declared coverage gaps</a:t>
            </a:r>
          </a:p>
        </p:txBody>
      </p:sp>
      <p:sp>
        <p:nvSpPr>
          <p:cNvPr id="100306" name="Element-5"/>
          <p:cNvSpPr/>
          <p:nvPr/>
        </p:nvSpPr>
        <p:spPr>
          <a:xfrm xmlns:a="http://schemas.openxmlformats.org/drawingml/2006/main">
            <a:off x="648000" y="1422000"/>
            <a:ext cx="12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307" name="Element-6"/>
          <p:cNvSpPr/>
          <p:nvPr/>
        </p:nvSpPr>
        <p:spPr>
          <a:xfrm xmlns:a="http://schemas.openxmlformats.org/drawingml/2006/main">
            <a:off x="648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308" name="Element-7"/>
          <p:cNvSpPr/>
          <p:nvPr/>
        </p:nvSpPr>
        <p:spPr>
          <a:xfrm xmlns:a="http://schemas.openxmlformats.org/drawingml/2006/main">
            <a:off x="2664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309" name="Element-8"/>
          <p:cNvSpPr/>
          <p:nvPr/>
        </p:nvSpPr>
        <p:spPr>
          <a:xfrm xmlns:a="http://schemas.openxmlformats.org/drawingml/2006/main">
            <a:off x="4680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310" name="Element-9"/>
          <p:cNvSpPr/>
          <p:nvPr/>
        </p:nvSpPr>
        <p:spPr>
          <a:xfrm xmlns:a="http://schemas.openxmlformats.org/drawingml/2006/main">
            <a:off x="6696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B60036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311" name="Element-10"/>
          <p:cNvSpPr/>
          <p:nvPr/>
        </p:nvSpPr>
        <p:spPr>
          <a:xfrm xmlns:a="http://schemas.openxmlformats.org/drawingml/2006/main">
            <a:off x="6696000" y="540000"/>
            <a:ext cx="1800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312" name="Element-11"/>
          <p:cNvSpPr/>
          <p:nvPr/>
        </p:nvSpPr>
        <p:spPr>
          <a:xfrm xmlns:a="http://schemas.openxmlformats.org/drawingml/2006/main">
            <a:off x="648000" y="6300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313" name="Element-12"/>
          <p:cNvSpPr/>
          <p:nvPr/>
        </p:nvSpPr>
        <p:spPr>
          <a:xfrm xmlns:a="http://schemas.openxmlformats.org/drawingml/2006/main">
            <a:off x="11016000" y="6300000"/>
            <a:ext cx="504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13</a:t>
            </a:r>
          </a:p>
        </p:txBody>
      </p:sp>
      <p:sp>
        <p:nvSpPr>
          <p:cNvPr id="100314" name="Element-13"/>
          <p:cNvSpPr/>
          <p:nvPr/>
        </p:nvSpPr>
        <p:spPr>
          <a:xfrm xmlns:a="http://schemas.openxmlformats.org/drawingml/2006/main">
            <a:off x="792000" y="1800000"/>
            <a:ext cx="36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B60036"/>
                </a:solidFill>
                <a:latin typeface="Arial"/>
                <a:ea typeface="Arial"/>
              </a:rPr>
              <a:t>—</a:t>
            </a:r>
          </a:p>
        </p:txBody>
      </p:sp>
      <p:sp>
        <p:nvSpPr>
          <p:cNvPr id="100315" name="Element-14"/>
          <p:cNvSpPr/>
          <p:nvPr/>
        </p:nvSpPr>
        <p:spPr>
          <a:xfrm xmlns:a="http://schemas.openxmlformats.org/drawingml/2006/main">
            <a:off x="1224000" y="1800000"/>
            <a:ext cx="972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Physical impact and functional safety</a:t>
            </a:r>
          </a:p>
        </p:txBody>
      </p:sp>
      <p:sp>
        <p:nvSpPr>
          <p:cNvPr id="100316" name="Element-15"/>
          <p:cNvSpPr/>
          <p:nvPr/>
        </p:nvSpPr>
        <p:spPr>
          <a:xfrm xmlns:a="http://schemas.openxmlformats.org/drawingml/2006/main">
            <a:off x="792000" y="2322000"/>
            <a:ext cx="36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B60036"/>
                </a:solidFill>
                <a:latin typeface="Arial"/>
                <a:ea typeface="Arial"/>
              </a:rPr>
              <a:t>—</a:t>
            </a:r>
          </a:p>
        </p:txBody>
      </p:sp>
      <p:sp>
        <p:nvSpPr>
          <p:cNvPr id="100317" name="Element-16"/>
          <p:cNvSpPr/>
          <p:nvPr/>
        </p:nvSpPr>
        <p:spPr>
          <a:xfrm xmlns:a="http://schemas.openxmlformats.org/drawingml/2006/main">
            <a:off x="1224000" y="2322000"/>
            <a:ext cx="972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Device fragility under probing</a:t>
            </a:r>
          </a:p>
        </p:txBody>
      </p:sp>
      <p:sp>
        <p:nvSpPr>
          <p:cNvPr id="100318" name="Element-17"/>
          <p:cNvSpPr/>
          <p:nvPr/>
        </p:nvSpPr>
        <p:spPr>
          <a:xfrm xmlns:a="http://schemas.openxmlformats.org/drawingml/2006/main">
            <a:off x="792000" y="2844000"/>
            <a:ext cx="36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B60036"/>
                </a:solidFill>
                <a:latin typeface="Arial"/>
                <a:ea typeface="Arial"/>
              </a:rPr>
              <a:t>—</a:t>
            </a:r>
          </a:p>
        </p:txBody>
      </p:sp>
      <p:sp>
        <p:nvSpPr>
          <p:cNvPr id="100319" name="Element-18"/>
          <p:cNvSpPr/>
          <p:nvPr/>
        </p:nvSpPr>
        <p:spPr>
          <a:xfrm xmlns:a="http://schemas.openxmlformats.org/drawingml/2006/main">
            <a:off x="1224000" y="2844000"/>
            <a:ext cx="972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Real fleet scale</a:t>
            </a:r>
          </a:p>
        </p:txBody>
      </p:sp>
      <p:sp>
        <p:nvSpPr>
          <p:cNvPr id="100320" name="Element-19"/>
          <p:cNvSpPr/>
          <p:nvPr/>
        </p:nvSpPr>
        <p:spPr>
          <a:xfrm xmlns:a="http://schemas.openxmlformats.org/drawingml/2006/main">
            <a:off x="792000" y="3366000"/>
            <a:ext cx="36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B60036"/>
                </a:solidFill>
                <a:latin typeface="Arial"/>
                <a:ea typeface="Arial"/>
              </a:rPr>
              <a:t>—</a:t>
            </a:r>
          </a:p>
        </p:txBody>
      </p:sp>
      <p:sp>
        <p:nvSpPr>
          <p:cNvPr id="100321" name="Element-20"/>
          <p:cNvSpPr/>
          <p:nvPr/>
        </p:nvSpPr>
        <p:spPr>
          <a:xfrm xmlns:a="http://schemas.openxmlformats.org/drawingml/2006/main">
            <a:off x="1224000" y="3366000"/>
            <a:ext cx="972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Proprietary industrial protocols that are not simulated</a:t>
            </a:r>
          </a:p>
        </p:txBody>
      </p:sp>
      <p:sp>
        <p:nvSpPr>
          <p:cNvPr id="100322" name="Element-21"/>
          <p:cNvSpPr/>
          <p:nvPr/>
        </p:nvSpPr>
        <p:spPr>
          <a:xfrm xmlns:a="http://schemas.openxmlformats.org/drawingml/2006/main">
            <a:off x="792000" y="3888000"/>
            <a:ext cx="36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B60036"/>
                </a:solidFill>
                <a:latin typeface="Arial"/>
                <a:ea typeface="Arial"/>
              </a:rPr>
              <a:t>—</a:t>
            </a:r>
          </a:p>
        </p:txBody>
      </p:sp>
      <p:sp>
        <p:nvSpPr>
          <p:cNvPr id="100323" name="Element-22"/>
          <p:cNvSpPr/>
          <p:nvPr/>
        </p:nvSpPr>
        <p:spPr>
          <a:xfrm xmlns:a="http://schemas.openxmlformats.org/drawingml/2006/main">
            <a:off x="1224000" y="3888000"/>
            <a:ext cx="972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Complete multi-step exploitation chains</a:t>
            </a:r>
          </a:p>
        </p:txBody>
      </p:sp>
      <p:sp>
        <p:nvSpPr>
          <p:cNvPr id="100324" name="Element-23"/>
          <p:cNvSpPr/>
          <p:nvPr/>
        </p:nvSpPr>
        <p:spPr>
          <a:xfrm xmlns:a="http://schemas.openxmlformats.org/drawingml/2006/main">
            <a:off x="792000" y="4410000"/>
            <a:ext cx="36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B60036"/>
                </a:solidFill>
                <a:latin typeface="Arial"/>
                <a:ea typeface="Arial"/>
              </a:rPr>
              <a:t>—</a:t>
            </a:r>
          </a:p>
        </p:txBody>
      </p:sp>
      <p:sp>
        <p:nvSpPr>
          <p:cNvPr id="100325" name="Element-24"/>
          <p:cNvSpPr/>
          <p:nvPr/>
        </p:nvSpPr>
        <p:spPr>
          <a:xfrm xmlns:a="http://schemas.openxmlformats.org/drawingml/2006/main">
            <a:off x="1224000" y="4410000"/>
            <a:ext cx="972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Abstention and calibration</a:t>
            </a:r>
          </a:p>
        </p:txBody>
      </p:sp>
      <p:sp>
        <p:nvSpPr>
          <p:cNvPr id="100326" name="Element-25"/>
          <p:cNvSpPr/>
          <p:nvPr/>
        </p:nvSpPr>
        <p:spPr>
          <a:xfrm xmlns:a="http://schemas.openxmlformats.org/drawingml/2006/main">
            <a:off x="792000" y="4932000"/>
            <a:ext cx="36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B60036"/>
                </a:solidFill>
                <a:latin typeface="Arial"/>
                <a:ea typeface="Arial"/>
              </a:rPr>
              <a:t>—</a:t>
            </a:r>
          </a:p>
        </p:txBody>
      </p:sp>
      <p:sp>
        <p:nvSpPr>
          <p:cNvPr id="100327" name="Element-26"/>
          <p:cNvSpPr/>
          <p:nvPr/>
        </p:nvSpPr>
        <p:spPr>
          <a:xfrm xmlns:a="http://schemas.openxmlformats.org/drawingml/2006/main">
            <a:off x="1224000" y="4932000"/>
            <a:ext cx="972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Generic IT scenarios, deliberately excluded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OfficeCLI/1.0.158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Project LANCE</dc:creator>
  <dcterms:created xsi:type="dcterms:W3CDTF">2026-10-21T10:29:41.0000000Z</dcterms:created>
  <lastModifiedBy>OfficeCLI</lastModifiedBy>
  <dcterms:modified xsi:type="dcterms:W3CDTF">2026-10-21T10:29:41.5117780Z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1.0.158</vt:lpwstr>
  </op:property>
  <op:property fmtid="{D5CDD505-2E9C-101B-9397-08002B2CF9AE}" pid="3" name="OfficeCLI.LastModified">
    <vt:lpwstr xmlns:vt="http://schemas.openxmlformats.org/officeDocument/2006/docPropsVTypes">2026-10-21T10:29:49Z</vt:lpwstr>
  </op:property>
</op:Properties>
</file>