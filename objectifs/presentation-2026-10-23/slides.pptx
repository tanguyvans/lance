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2ed1bb2e76b44b2" /><Relationship Type="http://schemas.openxmlformats.org/package/2006/relationships/metadata/core-properties" Target="/docProps/core.xml" Id="R79fbb3296f2d4da0" /><Relationship Type="http://schemas.openxmlformats.org/officeDocument/2006/relationships/extended-properties" Target="/docProps/app.xml" Id="R63a5214e73464383" /><Relationship Type="http://schemas.openxmlformats.org/officeDocument/2006/relationships/custom-properties" Target="/docProps/custom.xml" Id="R1ea8d67faaaa405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6cbed7eace1e4934"/>
  </p:notesMasterIdLst>
  <p:sldIdLst>
    <p:sldId id="256" r:id="R75f6e9be2af74bbb"/>
    <p:sldId id="257" r:id="Ra0fa2659e3524965"/>
    <p:sldId id="258" r:id="R8fbb191291b64c71"/>
    <p:sldId id="259" r:id="Rbc3bbd2717b34707"/>
    <p:sldId id="260" r:id="R21469df2e8ea43f3"/>
    <p:sldId id="261" r:id="Rb8cd3ecfc2cc4b59"/>
    <p:sldId id="262" r:id="R1f1e14a25e014efe"/>
    <p:sldId id="263" r:id="R16a374eaf6d9405d"/>
    <p:sldId id="264" r:id="R4ffe4907288d4f02"/>
    <p:sldId id="265" r:id="Rafc6967a6b914dd4"/>
  </p:sldIdLst>
  <p:sldSz cx="1219200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75f6e9be2af74bbb" /><Relationship Type="http://schemas.openxmlformats.org/officeDocument/2006/relationships/notesMaster" Target="/ppt/notesMasters/notesMaster1.xml" Id="R6cbed7eace1e4934" /><Relationship Type="http://schemas.openxmlformats.org/officeDocument/2006/relationships/slide" Target="/ppt/slides/slide2.xml" Id="Ra0fa2659e3524965" /><Relationship Type="http://schemas.openxmlformats.org/officeDocument/2006/relationships/slide" Target="/ppt/slides/slide3.xml" Id="R8fbb191291b64c71" /><Relationship Type="http://schemas.openxmlformats.org/officeDocument/2006/relationships/slide" Target="/ppt/slides/slide4.xml" Id="Rbc3bbd2717b34707" /><Relationship Type="http://schemas.openxmlformats.org/officeDocument/2006/relationships/slide" Target="/ppt/slides/slide5.xml" Id="R21469df2e8ea43f3" /><Relationship Type="http://schemas.openxmlformats.org/officeDocument/2006/relationships/slide" Target="/ppt/slides/slide6.xml" Id="Rb8cd3ecfc2cc4b59" /><Relationship Type="http://schemas.openxmlformats.org/officeDocument/2006/relationships/slide" Target="/ppt/slides/slide7.xml" Id="R1f1e14a25e014efe" /><Relationship Type="http://schemas.openxmlformats.org/officeDocument/2006/relationships/slide" Target="/ppt/slides/slide8.xml" Id="R16a374eaf6d9405d" /><Relationship Type="http://schemas.openxmlformats.org/officeDocument/2006/relationships/slide" Target="/ppt/slides/slide9.xml" Id="R4ffe4907288d4f02" /><Relationship Type="http://schemas.openxmlformats.org/officeDocument/2006/relationships/slide" Target="/ppt/slides/slide10.xml" Id="Rafc6967a6b914d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d8c8079035c4a1c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26e934cb1034baa" /><Relationship Type="http://schemas.openxmlformats.org/officeDocument/2006/relationships/slide" Target="/ppt/slides/slide1.xml" Id="R6cbce0b25db54b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93fcb1d164146b3" /><Relationship Type="http://schemas.openxmlformats.org/officeDocument/2006/relationships/slide" Target="/ppt/slides/slide2.xml" Id="R9908bd0a1ca244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c0aee79bec14823" /><Relationship Type="http://schemas.openxmlformats.org/officeDocument/2006/relationships/slide" Target="/ppt/slides/slide3.xml" Id="R500a35850c294c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b5638b72fb34682" /><Relationship Type="http://schemas.openxmlformats.org/officeDocument/2006/relationships/slide" Target="/ppt/slides/slide4.xml" Id="Reb251ac314a84f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eb446e87e694a04" /><Relationship Type="http://schemas.openxmlformats.org/officeDocument/2006/relationships/slide" Target="/ppt/slides/slide5.xml" Id="Rfffaa07998b34a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a818d6751584e4b" /><Relationship Type="http://schemas.openxmlformats.org/officeDocument/2006/relationships/slide" Target="/ppt/slides/slide6.xml" Id="R614c7026495f48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69d3cadcb694063" /><Relationship Type="http://schemas.openxmlformats.org/officeDocument/2006/relationships/slide" Target="/ppt/slides/slide7.xml" Id="Rfdf795fbf36d47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289861aebc94d38" /><Relationship Type="http://schemas.openxmlformats.org/officeDocument/2006/relationships/slide" Target="/ppt/slides/slide8.xml" Id="Ra5d8ed65bd5549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ebf8a45469041c9" /><Relationship Type="http://schemas.openxmlformats.org/officeDocument/2006/relationships/slide" Target="/ppt/slides/slide9.xml" Id="Rc721b0b80c0742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f2a560cbb7d4b4e" /><Relationship Type="http://schemas.openxmlformats.org/officeDocument/2006/relationships/slide" Target="/ppt/slides/slide10.xml" Id="R905e1adf45bc4c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Duration: about 20 seconds.</a:t>
            </a:r>
          </a:p>
          <a:p xmlns:a="http://schemas.openxmlformats.org/drawingml/2006/main">
            <a:r>
              <a:rPr lang="en-US"/>
              <a:t>Cover. Say: this is a progress report, not a results talk.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Duration: about 60 seconds.</a:t>
            </a:r>
          </a:p>
          <a:p xmlns:a="http://schemas.openxmlformats.org/drawingml/2006/main">
            <a:r>
              <a:rPr lang="en-US"/>
              <a:t>One sentence, then three commitments. Do not read the boxes aloud; the diagram carries 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Duration: about 50 seconds.</a:t>
            </a:r>
          </a:p>
          <a:p xmlns:a="http://schemas.openxmlformats.org/drawingml/2006/main">
            <a:r>
              <a:rPr lang="en-US"/>
              <a:t>Three pieces, three roles. The model is one piece among them.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Duration: about 80 seconds.</a:t>
            </a:r>
          </a:p>
          <a:p xmlns:a="http://schemas.openxmlformats.org/drawingml/2006/main">
            <a:r>
              <a:rPr lang="en-US"/>
              <a:t>Two halves. Left: we recompute from the log, never from the conclusion. Right: the same trial runs on both configurations, so a false positive is visible.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Duration: about 50 seconds.</a:t>
            </a:r>
          </a:p>
          <a:p xmlns:a="http://schemas.openxmlformats.org/drawingml/2006/main">
            <a:r>
              <a:rPr lang="en-US"/>
              <a:t>Both approaches succeed everywhere. That is a property of the instrument, not a verdict on the model.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Duration: about 75 seconds.</a:t>
            </a:r>
          </a:p>
          <a:p xmlns:a="http://schemas.openxmlformats.org/drawingml/2006/main">
            <a:r>
              <a:rPr lang="en-US"/>
              <a:t>The objective does not change, its form does. Six network properties, six tests. H6 is a risk, not a gain.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Duration: about 70 seconds.</a:t>
            </a:r>
          </a:p>
          <a:p xmlns:a="http://schemas.openxmlformats.org/drawingml/2006/main">
            <a:r>
              <a:rPr lang="en-US"/>
              <a:t>The gate is the condition of interpretation for everything else. It applies to both arms.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Duration: about 60 seconds.</a:t>
            </a:r>
          </a:p>
          <a:p xmlns:a="http://schemas.openxmlformats.org/drawingml/2006/main">
            <a:r>
              <a:rPr lang="en-US"/>
              <a:t>Be explicit. This is the slide that buys credibility. Three limits.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Duration: about 70 seconds.</a:t>
            </a:r>
          </a:p>
          <a:p xmlns:a="http://schemas.openxmlformats.org/drawingml/2006/main">
            <a:r>
              <a:rPr lang="en-US"/>
              <a:t>Order follows conditions, not dates. End by naming what would help.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Duration: about 0 seconds.</a:t>
            </a:r>
          </a:p>
          <a:p xmlns:a="http://schemas.openxmlformats.org/drawingml/2006/main">
            <a:r>
              <a:rPr lang="en-US"/>
              <a:t>A benchmark that states its gaps is stronger than one that claims full coverage.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89513d60a74c3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898cd04f944c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5852d8f2054c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4d1474484e47d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0db6a80044443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ca01e277216480b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8691077fa4174" /><Relationship Type="http://schemas.openxmlformats.org/officeDocument/2006/relationships/notesSlide" Target="/ppt/notesSlides/notesSlide1.xml" Id="R73595cd3bf3140d3" /><Relationship Type="http://schemas.openxmlformats.org/officeDocument/2006/relationships/image" Target="/ppt/media/image.png" Id="Rfe84a2907b8547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11a0de3074ad8" /><Relationship Type="http://schemas.openxmlformats.org/officeDocument/2006/relationships/notesSlide" Target="/ppt/notesSlides/notesSlide2.xml" Id="Rf4c79d1eac0a46c2" /><Relationship Type="http://schemas.openxmlformats.org/officeDocument/2006/relationships/image" Target="/ppt/media/image2.png" Id="R382009805d2b4c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5400292564dea" /><Relationship Type="http://schemas.openxmlformats.org/officeDocument/2006/relationships/notesSlide" Target="/ppt/notesSlides/notesSlide3.xml" Id="R353d6e4dd7e34f03" /><Relationship Type="http://schemas.openxmlformats.org/officeDocument/2006/relationships/image" Target="/ppt/media/image3.png" Id="R23e560a804a046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b5f45e7644b03" /><Relationship Type="http://schemas.openxmlformats.org/officeDocument/2006/relationships/notesSlide" Target="/ppt/notesSlides/notesSlide4.xml" Id="R8d30b97185cd461d" /><Relationship Type="http://schemas.openxmlformats.org/officeDocument/2006/relationships/image" Target="/ppt/media/image4.png" Id="Rd5a3c1d7362546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a4aee14c9495f" /><Relationship Type="http://schemas.openxmlformats.org/officeDocument/2006/relationships/notesSlide" Target="/ppt/notesSlides/notesSlide5.xml" Id="Rd386268e9af64125" /><Relationship Type="http://schemas.openxmlformats.org/officeDocument/2006/relationships/image" Target="/ppt/media/image5.png" Id="R5aa39dada26944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c50e19df340c7" /><Relationship Type="http://schemas.openxmlformats.org/officeDocument/2006/relationships/notesSlide" Target="/ppt/notesSlides/notesSlide6.xml" Id="R6bf1c6b04641415c" /><Relationship Type="http://schemas.openxmlformats.org/officeDocument/2006/relationships/image" Target="/ppt/media/image6.png" Id="R6cf621d1d4c645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85fc8d2a348ca" /><Relationship Type="http://schemas.openxmlformats.org/officeDocument/2006/relationships/notesSlide" Target="/ppt/notesSlides/notesSlide7.xml" Id="R95effec6ac2442cb" /><Relationship Type="http://schemas.openxmlformats.org/officeDocument/2006/relationships/image" Target="/ppt/media/image7.png" Id="R56222765844c44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3d187d14b4154" /><Relationship Type="http://schemas.openxmlformats.org/officeDocument/2006/relationships/notesSlide" Target="/ppt/notesSlides/notesSlide8.xml" Id="Re79790ede4204ddb" /><Relationship Type="http://schemas.openxmlformats.org/officeDocument/2006/relationships/image" Target="/ppt/media/image8.png" Id="R59055d09408a4f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9c8b172f34c9d" /><Relationship Type="http://schemas.openxmlformats.org/officeDocument/2006/relationships/notesSlide" Target="/ppt/notesSlides/notesSlide9.xml" Id="R3dc0230d19b84068" /><Relationship Type="http://schemas.openxmlformats.org/officeDocument/2006/relationships/image" Target="/ppt/media/image9.png" Id="R73c29a2e621349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97896de1a4c9d" /><Relationship Type="http://schemas.openxmlformats.org/officeDocument/2006/relationships/notesSlide" Target="/ppt/notesSlides/notesSlide10.xml" Id="R0b5fc6c49827453e" /><Relationship Type="http://schemas.openxmlformats.org/officeDocument/2006/relationships/image" Target="/ppt/media/image10.png" Id="R3f042151ad9547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0" name="Element-3"/>
          <p:cNvSpPr/>
          <p:nvPr/>
        </p:nvSpPr>
        <p:spPr>
          <a:xfrm xmlns:a="http://schemas.openxmlformats.org/drawingml/2006/main">
            <a:off x="720000" y="1584000"/>
            <a:ext cx="50400" cy="30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01" name="Element-4"/>
          <p:cNvSpPr/>
          <p:nvPr/>
        </p:nvSpPr>
        <p:spPr>
          <a:xfrm xmlns:a="http://schemas.openxmlformats.org/drawingml/2006/main">
            <a:off x="1224000" y="1404000"/>
            <a:ext cx="936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3900" b="1" i="0">
                <a:solidFill>
                  <a:srgbClr val="20252D"/>
                </a:solidFill>
                <a:latin typeface="Arial"/>
                <a:ea typeface="Arial"/>
              </a:rPr>
              <a:t>LANCE</a:t>
            </a:r>
          </a:p>
        </p:txBody>
      </p:sp>
      <p:sp>
        <p:nvSpPr>
          <p:cNvPr id="100002" name="Element-5"/>
          <p:cNvSpPr/>
          <p:nvPr/>
        </p:nvSpPr>
        <p:spPr>
          <a:xfrm xmlns:a="http://schemas.openxmlformats.org/drawingml/2006/main">
            <a:off x="1224000" y="2304000"/>
            <a:ext cx="936000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100" b="0" i="0">
                <a:solidFill>
                  <a:srgbClr val="5C626C"/>
                </a:solidFill>
                <a:latin typeface="Arial"/>
                <a:ea typeface="Arial"/>
              </a:rPr>
              <a:t>An autonomous and verifiable auditor</a:t>
            </a:r>
          </a:p>
          <a:p xmlns:a="http://schemas.openxmlformats.org/drawingml/2006/main">
            <a:pPr algn="l"/>
            <a:r>
              <a:rPr lang="en-US" sz="2100" b="0" i="0">
                <a:solidFill>
                  <a:srgbClr val="5C626C"/>
                </a:solidFill>
                <a:latin typeface="Arial"/>
                <a:ea typeface="Arial"/>
              </a:rPr>
              <a:t>for IoT/IIoT networks</a:t>
            </a:r>
          </a:p>
        </p:txBody>
      </p:sp>
      <p:sp>
        <p:nvSpPr>
          <p:cNvPr id="100003" name="Element-6"/>
          <p:cNvSpPr/>
          <p:nvPr/>
        </p:nvSpPr>
        <p:spPr>
          <a:xfrm xmlns:a="http://schemas.openxmlformats.org/drawingml/2006/main">
            <a:off x="1224000" y="3744000"/>
            <a:ext cx="9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700" b="1" i="0">
                <a:solidFill>
                  <a:srgbClr val="B60036"/>
                </a:solidFill>
                <a:latin typeface="Arial"/>
                <a:ea typeface="Arial"/>
              </a:rPr>
              <a:t>Progress report — NATO SPS G6259</a:t>
            </a:r>
          </a:p>
        </p:txBody>
      </p:sp>
      <p:sp>
        <p:nvSpPr>
          <p:cNvPr id="100004" name="Element-7"/>
          <p:cNvSpPr/>
          <p:nvPr/>
        </p:nvSpPr>
        <p:spPr>
          <a:xfrm xmlns:a="http://schemas.openxmlformats.org/drawingml/2006/main">
            <a:off x="1224000" y="4104000"/>
            <a:ext cx="936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0" i="0">
                <a:solidFill>
                  <a:srgbClr val="5C626C"/>
                </a:solidFill>
                <a:latin typeface="Arial"/>
                <a:ea typeface="Arial"/>
              </a:rPr>
              <a:t>23 October 2026  ·  Université de Mons, ILIA</a:t>
            </a:r>
          </a:p>
        </p:txBody>
      </p:sp>
      <p:sp>
        <p:nvSpPr>
          <p:cNvPr id="100005" name="Element-8"/>
          <p:cNvSpPr/>
          <p:nvPr/>
        </p:nvSpPr>
        <p:spPr>
          <a:xfrm xmlns:a="http://schemas.openxmlformats.org/drawingml/2006/main">
            <a:off x="1224000" y="4896000"/>
            <a:ext cx="936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400" b="0" i="1">
                <a:solidFill>
                  <a:srgbClr val="5C626C"/>
                </a:solidFill>
                <a:latin typeface="Arial"/>
                <a:ea typeface="Arial"/>
              </a:rPr>
              <a:t>Status: work in progress.</a:t>
            </a:r>
          </a:p>
        </p:txBody>
      </p:sp>
      <p:pic>
        <p:nvPicPr>
          <p:cNvPr id="100006" name="Picture 1" descr="SMart ILIA — UMON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4a2907b8547a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684000" y="504000"/>
            <a:ext cx="1872000" cy="641551"/>
          </a:xfrm>
          <a:prstGeom xmlns:a="http://schemas.openxmlformats.org/drawingml/2006/main" prst="rect">
            <a:avLst/>
          </a:prstGeom>
        </p:spPr>
      </p:pic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id="100007" name="Picture 1" descr="SMart ILIA — UMON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009805d2b4c8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792000" y="223200"/>
            <a:ext cx="1692000" cy="579864"/>
          </a:xfrm>
          <a:prstGeom xmlns:a="http://schemas.openxmlformats.org/drawingml/2006/main" prst="rect">
            <a:avLst/>
          </a:prstGeom>
        </p:spPr>
      </p:pic>
      <p:sp>
        <p:nvSpPr>
          <p:cNvPr id="100008" name="Title"/>
          <p:cNvSpPr/>
          <p:nvPr/>
        </p:nvSpPr>
        <p:spPr>
          <a:xfrm xmlns:a="http://schemas.openxmlformats.org/drawingml/2006/main">
            <a:off x="648000" y="630000"/>
            <a:ext cx="89280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900" b="1" i="0">
                <a:solidFill>
                  <a:srgbClr val="20252D"/>
                </a:solidFill>
                <a:latin typeface="Arial"/>
                <a:ea typeface="Arial"/>
              </a:rPr>
              <a:t>The objective</a:t>
            </a:r>
          </a:p>
        </p:txBody>
      </p:sp>
      <p:sp>
        <p:nvSpPr>
          <p:cNvPr id="100009" name="Element-5"/>
          <p:cNvSpPr/>
          <p:nvPr/>
        </p:nvSpPr>
        <p:spPr>
          <a:xfrm xmlns:a="http://schemas.openxmlformats.org/drawingml/2006/main">
            <a:off x="648000" y="1422000"/>
            <a:ext cx="1224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10" name="Element-6"/>
          <p:cNvSpPr/>
          <p:nvPr/>
        </p:nvSpPr>
        <p:spPr>
          <a:xfrm xmlns:a="http://schemas.openxmlformats.org/drawingml/2006/main">
            <a:off x="648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B60036"/>
                </a:solidFill>
                <a:latin typeface="Arial"/>
                <a:ea typeface="Arial"/>
              </a:rPr>
              <a:t>Objective</a:t>
            </a:r>
          </a:p>
        </p:txBody>
      </p:sp>
      <p:sp>
        <p:nvSpPr>
          <p:cNvPr id="100011" name="Element-7"/>
          <p:cNvSpPr/>
          <p:nvPr/>
        </p:nvSpPr>
        <p:spPr>
          <a:xfrm xmlns:a="http://schemas.openxmlformats.org/drawingml/2006/main">
            <a:off x="648000" y="540000"/>
            <a:ext cx="1800000" cy="1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12" name="Element-8"/>
          <p:cNvSpPr/>
          <p:nvPr/>
        </p:nvSpPr>
        <p:spPr>
          <a:xfrm xmlns:a="http://schemas.openxmlformats.org/drawingml/2006/main">
            <a:off x="2664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5C626C"/>
                </a:solidFill>
                <a:latin typeface="Arial"/>
                <a:ea typeface="Arial"/>
              </a:rPr>
              <a:t>Instrument</a:t>
            </a:r>
          </a:p>
        </p:txBody>
      </p:sp>
      <p:sp>
        <p:nvSpPr>
          <p:cNvPr id="100013" name="Element-9"/>
          <p:cNvSpPr/>
          <p:nvPr/>
        </p:nvSpPr>
        <p:spPr>
          <a:xfrm xmlns:a="http://schemas.openxmlformats.org/drawingml/2006/main">
            <a:off x="4680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5C626C"/>
                </a:solidFill>
                <a:latin typeface="Arial"/>
                <a:ea typeface="Arial"/>
              </a:rPr>
              <a:t>Hypotheses</a:t>
            </a:r>
          </a:p>
        </p:txBody>
      </p:sp>
      <p:sp>
        <p:nvSpPr>
          <p:cNvPr id="100014" name="Element-10"/>
          <p:cNvSpPr/>
          <p:nvPr/>
        </p:nvSpPr>
        <p:spPr>
          <a:xfrm xmlns:a="http://schemas.openxmlformats.org/drawingml/2006/main">
            <a:off x="6696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5C626C"/>
                </a:solidFill>
                <a:latin typeface="Arial"/>
                <a:ea typeface="Arial"/>
              </a:rPr>
              <a:t>Outlook</a:t>
            </a:r>
          </a:p>
        </p:txBody>
      </p:sp>
      <p:sp>
        <p:nvSpPr>
          <p:cNvPr id="100015" name="Element-11"/>
          <p:cNvSpPr/>
          <p:nvPr/>
        </p:nvSpPr>
        <p:spPr>
          <a:xfrm xmlns:a="http://schemas.openxmlformats.org/drawingml/2006/main">
            <a:off x="648000" y="6300000"/>
            <a:ext cx="504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850" b="0" i="0">
                <a:solidFill>
                  <a:srgbClr val="5C626C"/>
                </a:solidFill>
                <a:latin typeface="Arial"/>
                <a:ea typeface="Arial"/>
              </a:rPr>
              <a:t>Project LANCE — NATO SPS G6259</a:t>
            </a:r>
          </a:p>
        </p:txBody>
      </p:sp>
      <p:sp>
        <p:nvSpPr>
          <p:cNvPr id="100016" name="Element-12"/>
          <p:cNvSpPr/>
          <p:nvPr/>
        </p:nvSpPr>
        <p:spPr>
          <a:xfrm xmlns:a="http://schemas.openxmlformats.org/drawingml/2006/main">
            <a:off x="11016000" y="6300000"/>
            <a:ext cx="504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850" b="0" i="0">
                <a:solidFill>
                  <a:srgbClr val="5C626C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00017" name="Element-13"/>
          <p:cNvSpPr/>
          <p:nvPr/>
        </p:nvSpPr>
        <p:spPr>
          <a:xfrm xmlns:a="http://schemas.openxmlformats.org/drawingml/2006/main">
            <a:off x="1440000" y="1764000"/>
            <a:ext cx="9360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500" b="1" i="0">
                <a:solidFill>
                  <a:srgbClr val="20252D"/>
                </a:solidFill>
                <a:latin typeface="Arial"/>
                <a:ea typeface="Arial"/>
              </a:rPr>
              <a:t>An auditor that explores, identifies,</a:t>
            </a:r>
          </a:p>
          <a:p xmlns:a="http://schemas.openxmlformats.org/drawingml/2006/main">
            <a:pPr algn="ctr"/>
            <a:r>
              <a:rPr lang="en-US" sz="2500" b="1" i="0">
                <a:solidFill>
                  <a:srgbClr val="20252D"/>
                </a:solidFill>
                <a:latin typeface="Arial"/>
                <a:ea typeface="Arial"/>
              </a:rPr>
              <a:t>verifies and reports.</a:t>
            </a:r>
          </a:p>
        </p:txBody>
      </p:sp>
      <p:sp>
        <p:nvSpPr>
          <p:cNvPr id="100018" name="Element-14"/>
          <p:cNvSpPr/>
          <p:nvPr/>
        </p:nvSpPr>
        <p:spPr>
          <a:xfrm xmlns:a="http://schemas.openxmlformats.org/drawingml/2006/main">
            <a:off x="6066000" y="2916000"/>
            <a:ext cx="216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19" name="Element-15"/>
          <p:cNvSpPr/>
          <p:nvPr/>
        </p:nvSpPr>
        <p:spPr>
          <a:xfrm xmlns:a="http://schemas.openxmlformats.org/drawingml/2006/main">
            <a:off x="792000" y="3204000"/>
            <a:ext cx="10584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20" name="c0"/>
          <p:cNvSpPr/>
          <p:nvPr/>
        </p:nvSpPr>
        <p:spPr>
          <a:xfrm xmlns:a="http://schemas.openxmlformats.org/drawingml/2006/main">
            <a:off x="792000" y="3420000"/>
            <a:ext cx="3312000" cy="6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12700">
            <a:solidFill>
              <a:srgbClr val="D9DEE5"/>
            </a:solidFill>
          </a:ln>
        </p:spPr>
        <p:txBody>
          <a:bodyPr xmlns:a="http://schemas.openxmlformats.org/drawingml/2006/main" lIns="64800" tIns="64800" rIns="64800" bIns="6480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850" b="1" i="0">
                <a:solidFill>
                  <a:srgbClr val="20252D"/>
                </a:solidFill>
                <a:latin typeface="Arial"/>
                <a:ea typeface="Arial"/>
              </a:rPr>
              <a:t>Under which conditions</a:t>
            </a:r>
          </a:p>
        </p:txBody>
      </p:sp>
      <p:sp>
        <p:nvSpPr>
          <p:cNvPr id="100021" name="Element-17"/>
          <p:cNvSpPr/>
          <p:nvPr/>
        </p:nvSpPr>
        <p:spPr>
          <a:xfrm xmlns:a="http://schemas.openxmlformats.org/drawingml/2006/main">
            <a:off x="792000" y="4140000"/>
            <a:ext cx="3312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400" b="0" i="0">
                <a:solidFill>
                  <a:srgbClr val="5C626C"/>
                </a:solidFill>
                <a:latin typeface="Arial"/>
                <a:ea typeface="Arial"/>
              </a:rPr>
              <a:t>rather than which model prevails</a:t>
            </a:r>
          </a:p>
        </p:txBody>
      </p:sp>
      <p:sp>
        <p:nvSpPr>
          <p:cNvPr id="100022" name="Element-18"/>
          <p:cNvSpPr/>
          <p:nvPr/>
        </p:nvSpPr>
        <p:spPr>
          <a:xfrm xmlns:a="http://schemas.openxmlformats.org/drawingml/2006/main">
            <a:off x="2430000" y="3225600"/>
            <a:ext cx="324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23" name="c1"/>
          <p:cNvSpPr/>
          <p:nvPr/>
        </p:nvSpPr>
        <p:spPr>
          <a:xfrm xmlns:a="http://schemas.openxmlformats.org/drawingml/2006/main">
            <a:off x="4428000" y="3420000"/>
            <a:ext cx="3312000" cy="6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12700">
            <a:solidFill>
              <a:srgbClr val="D9DEE5"/>
            </a:solidFill>
          </a:ln>
        </p:spPr>
        <p:txBody>
          <a:bodyPr xmlns:a="http://schemas.openxmlformats.org/drawingml/2006/main" lIns="64800" tIns="64800" rIns="64800" bIns="6480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700" b="1" i="0">
                <a:solidFill>
                  <a:srgbClr val="20252D"/>
                </a:solidFill>
                <a:latin typeface="Arial"/>
                <a:ea typeface="Arial"/>
              </a:rPr>
              <a:t>Identical tools and budget</a:t>
            </a:r>
          </a:p>
        </p:txBody>
      </p:sp>
      <p:sp>
        <p:nvSpPr>
          <p:cNvPr id="100024" name="Element-20"/>
          <p:cNvSpPr/>
          <p:nvPr/>
        </p:nvSpPr>
        <p:spPr>
          <a:xfrm xmlns:a="http://schemas.openxmlformats.org/drawingml/2006/main">
            <a:off x="4428000" y="4140000"/>
            <a:ext cx="3312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400" b="0" i="0">
                <a:solidFill>
                  <a:srgbClr val="5C626C"/>
                </a:solidFill>
                <a:latin typeface="Arial"/>
                <a:ea typeface="Arial"/>
              </a:rPr>
              <a:t>for both approaches</a:t>
            </a:r>
          </a:p>
        </p:txBody>
      </p:sp>
      <p:sp>
        <p:nvSpPr>
          <p:cNvPr id="100025" name="Element-21"/>
          <p:cNvSpPr/>
          <p:nvPr/>
        </p:nvSpPr>
        <p:spPr>
          <a:xfrm xmlns:a="http://schemas.openxmlformats.org/drawingml/2006/main">
            <a:off x="6066000" y="3225600"/>
            <a:ext cx="324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26" name="c2"/>
          <p:cNvSpPr/>
          <p:nvPr/>
        </p:nvSpPr>
        <p:spPr>
          <a:xfrm xmlns:a="http://schemas.openxmlformats.org/drawingml/2006/main">
            <a:off x="8064000" y="3420000"/>
            <a:ext cx="3312000" cy="6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12700">
            <a:solidFill>
              <a:srgbClr val="D9DEE5"/>
            </a:solidFill>
          </a:ln>
        </p:spPr>
        <p:txBody>
          <a:bodyPr xmlns:a="http://schemas.openxmlformats.org/drawingml/2006/main" lIns="64800" tIns="64800" rIns="64800" bIns="6480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900" b="1" i="0">
                <a:solidFill>
                  <a:srgbClr val="20252D"/>
                </a:solidFill>
                <a:latin typeface="Arial"/>
                <a:ea typeface="Arial"/>
              </a:rPr>
              <a:t>Evidence, not assertion</a:t>
            </a:r>
          </a:p>
        </p:txBody>
      </p:sp>
      <p:sp>
        <p:nvSpPr>
          <p:cNvPr id="100027" name="Element-23"/>
          <p:cNvSpPr/>
          <p:nvPr/>
        </p:nvSpPr>
        <p:spPr>
          <a:xfrm xmlns:a="http://schemas.openxmlformats.org/drawingml/2006/main">
            <a:off x="8064000" y="4140000"/>
            <a:ext cx="3312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400" b="0" i="0">
                <a:solidFill>
                  <a:srgbClr val="5C626C"/>
                </a:solidFill>
                <a:latin typeface="Arial"/>
                <a:ea typeface="Arial"/>
              </a:rPr>
              <a:t>recomputed from the log</a:t>
            </a:r>
          </a:p>
        </p:txBody>
      </p:sp>
      <p:sp>
        <p:nvSpPr>
          <p:cNvPr id="100028" name="Element-24"/>
          <p:cNvSpPr/>
          <p:nvPr/>
        </p:nvSpPr>
        <p:spPr>
          <a:xfrm xmlns:a="http://schemas.openxmlformats.org/drawingml/2006/main">
            <a:off x="9702000" y="3225600"/>
            <a:ext cx="324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29" name="Element-25"/>
          <p:cNvSpPr/>
          <p:nvPr/>
        </p:nvSpPr>
        <p:spPr>
          <a:xfrm xmlns:a="http://schemas.openxmlformats.org/drawingml/2006/main">
            <a:off x="792000" y="5148000"/>
            <a:ext cx="105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B60036"/>
                </a:solidFill>
                <a:latin typeface="Arial"/>
                <a:ea typeface="Arial"/>
              </a:rPr>
              <a:t>Model training is not a current priority.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id="100030" name="Picture 1" descr="SMart ILIA — UMON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560a804a0461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792000" y="223200"/>
            <a:ext cx="1692000" cy="579864"/>
          </a:xfrm>
          <a:prstGeom xmlns:a="http://schemas.openxmlformats.org/drawingml/2006/main" prst="rect">
            <a:avLst/>
          </a:prstGeom>
        </p:spPr>
      </p:pic>
      <p:sp>
        <p:nvSpPr>
          <p:cNvPr id="100031" name="Title"/>
          <p:cNvSpPr/>
          <p:nvPr/>
        </p:nvSpPr>
        <p:spPr>
          <a:xfrm xmlns:a="http://schemas.openxmlformats.org/drawingml/2006/main">
            <a:off x="648000" y="630000"/>
            <a:ext cx="89280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900" b="1" i="0">
                <a:solidFill>
                  <a:srgbClr val="20252D"/>
                </a:solidFill>
                <a:latin typeface="Arial"/>
                <a:ea typeface="Arial"/>
              </a:rPr>
              <a:t>The instrument</a:t>
            </a:r>
          </a:p>
        </p:txBody>
      </p:sp>
      <p:sp>
        <p:nvSpPr>
          <p:cNvPr id="100032" name="Element-5"/>
          <p:cNvSpPr/>
          <p:nvPr/>
        </p:nvSpPr>
        <p:spPr>
          <a:xfrm xmlns:a="http://schemas.openxmlformats.org/drawingml/2006/main">
            <a:off x="648000" y="1422000"/>
            <a:ext cx="1224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33" name="Element-6"/>
          <p:cNvSpPr/>
          <p:nvPr/>
        </p:nvSpPr>
        <p:spPr>
          <a:xfrm xmlns:a="http://schemas.openxmlformats.org/drawingml/2006/main">
            <a:off x="648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5C626C"/>
                </a:solidFill>
                <a:latin typeface="Arial"/>
                <a:ea typeface="Arial"/>
              </a:rPr>
              <a:t>Objective</a:t>
            </a:r>
          </a:p>
        </p:txBody>
      </p:sp>
      <p:sp>
        <p:nvSpPr>
          <p:cNvPr id="100034" name="Element-7"/>
          <p:cNvSpPr/>
          <p:nvPr/>
        </p:nvSpPr>
        <p:spPr>
          <a:xfrm xmlns:a="http://schemas.openxmlformats.org/drawingml/2006/main">
            <a:off x="2664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B60036"/>
                </a:solidFill>
                <a:latin typeface="Arial"/>
                <a:ea typeface="Arial"/>
              </a:rPr>
              <a:t>Instrument</a:t>
            </a:r>
          </a:p>
        </p:txBody>
      </p:sp>
      <p:sp>
        <p:nvSpPr>
          <p:cNvPr id="100035" name="Element-8"/>
          <p:cNvSpPr/>
          <p:nvPr/>
        </p:nvSpPr>
        <p:spPr>
          <a:xfrm xmlns:a="http://schemas.openxmlformats.org/drawingml/2006/main">
            <a:off x="2664000" y="540000"/>
            <a:ext cx="1800000" cy="1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36" name="Element-9"/>
          <p:cNvSpPr/>
          <p:nvPr/>
        </p:nvSpPr>
        <p:spPr>
          <a:xfrm xmlns:a="http://schemas.openxmlformats.org/drawingml/2006/main">
            <a:off x="4680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5C626C"/>
                </a:solidFill>
                <a:latin typeface="Arial"/>
                <a:ea typeface="Arial"/>
              </a:rPr>
              <a:t>Hypotheses</a:t>
            </a:r>
          </a:p>
        </p:txBody>
      </p:sp>
      <p:sp>
        <p:nvSpPr>
          <p:cNvPr id="100037" name="Element-10"/>
          <p:cNvSpPr/>
          <p:nvPr/>
        </p:nvSpPr>
        <p:spPr>
          <a:xfrm xmlns:a="http://schemas.openxmlformats.org/drawingml/2006/main">
            <a:off x="6696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5C626C"/>
                </a:solidFill>
                <a:latin typeface="Arial"/>
                <a:ea typeface="Arial"/>
              </a:rPr>
              <a:t>Outlook</a:t>
            </a:r>
          </a:p>
        </p:txBody>
      </p:sp>
      <p:sp>
        <p:nvSpPr>
          <p:cNvPr id="100038" name="Element-11"/>
          <p:cNvSpPr/>
          <p:nvPr/>
        </p:nvSpPr>
        <p:spPr>
          <a:xfrm xmlns:a="http://schemas.openxmlformats.org/drawingml/2006/main">
            <a:off x="648000" y="6300000"/>
            <a:ext cx="504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850" b="0" i="0">
                <a:solidFill>
                  <a:srgbClr val="5C626C"/>
                </a:solidFill>
                <a:latin typeface="Arial"/>
                <a:ea typeface="Arial"/>
              </a:rPr>
              <a:t>Project LANCE — NATO SPS G6259</a:t>
            </a:r>
          </a:p>
        </p:txBody>
      </p:sp>
      <p:sp>
        <p:nvSpPr>
          <p:cNvPr id="100039" name="Element-12"/>
          <p:cNvSpPr/>
          <p:nvPr/>
        </p:nvSpPr>
        <p:spPr>
          <a:xfrm xmlns:a="http://schemas.openxmlformats.org/drawingml/2006/main">
            <a:off x="11016000" y="6300000"/>
            <a:ext cx="504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850" b="0" i="0">
                <a:solidFill>
                  <a:srgbClr val="5C626C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00040" name="lab"/>
          <p:cNvSpPr/>
          <p:nvPr/>
        </p:nvSpPr>
        <p:spPr>
          <a:xfrm xmlns:a="http://schemas.openxmlformats.org/drawingml/2006/main">
            <a:off x="864000" y="2160000"/>
            <a:ext cx="3024000" cy="68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12700">
            <a:solidFill>
              <a:srgbClr val="D9DEE5"/>
            </a:solidFill>
          </a:ln>
        </p:spPr>
        <p:txBody>
          <a:bodyPr xmlns:a="http://schemas.openxmlformats.org/drawingml/2006/main" lIns="64800" tIns="64800" rIns="64800" bIns="6480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300" b="1" i="0">
                <a:solidFill>
                  <a:srgbClr val="20252D"/>
                </a:solidFill>
                <a:latin typeface="Arial"/>
                <a:ea typeface="Arial"/>
              </a:rPr>
              <a:t>Laboratory</a:t>
            </a:r>
          </a:p>
        </p:txBody>
      </p:sp>
      <p:sp>
        <p:nvSpPr>
          <p:cNvPr id="100041" name="Element-14"/>
          <p:cNvSpPr/>
          <p:nvPr/>
        </p:nvSpPr>
        <p:spPr>
          <a:xfrm xmlns:a="http://schemas.openxmlformats.org/drawingml/2006/main">
            <a:off x="864000" y="2916000"/>
            <a:ext cx="302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300" b="0" i="0">
                <a:solidFill>
                  <a:srgbClr val="5C626C"/>
                </a:solidFill>
                <a:latin typeface="Arial"/>
                <a:ea typeface="Arial"/>
              </a:rPr>
              <a:t>networks with known ground truth</a:t>
            </a:r>
          </a:p>
        </p:txBody>
      </p:sp>
      <p:sp>
        <p:nvSpPr>
          <p:cNvPr id="100042" name="plat"/>
          <p:cNvSpPr/>
          <p:nvPr/>
        </p:nvSpPr>
        <p:spPr>
          <a:xfrm xmlns:a="http://schemas.openxmlformats.org/drawingml/2006/main">
            <a:off x="4572000" y="2160000"/>
            <a:ext cx="3024000" cy="68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6FC"/>
          </a:solidFill>
          <a:ln xmlns:a="http://schemas.openxmlformats.org/drawingml/2006/main" w="12700">
            <a:solidFill>
              <a:srgbClr val="1D5C96"/>
            </a:solidFill>
          </a:ln>
        </p:spPr>
        <p:txBody>
          <a:bodyPr xmlns:a="http://schemas.openxmlformats.org/drawingml/2006/main" lIns="64800" tIns="64800" rIns="64800" bIns="6480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300" b="1" i="0">
                <a:solidFill>
                  <a:srgbClr val="1D5C96"/>
                </a:solidFill>
                <a:latin typeface="Arial"/>
                <a:ea typeface="Arial"/>
              </a:rPr>
              <a:t>Platform</a:t>
            </a:r>
          </a:p>
        </p:txBody>
      </p:sp>
      <p:sp>
        <p:nvSpPr>
          <p:cNvPr id="100043" name="Element-16"/>
          <p:cNvSpPr/>
          <p:nvPr/>
        </p:nvSpPr>
        <p:spPr>
          <a:xfrm xmlns:a="http://schemas.openxmlformats.org/drawingml/2006/main">
            <a:off x="4572000" y="2916000"/>
            <a:ext cx="302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500" b="0" i="0">
                <a:solidFill>
                  <a:srgbClr val="5C626C"/>
                </a:solidFill>
                <a:latin typeface="Arial"/>
                <a:ea typeface="Arial"/>
              </a:rPr>
              <a:t>conducts the audit</a:t>
            </a:r>
          </a:p>
        </p:txBody>
      </p:sp>
      <p:sp>
        <p:nvSpPr>
          <p:cNvPr id="100044" name="bench"/>
          <p:cNvSpPr/>
          <p:nvPr/>
        </p:nvSpPr>
        <p:spPr>
          <a:xfrm xmlns:a="http://schemas.openxmlformats.org/drawingml/2006/main">
            <a:off x="8280000" y="2160000"/>
            <a:ext cx="3024000" cy="68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F0F4"/>
          </a:solidFill>
          <a:ln xmlns:a="http://schemas.openxmlformats.org/drawingml/2006/main" w="12700">
            <a:solidFill>
              <a:srgbClr val="B60036"/>
            </a:solidFill>
          </a:ln>
        </p:spPr>
        <p:txBody>
          <a:bodyPr xmlns:a="http://schemas.openxmlformats.org/drawingml/2006/main" lIns="64800" tIns="64800" rIns="64800" bIns="6480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300" b="1" i="0">
                <a:solidFill>
                  <a:srgbClr val="B60036"/>
                </a:solidFill>
                <a:latin typeface="Arial"/>
                <a:ea typeface="Arial"/>
              </a:rPr>
              <a:t>Benchmark</a:t>
            </a:r>
          </a:p>
        </p:txBody>
      </p:sp>
      <p:sp>
        <p:nvSpPr>
          <p:cNvPr id="100045" name="Element-18"/>
          <p:cNvSpPr/>
          <p:nvPr/>
        </p:nvSpPr>
        <p:spPr>
          <a:xfrm xmlns:a="http://schemas.openxmlformats.org/drawingml/2006/main">
            <a:off x="8280000" y="2916000"/>
            <a:ext cx="302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500" b="0" i="0">
                <a:solidFill>
                  <a:srgbClr val="5C626C"/>
                </a:solidFill>
                <a:latin typeface="Arial"/>
                <a:ea typeface="Arial"/>
              </a:rPr>
              <a:t>assesses the result</a:t>
            </a:r>
          </a:p>
        </p:txBody>
      </p:sp>
      <p:cxnSp>
        <p:nvCxnSpPr>
          <p:cNvPr id="100046" name="Connector 1"/>
          <p:cNvCxnSpPr>
            <a:stCxn xmlns:a="http://schemas.openxmlformats.org/drawingml/2006/main" id="100040" idx="0"/>
            <a:endCxn xmlns:a="http://schemas.openxmlformats.org/drawingml/2006/main" id="100042" idx="0"/>
          </p:cNvCxnSpPr>
          <p:nvPr/>
        </p:nvCxnSpPr>
        <p:spPr>
          <a:xfrm xmlns:a="http://schemas.openxmlformats.org/drawingml/2006/main">
            <a:off x="3888000" y="2502000"/>
            <a:ext cx="68400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5C626C"/>
            </a:solidFill>
            <a:tailEnd type="triangle"/>
          </a:ln>
        </p:spPr>
      </p:cxnSp>
      <p:cxnSp>
        <p:nvCxnSpPr>
          <p:cNvPr id="100047" name="Connector 2"/>
          <p:cNvCxnSpPr>
            <a:stCxn xmlns:a="http://schemas.openxmlformats.org/drawingml/2006/main" id="100042" idx="0"/>
            <a:endCxn xmlns:a="http://schemas.openxmlformats.org/drawingml/2006/main" id="100044" idx="0"/>
          </p:cNvCxnSpPr>
          <p:nvPr/>
        </p:nvCxnSpPr>
        <p:spPr>
          <a:xfrm xmlns:a="http://schemas.openxmlformats.org/drawingml/2006/main">
            <a:off x="7596000" y="2502000"/>
            <a:ext cx="68400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5C626C"/>
            </a:solidFill>
            <a:tailEnd type="triangle"/>
          </a:ln>
        </p:spPr>
      </p:cxnSp>
      <p:sp>
        <p:nvSpPr>
          <p:cNvPr id="100048" name="Element-21"/>
          <p:cNvSpPr/>
          <p:nvPr/>
        </p:nvSpPr>
        <p:spPr>
          <a:xfrm xmlns:a="http://schemas.openxmlformats.org/drawingml/2006/main">
            <a:off x="864000" y="4176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050" b="1" i="0">
                <a:solidFill>
                  <a:srgbClr val="B60036"/>
                </a:solidFill>
                <a:latin typeface="Arial"/>
                <a:ea typeface="Arial"/>
              </a:rPr>
              <a:t>The model is one component among them.</a:t>
            </a:r>
          </a:p>
        </p:txBody>
      </p:sp>
      <p:sp>
        <p:nvSpPr>
          <p:cNvPr id="100049" name="Element-22"/>
          <p:cNvSpPr/>
          <p:nvPr/>
        </p:nvSpPr>
        <p:spPr>
          <a:xfrm xmlns:a="http://schemas.openxmlformats.org/drawingml/2006/main">
            <a:off x="864000" y="4824000"/>
            <a:ext cx="104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400" b="0" i="0">
                <a:solidFill>
                  <a:srgbClr val="5C626C"/>
                </a:solidFill>
                <a:latin typeface="Arial"/>
                <a:ea typeface="Arial"/>
              </a:rPr>
              <a:t>A run constitutes a measurement only against known ground truth.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id="100050" name="Picture 1" descr="SMart ILIA — UMON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3c1d73625464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792000" y="223200"/>
            <a:ext cx="1692000" cy="579864"/>
          </a:xfrm>
          <a:prstGeom xmlns:a="http://schemas.openxmlformats.org/drawingml/2006/main" prst="rect">
            <a:avLst/>
          </a:prstGeom>
        </p:spPr>
      </p:pic>
      <p:sp>
        <p:nvSpPr>
          <p:cNvPr id="100051" name="Title"/>
          <p:cNvSpPr/>
          <p:nvPr/>
        </p:nvSpPr>
        <p:spPr>
          <a:xfrm xmlns:a="http://schemas.openxmlformats.org/drawingml/2006/main">
            <a:off x="648000" y="630000"/>
            <a:ext cx="89280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900" b="1" i="0">
                <a:solidFill>
                  <a:srgbClr val="20252D"/>
                </a:solidFill>
                <a:latin typeface="Arial"/>
                <a:ea typeface="Arial"/>
              </a:rPr>
              <a:t>What constitutes a finding</a:t>
            </a:r>
          </a:p>
        </p:txBody>
      </p:sp>
      <p:sp>
        <p:nvSpPr>
          <p:cNvPr id="100052" name="Element-5"/>
          <p:cNvSpPr/>
          <p:nvPr/>
        </p:nvSpPr>
        <p:spPr>
          <a:xfrm xmlns:a="http://schemas.openxmlformats.org/drawingml/2006/main">
            <a:off x="648000" y="1422000"/>
            <a:ext cx="1224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53" name="Element-6"/>
          <p:cNvSpPr/>
          <p:nvPr/>
        </p:nvSpPr>
        <p:spPr>
          <a:xfrm xmlns:a="http://schemas.openxmlformats.org/drawingml/2006/main">
            <a:off x="648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5C626C"/>
                </a:solidFill>
                <a:latin typeface="Arial"/>
                <a:ea typeface="Arial"/>
              </a:rPr>
              <a:t>Objective</a:t>
            </a:r>
          </a:p>
        </p:txBody>
      </p:sp>
      <p:sp>
        <p:nvSpPr>
          <p:cNvPr id="100054" name="Element-7"/>
          <p:cNvSpPr/>
          <p:nvPr/>
        </p:nvSpPr>
        <p:spPr>
          <a:xfrm xmlns:a="http://schemas.openxmlformats.org/drawingml/2006/main">
            <a:off x="2664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B60036"/>
                </a:solidFill>
                <a:latin typeface="Arial"/>
                <a:ea typeface="Arial"/>
              </a:rPr>
              <a:t>Instrument</a:t>
            </a:r>
          </a:p>
        </p:txBody>
      </p:sp>
      <p:sp>
        <p:nvSpPr>
          <p:cNvPr id="100055" name="Element-8"/>
          <p:cNvSpPr/>
          <p:nvPr/>
        </p:nvSpPr>
        <p:spPr>
          <a:xfrm xmlns:a="http://schemas.openxmlformats.org/drawingml/2006/main">
            <a:off x="2664000" y="540000"/>
            <a:ext cx="1800000" cy="1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56" name="Element-9"/>
          <p:cNvSpPr/>
          <p:nvPr/>
        </p:nvSpPr>
        <p:spPr>
          <a:xfrm xmlns:a="http://schemas.openxmlformats.org/drawingml/2006/main">
            <a:off x="4680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5C626C"/>
                </a:solidFill>
                <a:latin typeface="Arial"/>
                <a:ea typeface="Arial"/>
              </a:rPr>
              <a:t>Hypotheses</a:t>
            </a:r>
          </a:p>
        </p:txBody>
      </p:sp>
      <p:sp>
        <p:nvSpPr>
          <p:cNvPr id="100057" name="Element-10"/>
          <p:cNvSpPr/>
          <p:nvPr/>
        </p:nvSpPr>
        <p:spPr>
          <a:xfrm xmlns:a="http://schemas.openxmlformats.org/drawingml/2006/main">
            <a:off x="6696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5C626C"/>
                </a:solidFill>
                <a:latin typeface="Arial"/>
                <a:ea typeface="Arial"/>
              </a:rPr>
              <a:t>Outlook</a:t>
            </a:r>
          </a:p>
        </p:txBody>
      </p:sp>
      <p:sp>
        <p:nvSpPr>
          <p:cNvPr id="100058" name="Element-11"/>
          <p:cNvSpPr/>
          <p:nvPr/>
        </p:nvSpPr>
        <p:spPr>
          <a:xfrm xmlns:a="http://schemas.openxmlformats.org/drawingml/2006/main">
            <a:off x="648000" y="6300000"/>
            <a:ext cx="504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850" b="0" i="0">
                <a:solidFill>
                  <a:srgbClr val="5C626C"/>
                </a:solidFill>
                <a:latin typeface="Arial"/>
                <a:ea typeface="Arial"/>
              </a:rPr>
              <a:t>Project LANCE — NATO SPS G6259</a:t>
            </a:r>
          </a:p>
        </p:txBody>
      </p:sp>
      <p:sp>
        <p:nvSpPr>
          <p:cNvPr id="100059" name="Element-12"/>
          <p:cNvSpPr/>
          <p:nvPr/>
        </p:nvSpPr>
        <p:spPr>
          <a:xfrm xmlns:a="http://schemas.openxmlformats.org/drawingml/2006/main">
            <a:off x="11016000" y="6300000"/>
            <a:ext cx="504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850" b="0" i="0">
                <a:solidFill>
                  <a:srgbClr val="5C626C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100060" name="Element-13"/>
          <p:cNvSpPr/>
          <p:nvPr/>
        </p:nvSpPr>
        <p:spPr>
          <a:xfrm xmlns:a="http://schemas.openxmlformats.org/drawingml/2006/main">
            <a:off x="792000" y="1944000"/>
            <a:ext cx="5112000" cy="172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12700">
            <a:solidFill>
              <a:srgbClr val="D9DEE5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61" name="Element-14"/>
          <p:cNvSpPr/>
          <p:nvPr/>
        </p:nvSpPr>
        <p:spPr>
          <a:xfrm xmlns:a="http://schemas.openxmlformats.org/drawingml/2006/main">
            <a:off x="972000" y="2088000"/>
            <a:ext cx="47520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700" b="0" i="1">
                <a:solidFill>
                  <a:srgbClr val="5C626C"/>
                </a:solidFill>
                <a:latin typeface="Arial"/>
                <a:ea typeface="Arial"/>
              </a:rPr>
              <a:t>“I have read another organisation's data.”</a:t>
            </a:r>
          </a:p>
        </p:txBody>
      </p:sp>
      <p:sp>
        <p:nvSpPr>
          <p:cNvPr id="100062" name="Element-15"/>
          <p:cNvSpPr/>
          <p:nvPr/>
        </p:nvSpPr>
        <p:spPr>
          <a:xfrm xmlns:a="http://schemas.openxmlformats.org/drawingml/2006/main">
            <a:off x="972000" y="2988000"/>
            <a:ext cx="4752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900" b="1" i="0">
                <a:solidFill>
                  <a:srgbClr val="B60036"/>
                </a:solidFill>
                <a:latin typeface="Arial"/>
                <a:ea typeface="Arial"/>
              </a:rPr>
              <a:t>✕   Not admitted</a:t>
            </a:r>
          </a:p>
        </p:txBody>
      </p:sp>
      <p:sp>
        <p:nvSpPr>
          <p:cNvPr id="100063" name="Element-16"/>
          <p:cNvSpPr/>
          <p:nvPr/>
        </p:nvSpPr>
        <p:spPr>
          <a:xfrm xmlns:a="http://schemas.openxmlformats.org/drawingml/2006/main">
            <a:off x="6264000" y="1944000"/>
            <a:ext cx="5112000" cy="172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F0F4"/>
          </a:solidFill>
          <a:ln xmlns:a="http://schemas.openxmlformats.org/drawingml/2006/main" w="12700">
            <a:solidFill>
              <a:srgbClr val="B6003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64" name="Element-17"/>
          <p:cNvSpPr/>
          <p:nvPr/>
        </p:nvSpPr>
        <p:spPr>
          <a:xfrm xmlns:a="http://schemas.openxmlformats.org/drawingml/2006/main">
            <a:off x="6444000" y="2088000"/>
            <a:ext cx="47520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400" b="0" i="0">
                <a:solidFill>
                  <a:srgbClr val="20252D"/>
                </a:solidFill>
                <a:latin typeface="Arial"/>
                <a:ea typeface="Arial"/>
              </a:rPr>
              <a:t>The request and its response</a:t>
            </a:r>
          </a:p>
          <a:p xmlns:a="http://schemas.openxmlformats.org/drawingml/2006/main">
            <a:pPr algn="ctr"/>
            <a:r>
              <a:rPr lang="en-US" sz="1400" b="0" i="0">
                <a:solidFill>
                  <a:srgbClr val="20252D"/>
                </a:solidFill>
                <a:latin typeface="Arial"/>
                <a:ea typeface="Arial"/>
              </a:rPr>
              <a:t>contain the data.</a:t>
            </a:r>
          </a:p>
        </p:txBody>
      </p:sp>
      <p:sp>
        <p:nvSpPr>
          <p:cNvPr id="100065" name="Element-18"/>
          <p:cNvSpPr/>
          <p:nvPr/>
        </p:nvSpPr>
        <p:spPr>
          <a:xfrm xmlns:a="http://schemas.openxmlformats.org/drawingml/2006/main">
            <a:off x="6444000" y="2988000"/>
            <a:ext cx="4752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900" b="1" i="0">
                <a:solidFill>
                  <a:srgbClr val="2E7D5B"/>
                </a:solidFill>
                <a:latin typeface="Arial"/>
                <a:ea typeface="Arial"/>
              </a:rPr>
              <a:t>✓   Admitted</a:t>
            </a:r>
          </a:p>
        </p:txBody>
      </p:sp>
      <p:sp>
        <p:nvSpPr>
          <p:cNvPr id="100066" name="Element-19"/>
          <p:cNvSpPr/>
          <p:nvPr/>
        </p:nvSpPr>
        <p:spPr>
          <a:xfrm xmlns:a="http://schemas.openxmlformats.org/drawingml/2006/main">
            <a:off x="792000" y="4032000"/>
            <a:ext cx="105840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650" b="1" i="0">
                <a:solidFill>
                  <a:srgbClr val="B60036"/>
                </a:solidFill>
                <a:latin typeface="Arial"/>
                <a:ea typeface="Arial"/>
              </a:rPr>
              <a:t>The finding is recomputed from the log;</a:t>
            </a:r>
          </a:p>
          <a:p xmlns:a="http://schemas.openxmlformats.org/drawingml/2006/main">
            <a:pPr algn="ctr"/>
            <a:r>
              <a:rPr lang="en-US" sz="1650" b="1" i="0">
                <a:solidFill>
                  <a:srgbClr val="B60036"/>
                </a:solidFill>
                <a:latin typeface="Arial"/>
                <a:ea typeface="Arial"/>
              </a:rPr>
              <a:t>the conclusion is never taken on trust.</a:t>
            </a:r>
          </a:p>
        </p:txBody>
      </p:sp>
      <p:sp>
        <p:nvSpPr>
          <p:cNvPr id="100067" name="Element-20"/>
          <p:cNvSpPr/>
          <p:nvPr/>
        </p:nvSpPr>
        <p:spPr>
          <a:xfrm xmlns:a="http://schemas.openxmlformats.org/drawingml/2006/main">
            <a:off x="792000" y="4860000"/>
            <a:ext cx="105840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400" b="0" i="0">
                <a:solidFill>
                  <a:srgbClr val="5C626C"/>
                </a:solidFill>
                <a:latin typeface="Arial"/>
                <a:ea typeface="Arial"/>
              </a:rPr>
              <a:t>The same trial is conducted on a healthy and on a vulnerable network.</a:t>
            </a:r>
          </a:p>
          <a:p xmlns:a="http://schemas.openxmlformats.org/drawingml/2006/main">
            <a:pPr algn="ctr"/>
            <a:r>
              <a:rPr lang="en-US" sz="1400" b="0" i="0">
                <a:solidFill>
                  <a:srgbClr val="5C626C"/>
                </a:solidFill>
                <a:latin typeface="Arial"/>
                <a:ea typeface="Arial"/>
              </a:rPr>
              <a:t>A finding reported on the healthy one is recorded as an error.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id="100068" name="Picture 1" descr="SMart ILIA — UMON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39dada269443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792000" y="223200"/>
            <a:ext cx="1692000" cy="579864"/>
          </a:xfrm>
          <a:prstGeom xmlns:a="http://schemas.openxmlformats.org/drawingml/2006/main" prst="rect">
            <a:avLst/>
          </a:prstGeom>
        </p:spPr>
      </p:pic>
      <p:sp>
        <p:nvSpPr>
          <p:cNvPr id="100069" name="Title"/>
          <p:cNvSpPr/>
          <p:nvPr/>
        </p:nvSpPr>
        <p:spPr>
          <a:xfrm xmlns:a="http://schemas.openxmlformats.org/drawingml/2006/main">
            <a:off x="648000" y="630000"/>
            <a:ext cx="89280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900" b="1" i="0">
                <a:solidFill>
                  <a:srgbClr val="20252D"/>
                </a:solidFill>
                <a:latin typeface="Arial"/>
                <a:ea typeface="Arial"/>
              </a:rPr>
              <a:t>Current status</a:t>
            </a:r>
          </a:p>
        </p:txBody>
      </p:sp>
      <p:sp>
        <p:nvSpPr>
          <p:cNvPr id="100070" name="Element-5"/>
          <p:cNvSpPr/>
          <p:nvPr/>
        </p:nvSpPr>
        <p:spPr>
          <a:xfrm xmlns:a="http://schemas.openxmlformats.org/drawingml/2006/main">
            <a:off x="648000" y="1422000"/>
            <a:ext cx="1224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71" name="Element-6"/>
          <p:cNvSpPr/>
          <p:nvPr/>
        </p:nvSpPr>
        <p:spPr>
          <a:xfrm xmlns:a="http://schemas.openxmlformats.org/drawingml/2006/main">
            <a:off x="648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5C626C"/>
                </a:solidFill>
                <a:latin typeface="Arial"/>
                <a:ea typeface="Arial"/>
              </a:rPr>
              <a:t>Objective</a:t>
            </a:r>
          </a:p>
        </p:txBody>
      </p:sp>
      <p:sp>
        <p:nvSpPr>
          <p:cNvPr id="100072" name="Element-7"/>
          <p:cNvSpPr/>
          <p:nvPr/>
        </p:nvSpPr>
        <p:spPr>
          <a:xfrm xmlns:a="http://schemas.openxmlformats.org/drawingml/2006/main">
            <a:off x="2664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5C626C"/>
                </a:solidFill>
                <a:latin typeface="Arial"/>
                <a:ea typeface="Arial"/>
              </a:rPr>
              <a:t>Instrument</a:t>
            </a:r>
          </a:p>
        </p:txBody>
      </p:sp>
      <p:sp>
        <p:nvSpPr>
          <p:cNvPr id="100073" name="Element-8"/>
          <p:cNvSpPr/>
          <p:nvPr/>
        </p:nvSpPr>
        <p:spPr>
          <a:xfrm xmlns:a="http://schemas.openxmlformats.org/drawingml/2006/main">
            <a:off x="4680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B60036"/>
                </a:solidFill>
                <a:latin typeface="Arial"/>
                <a:ea typeface="Arial"/>
              </a:rPr>
              <a:t>Hypotheses</a:t>
            </a:r>
          </a:p>
        </p:txBody>
      </p:sp>
      <p:sp>
        <p:nvSpPr>
          <p:cNvPr id="100074" name="Element-9"/>
          <p:cNvSpPr/>
          <p:nvPr/>
        </p:nvSpPr>
        <p:spPr>
          <a:xfrm xmlns:a="http://schemas.openxmlformats.org/drawingml/2006/main">
            <a:off x="4680000" y="540000"/>
            <a:ext cx="1800000" cy="1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75" name="Element-10"/>
          <p:cNvSpPr/>
          <p:nvPr/>
        </p:nvSpPr>
        <p:spPr>
          <a:xfrm xmlns:a="http://schemas.openxmlformats.org/drawingml/2006/main">
            <a:off x="6696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5C626C"/>
                </a:solidFill>
                <a:latin typeface="Arial"/>
                <a:ea typeface="Arial"/>
              </a:rPr>
              <a:t>Outlook</a:t>
            </a:r>
          </a:p>
        </p:txBody>
      </p:sp>
      <p:sp>
        <p:nvSpPr>
          <p:cNvPr id="100076" name="Element-11"/>
          <p:cNvSpPr/>
          <p:nvPr/>
        </p:nvSpPr>
        <p:spPr>
          <a:xfrm xmlns:a="http://schemas.openxmlformats.org/drawingml/2006/main">
            <a:off x="648000" y="6300000"/>
            <a:ext cx="504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850" b="0" i="0">
                <a:solidFill>
                  <a:srgbClr val="5C626C"/>
                </a:solidFill>
                <a:latin typeface="Arial"/>
                <a:ea typeface="Arial"/>
              </a:rPr>
              <a:t>Project LANCE — NATO SPS G6259</a:t>
            </a:r>
          </a:p>
        </p:txBody>
      </p:sp>
      <p:sp>
        <p:nvSpPr>
          <p:cNvPr id="100077" name="Element-12"/>
          <p:cNvSpPr/>
          <p:nvPr/>
        </p:nvSpPr>
        <p:spPr>
          <a:xfrm xmlns:a="http://schemas.openxmlformats.org/drawingml/2006/main">
            <a:off x="11016000" y="6300000"/>
            <a:ext cx="504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850" b="0" i="0">
                <a:solidFill>
                  <a:srgbClr val="5C626C"/>
                </a:solidFill>
                <a:latin typeface="Arial"/>
                <a:ea typeface="Arial"/>
              </a:rPr>
              <a:t>5</a:t>
            </a:r>
          </a:p>
        </p:txBody>
      </p:sp>
      <p:sp>
        <p:nvSpPr>
          <p:cNvPr id="100078" name="Element-13"/>
          <p:cNvSpPr/>
          <p:nvPr/>
        </p:nvSpPr>
        <p:spPr>
          <a:xfrm xmlns:a="http://schemas.openxmlformats.org/drawingml/2006/main">
            <a:off x="792000" y="1872000"/>
            <a:ext cx="10584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450" b="1" i="0">
                <a:solidFill>
                  <a:srgbClr val="20252D"/>
                </a:solidFill>
                <a:latin typeface="Arial"/>
                <a:ea typeface="Arial"/>
              </a:rPr>
              <a:t>Both approaches succeed on every configuration.</a:t>
            </a:r>
          </a:p>
        </p:txBody>
      </p:sp>
      <p:sp>
        <p:nvSpPr>
          <p:cNvPr id="100079" name="Element-14"/>
          <p:cNvSpPr/>
          <p:nvPr/>
        </p:nvSpPr>
        <p:spPr>
          <a:xfrm xmlns:a="http://schemas.openxmlformats.org/drawingml/2006/main">
            <a:off x="1872000" y="2880000"/>
            <a:ext cx="1656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800" b="1" i="0">
                <a:solidFill>
                  <a:srgbClr val="20252D"/>
                </a:solidFill>
                <a:latin typeface="Arial"/>
                <a:ea typeface="Arial"/>
              </a:rPr>
              <a:t>Rule-based</a:t>
            </a:r>
          </a:p>
        </p:txBody>
      </p:sp>
      <p:sp>
        <p:nvSpPr>
          <p:cNvPr id="100080" name="Element-15"/>
          <p:cNvSpPr/>
          <p:nvPr/>
        </p:nvSpPr>
        <p:spPr>
          <a:xfrm xmlns:a="http://schemas.openxmlformats.org/drawingml/2006/main">
            <a:off x="3744000" y="2934000"/>
            <a:ext cx="4248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26C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81" name="Element-16"/>
          <p:cNvSpPr/>
          <p:nvPr/>
        </p:nvSpPr>
        <p:spPr>
          <a:xfrm xmlns:a="http://schemas.openxmlformats.org/drawingml/2006/main">
            <a:off x="8208000" y="2880000"/>
            <a:ext cx="1224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050" b="1" i="0">
                <a:solidFill>
                  <a:srgbClr val="5C626C"/>
                </a:solidFill>
                <a:latin typeface="Arial"/>
                <a:ea typeface="Arial"/>
              </a:rPr>
              <a:t>6 / 6</a:t>
            </a:r>
          </a:p>
        </p:txBody>
      </p:sp>
      <p:sp>
        <p:nvSpPr>
          <p:cNvPr id="100082" name="Element-17"/>
          <p:cNvSpPr/>
          <p:nvPr/>
        </p:nvSpPr>
        <p:spPr>
          <a:xfrm xmlns:a="http://schemas.openxmlformats.org/drawingml/2006/main">
            <a:off x="1872000" y="3708000"/>
            <a:ext cx="1656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700" b="1" i="0">
                <a:solidFill>
                  <a:srgbClr val="20252D"/>
                </a:solidFill>
                <a:latin typeface="Arial"/>
                <a:ea typeface="Arial"/>
              </a:rPr>
              <a:t>Model-based</a:t>
            </a:r>
          </a:p>
        </p:txBody>
      </p:sp>
      <p:sp>
        <p:nvSpPr>
          <p:cNvPr id="100083" name="Element-18"/>
          <p:cNvSpPr/>
          <p:nvPr/>
        </p:nvSpPr>
        <p:spPr>
          <a:xfrm xmlns:a="http://schemas.openxmlformats.org/drawingml/2006/main">
            <a:off x="3744000" y="3762000"/>
            <a:ext cx="4248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84" name="Element-19"/>
          <p:cNvSpPr/>
          <p:nvPr/>
        </p:nvSpPr>
        <p:spPr>
          <a:xfrm xmlns:a="http://schemas.openxmlformats.org/drawingml/2006/main">
            <a:off x="8208000" y="3708000"/>
            <a:ext cx="1224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050" b="1" i="0">
                <a:solidFill>
                  <a:srgbClr val="B60036"/>
                </a:solidFill>
                <a:latin typeface="Arial"/>
                <a:ea typeface="Arial"/>
              </a:rPr>
              <a:t>6 / 6</a:t>
            </a:r>
          </a:p>
        </p:txBody>
      </p:sp>
      <p:sp>
        <p:nvSpPr>
          <p:cNvPr id="100085" name="Element-20"/>
          <p:cNvSpPr/>
          <p:nvPr/>
        </p:nvSpPr>
        <p:spPr>
          <a:xfrm xmlns:a="http://schemas.openxmlformats.org/drawingml/2006/main">
            <a:off x="792000" y="4680000"/>
            <a:ext cx="10584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050" b="1" i="0">
                <a:solidFill>
                  <a:srgbClr val="B60036"/>
                </a:solidFill>
                <a:latin typeface="Arial"/>
                <a:ea typeface="Arial"/>
              </a:rPr>
              <a:t>The instrument does not discriminate between them.</a:t>
            </a:r>
          </a:p>
        </p:txBody>
      </p:sp>
      <p:sp>
        <p:nvSpPr>
          <p:cNvPr id="100086" name="Element-21"/>
          <p:cNvSpPr/>
          <p:nvPr/>
        </p:nvSpPr>
        <p:spPr>
          <a:xfrm xmlns:a="http://schemas.openxmlformats.org/drawingml/2006/main">
            <a:off x="792000" y="5184000"/>
            <a:ext cx="105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400" b="0" i="0">
                <a:solidFill>
                  <a:srgbClr val="5C626C"/>
                </a:solidFill>
                <a:latin typeface="Arial"/>
                <a:ea typeface="Arial"/>
              </a:rPr>
              <a:t>This is a limitation of the instrument, not of the model.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id="100087" name="Picture 1" descr="SMart ILIA — UMON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621d1d4c645d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792000" y="223200"/>
            <a:ext cx="1692000" cy="579864"/>
          </a:xfrm>
          <a:prstGeom xmlns:a="http://schemas.openxmlformats.org/drawingml/2006/main" prst="rect">
            <a:avLst/>
          </a:prstGeom>
        </p:spPr>
      </p:pic>
      <p:sp>
        <p:nvSpPr>
          <p:cNvPr id="100088" name="Title"/>
          <p:cNvSpPr/>
          <p:nvPr/>
        </p:nvSpPr>
        <p:spPr>
          <a:xfrm xmlns:a="http://schemas.openxmlformats.org/drawingml/2006/main">
            <a:off x="648000" y="630000"/>
            <a:ext cx="89280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900" b="1" i="0">
                <a:solidFill>
                  <a:srgbClr val="20252D"/>
                </a:solidFill>
                <a:latin typeface="Arial"/>
                <a:ea typeface="Arial"/>
              </a:rPr>
              <a:t>The objective restated as hypotheses</a:t>
            </a:r>
          </a:p>
        </p:txBody>
      </p:sp>
      <p:sp>
        <p:nvSpPr>
          <p:cNvPr id="100089" name="Element-5"/>
          <p:cNvSpPr/>
          <p:nvPr/>
        </p:nvSpPr>
        <p:spPr>
          <a:xfrm xmlns:a="http://schemas.openxmlformats.org/drawingml/2006/main">
            <a:off x="648000" y="1422000"/>
            <a:ext cx="1224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90" name="Element-6"/>
          <p:cNvSpPr/>
          <p:nvPr/>
        </p:nvSpPr>
        <p:spPr>
          <a:xfrm xmlns:a="http://schemas.openxmlformats.org/drawingml/2006/main">
            <a:off x="648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5C626C"/>
                </a:solidFill>
                <a:latin typeface="Arial"/>
                <a:ea typeface="Arial"/>
              </a:rPr>
              <a:t>Objective</a:t>
            </a:r>
          </a:p>
        </p:txBody>
      </p:sp>
      <p:sp>
        <p:nvSpPr>
          <p:cNvPr id="100091" name="Element-7"/>
          <p:cNvSpPr/>
          <p:nvPr/>
        </p:nvSpPr>
        <p:spPr>
          <a:xfrm xmlns:a="http://schemas.openxmlformats.org/drawingml/2006/main">
            <a:off x="2664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5C626C"/>
                </a:solidFill>
                <a:latin typeface="Arial"/>
                <a:ea typeface="Arial"/>
              </a:rPr>
              <a:t>Instrument</a:t>
            </a:r>
          </a:p>
        </p:txBody>
      </p:sp>
      <p:sp>
        <p:nvSpPr>
          <p:cNvPr id="100092" name="Element-8"/>
          <p:cNvSpPr/>
          <p:nvPr/>
        </p:nvSpPr>
        <p:spPr>
          <a:xfrm xmlns:a="http://schemas.openxmlformats.org/drawingml/2006/main">
            <a:off x="4680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B60036"/>
                </a:solidFill>
                <a:latin typeface="Arial"/>
                <a:ea typeface="Arial"/>
              </a:rPr>
              <a:t>Hypotheses</a:t>
            </a:r>
          </a:p>
        </p:txBody>
      </p:sp>
      <p:sp>
        <p:nvSpPr>
          <p:cNvPr id="100093" name="Element-9"/>
          <p:cNvSpPr/>
          <p:nvPr/>
        </p:nvSpPr>
        <p:spPr>
          <a:xfrm xmlns:a="http://schemas.openxmlformats.org/drawingml/2006/main">
            <a:off x="4680000" y="540000"/>
            <a:ext cx="1800000" cy="1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94" name="Element-10"/>
          <p:cNvSpPr/>
          <p:nvPr/>
        </p:nvSpPr>
        <p:spPr>
          <a:xfrm xmlns:a="http://schemas.openxmlformats.org/drawingml/2006/main">
            <a:off x="6696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5C626C"/>
                </a:solidFill>
                <a:latin typeface="Arial"/>
                <a:ea typeface="Arial"/>
              </a:rPr>
              <a:t>Outlook</a:t>
            </a:r>
          </a:p>
        </p:txBody>
      </p:sp>
      <p:sp>
        <p:nvSpPr>
          <p:cNvPr id="100095" name="Element-11"/>
          <p:cNvSpPr/>
          <p:nvPr/>
        </p:nvSpPr>
        <p:spPr>
          <a:xfrm xmlns:a="http://schemas.openxmlformats.org/drawingml/2006/main">
            <a:off x="648000" y="6300000"/>
            <a:ext cx="504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850" b="0" i="0">
                <a:solidFill>
                  <a:srgbClr val="5C626C"/>
                </a:solidFill>
                <a:latin typeface="Arial"/>
                <a:ea typeface="Arial"/>
              </a:rPr>
              <a:t>Project LANCE — NATO SPS G6259</a:t>
            </a:r>
          </a:p>
        </p:txBody>
      </p:sp>
      <p:sp>
        <p:nvSpPr>
          <p:cNvPr id="100096" name="Element-12"/>
          <p:cNvSpPr/>
          <p:nvPr/>
        </p:nvSpPr>
        <p:spPr>
          <a:xfrm xmlns:a="http://schemas.openxmlformats.org/drawingml/2006/main">
            <a:off x="11016000" y="6300000"/>
            <a:ext cx="504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850" b="0" i="0">
                <a:solidFill>
                  <a:srgbClr val="5C626C"/>
                </a:solidFill>
                <a:latin typeface="Arial"/>
                <a:ea typeface="Arial"/>
              </a:rPr>
              <a:t>6</a:t>
            </a:r>
          </a:p>
        </p:txBody>
      </p:sp>
      <p:sp>
        <p:nvSpPr>
          <p:cNvPr id="100097" name="Element-13"/>
          <p:cNvSpPr/>
          <p:nvPr/>
        </p:nvSpPr>
        <p:spPr>
          <a:xfrm xmlns:a="http://schemas.openxmlformats.org/drawingml/2006/main">
            <a:off x="792000" y="1944000"/>
            <a:ext cx="33480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12700">
            <a:solidFill>
              <a:srgbClr val="D9DEE5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98" name="Element-14"/>
          <p:cNvSpPr/>
          <p:nvPr/>
        </p:nvSpPr>
        <p:spPr>
          <a:xfrm xmlns:a="http://schemas.openxmlformats.org/drawingml/2006/main">
            <a:off x="1008000" y="2088000"/>
            <a:ext cx="576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1" i="0">
                <a:solidFill>
                  <a:srgbClr val="20252D"/>
                </a:solidFill>
                <a:latin typeface="Arial"/>
                <a:ea typeface="Arial"/>
              </a:rPr>
              <a:t>H1</a:t>
            </a:r>
          </a:p>
        </p:txBody>
      </p:sp>
      <p:sp>
        <p:nvSpPr>
          <p:cNvPr id="100099" name="Element-15"/>
          <p:cNvSpPr/>
          <p:nvPr/>
        </p:nvSpPr>
        <p:spPr>
          <a:xfrm xmlns:a="http://schemas.openxmlformats.org/drawingml/2006/main">
            <a:off x="1692000" y="2088000"/>
            <a:ext cx="2232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1" i="0">
                <a:solidFill>
                  <a:srgbClr val="20252D"/>
                </a:solidFill>
                <a:latin typeface="Arial"/>
                <a:ea typeface="Arial"/>
              </a:rPr>
              <a:t>Connected devices</a:t>
            </a:r>
          </a:p>
        </p:txBody>
      </p:sp>
      <p:sp>
        <p:nvSpPr>
          <p:cNvPr id="100100" name="Element-16"/>
          <p:cNvSpPr/>
          <p:nvPr/>
        </p:nvSpPr>
        <p:spPr>
          <a:xfrm xmlns:a="http://schemas.openxmlformats.org/drawingml/2006/main">
            <a:off x="1008000" y="2592000"/>
            <a:ext cx="2916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350" b="0" i="0">
                <a:solidFill>
                  <a:srgbClr val="5C626C"/>
                </a:solidFill>
                <a:latin typeface="Arial"/>
                <a:ea typeface="Arial"/>
              </a:rPr>
              <a:t>a link absent from public inputs</a:t>
            </a:r>
          </a:p>
        </p:txBody>
      </p:sp>
      <p:sp>
        <p:nvSpPr>
          <p:cNvPr id="100101" name="Element-17"/>
          <p:cNvSpPr/>
          <p:nvPr/>
        </p:nvSpPr>
        <p:spPr>
          <a:xfrm xmlns:a="http://schemas.openxmlformats.org/drawingml/2006/main">
            <a:off x="4356000" y="1944000"/>
            <a:ext cx="33480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12700">
            <a:solidFill>
              <a:srgbClr val="D9DEE5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102" name="Element-18"/>
          <p:cNvSpPr/>
          <p:nvPr/>
        </p:nvSpPr>
        <p:spPr>
          <a:xfrm xmlns:a="http://schemas.openxmlformats.org/drawingml/2006/main">
            <a:off x="4572000" y="2088000"/>
            <a:ext cx="576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1" i="0">
                <a:solidFill>
                  <a:srgbClr val="20252D"/>
                </a:solidFill>
                <a:latin typeface="Arial"/>
                <a:ea typeface="Arial"/>
              </a:rPr>
              <a:t>H2</a:t>
            </a:r>
          </a:p>
        </p:txBody>
      </p:sp>
      <p:sp>
        <p:nvSpPr>
          <p:cNvPr id="100103" name="Element-19"/>
          <p:cNvSpPr/>
          <p:nvPr/>
        </p:nvSpPr>
        <p:spPr>
          <a:xfrm xmlns:a="http://schemas.openxmlformats.org/drawingml/2006/main">
            <a:off x="5256000" y="2088000"/>
            <a:ext cx="2232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250" b="1" i="0">
                <a:solidFill>
                  <a:srgbClr val="20252D"/>
                </a:solidFill>
                <a:latin typeface="Arial"/>
                <a:ea typeface="Arial"/>
              </a:rPr>
              <a:t>Heterogeneous formats</a:t>
            </a:r>
          </a:p>
        </p:txBody>
      </p:sp>
      <p:sp>
        <p:nvSpPr>
          <p:cNvPr id="100104" name="Element-20"/>
          <p:cNvSpPr/>
          <p:nvPr/>
        </p:nvSpPr>
        <p:spPr>
          <a:xfrm xmlns:a="http://schemas.openxmlformats.org/drawingml/2006/main">
            <a:off x="4572000" y="2592000"/>
            <a:ext cx="2916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250" b="0" i="0">
                <a:solidFill>
                  <a:srgbClr val="5C626C"/>
                </a:solidFill>
                <a:latin typeface="Arial"/>
                <a:ea typeface="Arial"/>
              </a:rPr>
              <a:t>a representation no parser covers</a:t>
            </a:r>
          </a:p>
        </p:txBody>
      </p:sp>
      <p:sp>
        <p:nvSpPr>
          <p:cNvPr id="100105" name="Element-21"/>
          <p:cNvSpPr/>
          <p:nvPr/>
        </p:nvSpPr>
        <p:spPr>
          <a:xfrm xmlns:a="http://schemas.openxmlformats.org/drawingml/2006/main">
            <a:off x="7920000" y="1944000"/>
            <a:ext cx="33480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12700">
            <a:solidFill>
              <a:srgbClr val="D9DEE5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106" name="Element-22"/>
          <p:cNvSpPr/>
          <p:nvPr/>
        </p:nvSpPr>
        <p:spPr>
          <a:xfrm xmlns:a="http://schemas.openxmlformats.org/drawingml/2006/main">
            <a:off x="8136000" y="2088000"/>
            <a:ext cx="576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1" i="0">
                <a:solidFill>
                  <a:srgbClr val="20252D"/>
                </a:solidFill>
                <a:latin typeface="Arial"/>
                <a:ea typeface="Arial"/>
              </a:rPr>
              <a:t>H3</a:t>
            </a:r>
          </a:p>
        </p:txBody>
      </p:sp>
      <p:sp>
        <p:nvSpPr>
          <p:cNvPr id="100107" name="Element-23"/>
          <p:cNvSpPr/>
          <p:nvPr/>
        </p:nvSpPr>
        <p:spPr>
          <a:xfrm xmlns:a="http://schemas.openxmlformats.org/drawingml/2006/main">
            <a:off x="8820000" y="2088000"/>
            <a:ext cx="2232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1" i="0">
                <a:solidFill>
                  <a:srgbClr val="20252D"/>
                </a:solidFill>
                <a:latin typeface="Arial"/>
                <a:ea typeface="Arial"/>
              </a:rPr>
              <a:t>Novel contracts</a:t>
            </a:r>
          </a:p>
        </p:txBody>
      </p:sp>
      <p:sp>
        <p:nvSpPr>
          <p:cNvPr id="100108" name="Element-24"/>
          <p:cNvSpPr/>
          <p:nvPr/>
        </p:nvSpPr>
        <p:spPr>
          <a:xfrm xmlns:a="http://schemas.openxmlformats.org/drawingml/2006/main">
            <a:off x="8136000" y="2592000"/>
            <a:ext cx="2916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100" b="0" i="0">
                <a:solidFill>
                  <a:srgbClr val="5C626C"/>
                </a:solidFill>
                <a:latin typeface="Arial"/>
                <a:ea typeface="Arial"/>
              </a:rPr>
              <a:t>rights stated in unseen documentation</a:t>
            </a:r>
          </a:p>
        </p:txBody>
      </p:sp>
      <p:sp>
        <p:nvSpPr>
          <p:cNvPr id="100109" name="Element-25"/>
          <p:cNvSpPr/>
          <p:nvPr/>
        </p:nvSpPr>
        <p:spPr>
          <a:xfrm xmlns:a="http://schemas.openxmlformats.org/drawingml/2006/main">
            <a:off x="792000" y="3420000"/>
            <a:ext cx="33480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12700">
            <a:solidFill>
              <a:srgbClr val="D9DEE5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110" name="Element-26"/>
          <p:cNvSpPr/>
          <p:nvPr/>
        </p:nvSpPr>
        <p:spPr>
          <a:xfrm xmlns:a="http://schemas.openxmlformats.org/drawingml/2006/main">
            <a:off x="1008000" y="3564000"/>
            <a:ext cx="576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1" i="0">
                <a:solidFill>
                  <a:srgbClr val="20252D"/>
                </a:solidFill>
                <a:latin typeface="Arial"/>
                <a:ea typeface="Arial"/>
              </a:rPr>
              <a:t>H4</a:t>
            </a:r>
          </a:p>
        </p:txBody>
      </p:sp>
      <p:sp>
        <p:nvSpPr>
          <p:cNvPr id="100111" name="Element-27"/>
          <p:cNvSpPr/>
          <p:nvPr/>
        </p:nvSpPr>
        <p:spPr>
          <a:xfrm xmlns:a="http://schemas.openxmlformats.org/drawingml/2006/main">
            <a:off x="1692000" y="3564000"/>
            <a:ext cx="2232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1" i="0">
                <a:solidFill>
                  <a:srgbClr val="20252D"/>
                </a:solidFill>
                <a:latin typeface="Arial"/>
                <a:ea typeface="Arial"/>
              </a:rPr>
              <a:t>Vendor semantics</a:t>
            </a:r>
          </a:p>
        </p:txBody>
      </p:sp>
      <p:sp>
        <p:nvSpPr>
          <p:cNvPr id="100112" name="Element-28"/>
          <p:cNvSpPr/>
          <p:nvPr/>
        </p:nvSpPr>
        <p:spPr>
          <a:xfrm xmlns:a="http://schemas.openxmlformats.org/drawingml/2006/main">
            <a:off x="1008000" y="4068000"/>
            <a:ext cx="2916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100" b="0" i="0">
                <a:solidFill>
                  <a:srgbClr val="5C626C"/>
                </a:solidFill>
                <a:latin typeface="Arial"/>
                <a:ea typeface="Arial"/>
              </a:rPr>
              <a:t>a field whose meaning is only documented</a:t>
            </a:r>
          </a:p>
        </p:txBody>
      </p:sp>
      <p:sp>
        <p:nvSpPr>
          <p:cNvPr id="100113" name="Element-29"/>
          <p:cNvSpPr/>
          <p:nvPr/>
        </p:nvSpPr>
        <p:spPr>
          <a:xfrm xmlns:a="http://schemas.openxmlformats.org/drawingml/2006/main">
            <a:off x="4356000" y="3420000"/>
            <a:ext cx="33480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12700">
            <a:solidFill>
              <a:srgbClr val="D9DEE5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114" name="Element-30"/>
          <p:cNvSpPr/>
          <p:nvPr/>
        </p:nvSpPr>
        <p:spPr>
          <a:xfrm xmlns:a="http://schemas.openxmlformats.org/drawingml/2006/main">
            <a:off x="4572000" y="3564000"/>
            <a:ext cx="576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1" i="0">
                <a:solidFill>
                  <a:srgbClr val="20252D"/>
                </a:solidFill>
                <a:latin typeface="Arial"/>
                <a:ea typeface="Arial"/>
              </a:rPr>
              <a:t>H5</a:t>
            </a:r>
          </a:p>
        </p:txBody>
      </p:sp>
      <p:sp>
        <p:nvSpPr>
          <p:cNvPr id="100115" name="Element-31"/>
          <p:cNvSpPr/>
          <p:nvPr/>
        </p:nvSpPr>
        <p:spPr>
          <a:xfrm xmlns:a="http://schemas.openxmlformats.org/drawingml/2006/main">
            <a:off x="5256000" y="3564000"/>
            <a:ext cx="2232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450" b="1" i="0">
                <a:solidFill>
                  <a:srgbClr val="20252D"/>
                </a:solidFill>
                <a:latin typeface="Arial"/>
                <a:ea typeface="Arial"/>
              </a:rPr>
              <a:t>Ambiguous refusals</a:t>
            </a:r>
          </a:p>
        </p:txBody>
      </p:sp>
      <p:sp>
        <p:nvSpPr>
          <p:cNvPr id="100116" name="Element-32"/>
          <p:cNvSpPr/>
          <p:nvPr/>
        </p:nvSpPr>
        <p:spPr>
          <a:xfrm xmlns:a="http://schemas.openxmlformats.org/drawingml/2006/main">
            <a:off x="4572000" y="4068000"/>
            <a:ext cx="2916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250" b="0" i="0">
                <a:solidFill>
                  <a:srgbClr val="5C626C"/>
                </a:solidFill>
                <a:latin typeface="Arial"/>
                <a:ea typeface="Arial"/>
              </a:rPr>
              <a:t>resuming the audit after a refusal</a:t>
            </a:r>
          </a:p>
        </p:txBody>
      </p:sp>
      <p:sp>
        <p:nvSpPr>
          <p:cNvPr id="100117" name="Element-33"/>
          <p:cNvSpPr/>
          <p:nvPr/>
        </p:nvSpPr>
        <p:spPr>
          <a:xfrm xmlns:a="http://schemas.openxmlformats.org/drawingml/2006/main">
            <a:off x="7920000" y="3420000"/>
            <a:ext cx="33480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F0F4"/>
          </a:solidFill>
          <a:ln xmlns:a="http://schemas.openxmlformats.org/drawingml/2006/main" w="12700">
            <a:solidFill>
              <a:srgbClr val="D9DEE5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118" name="Element-34"/>
          <p:cNvSpPr/>
          <p:nvPr/>
        </p:nvSpPr>
        <p:spPr>
          <a:xfrm xmlns:a="http://schemas.openxmlformats.org/drawingml/2006/main">
            <a:off x="8136000" y="3564000"/>
            <a:ext cx="576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1" i="0">
                <a:solidFill>
                  <a:srgbClr val="B60036"/>
                </a:solidFill>
                <a:latin typeface="Arial"/>
                <a:ea typeface="Arial"/>
              </a:rPr>
              <a:t>H6</a:t>
            </a:r>
          </a:p>
        </p:txBody>
      </p:sp>
      <p:sp>
        <p:nvSpPr>
          <p:cNvPr id="100119" name="Element-35"/>
          <p:cNvSpPr/>
          <p:nvPr/>
        </p:nvSpPr>
        <p:spPr>
          <a:xfrm xmlns:a="http://schemas.openxmlformats.org/drawingml/2006/main">
            <a:off x="8820000" y="3564000"/>
            <a:ext cx="2232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1" i="0">
                <a:solidFill>
                  <a:srgbClr val="B60036"/>
                </a:solidFill>
                <a:latin typeface="Arial"/>
                <a:ea typeface="Arial"/>
              </a:rPr>
              <a:t>Hostile content</a:t>
            </a:r>
          </a:p>
        </p:txBody>
      </p:sp>
      <p:sp>
        <p:nvSpPr>
          <p:cNvPr id="100120" name="Element-36"/>
          <p:cNvSpPr/>
          <p:nvPr/>
        </p:nvSpPr>
        <p:spPr>
          <a:xfrm xmlns:a="http://schemas.openxmlformats.org/drawingml/2006/main">
            <a:off x="8136000" y="4068000"/>
            <a:ext cx="2916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100" b="0" i="0">
                <a:solidFill>
                  <a:srgbClr val="5C626C"/>
                </a:solidFill>
                <a:latin typeface="Arial"/>
                <a:ea typeface="Arial"/>
              </a:rPr>
              <a:t>an instruction obeyed from observed content</a:t>
            </a:r>
          </a:p>
        </p:txBody>
      </p:sp>
      <p:sp>
        <p:nvSpPr>
          <p:cNvPr id="100121" name="Element-37"/>
          <p:cNvSpPr/>
          <p:nvPr/>
        </p:nvSpPr>
        <p:spPr>
          <a:xfrm xmlns:a="http://schemas.openxmlformats.org/drawingml/2006/main">
            <a:off x="792000" y="5040000"/>
            <a:ext cx="105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B60036"/>
                </a:solidFill>
                <a:latin typeface="Arial"/>
                <a:ea typeface="Arial"/>
              </a:rPr>
              <a:t>H1–H5 quantify a possible gain.   H6 quantifies a risk.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id="100122" name="Picture 1" descr="SMart ILIA — UMON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22765844c44a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792000" y="223200"/>
            <a:ext cx="1692000" cy="579864"/>
          </a:xfrm>
          <a:prstGeom xmlns:a="http://schemas.openxmlformats.org/drawingml/2006/main" prst="rect">
            <a:avLst/>
          </a:prstGeom>
        </p:spPr>
      </p:pic>
      <p:sp>
        <p:nvSpPr>
          <p:cNvPr id="100123" name="Title"/>
          <p:cNvSpPr/>
          <p:nvPr/>
        </p:nvSpPr>
        <p:spPr>
          <a:xfrm xmlns:a="http://schemas.openxmlformats.org/drawingml/2006/main">
            <a:off x="648000" y="630000"/>
            <a:ext cx="89280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900" b="1" i="0">
                <a:solidFill>
                  <a:srgbClr val="20252D"/>
                </a:solidFill>
                <a:latin typeface="Arial"/>
                <a:ea typeface="Arial"/>
              </a:rPr>
              <a:t>A control task before testing the model</a:t>
            </a:r>
          </a:p>
        </p:txBody>
      </p:sp>
      <p:sp>
        <p:nvSpPr>
          <p:cNvPr id="100124" name="Element-5"/>
          <p:cNvSpPr/>
          <p:nvPr/>
        </p:nvSpPr>
        <p:spPr>
          <a:xfrm xmlns:a="http://schemas.openxmlformats.org/drawingml/2006/main">
            <a:off x="648000" y="1422000"/>
            <a:ext cx="1224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125" name="Element-6"/>
          <p:cNvSpPr/>
          <p:nvPr/>
        </p:nvSpPr>
        <p:spPr>
          <a:xfrm xmlns:a="http://schemas.openxmlformats.org/drawingml/2006/main">
            <a:off x="648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5C626C"/>
                </a:solidFill>
                <a:latin typeface="Arial"/>
                <a:ea typeface="Arial"/>
              </a:rPr>
              <a:t>Objective</a:t>
            </a:r>
          </a:p>
        </p:txBody>
      </p:sp>
      <p:sp>
        <p:nvSpPr>
          <p:cNvPr id="100126" name="Element-7"/>
          <p:cNvSpPr/>
          <p:nvPr/>
        </p:nvSpPr>
        <p:spPr>
          <a:xfrm xmlns:a="http://schemas.openxmlformats.org/drawingml/2006/main">
            <a:off x="2664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5C626C"/>
                </a:solidFill>
                <a:latin typeface="Arial"/>
                <a:ea typeface="Arial"/>
              </a:rPr>
              <a:t>Instrument</a:t>
            </a:r>
          </a:p>
        </p:txBody>
      </p:sp>
      <p:sp>
        <p:nvSpPr>
          <p:cNvPr id="100127" name="Element-8"/>
          <p:cNvSpPr/>
          <p:nvPr/>
        </p:nvSpPr>
        <p:spPr>
          <a:xfrm xmlns:a="http://schemas.openxmlformats.org/drawingml/2006/main">
            <a:off x="4680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B60036"/>
                </a:solidFill>
                <a:latin typeface="Arial"/>
                <a:ea typeface="Arial"/>
              </a:rPr>
              <a:t>Hypotheses</a:t>
            </a:r>
          </a:p>
        </p:txBody>
      </p:sp>
      <p:sp>
        <p:nvSpPr>
          <p:cNvPr id="100128" name="Element-9"/>
          <p:cNvSpPr/>
          <p:nvPr/>
        </p:nvSpPr>
        <p:spPr>
          <a:xfrm xmlns:a="http://schemas.openxmlformats.org/drawingml/2006/main">
            <a:off x="4680000" y="540000"/>
            <a:ext cx="1800000" cy="1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129" name="Element-10"/>
          <p:cNvSpPr/>
          <p:nvPr/>
        </p:nvSpPr>
        <p:spPr>
          <a:xfrm xmlns:a="http://schemas.openxmlformats.org/drawingml/2006/main">
            <a:off x="6696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5C626C"/>
                </a:solidFill>
                <a:latin typeface="Arial"/>
                <a:ea typeface="Arial"/>
              </a:rPr>
              <a:t>Outlook</a:t>
            </a:r>
          </a:p>
        </p:txBody>
      </p:sp>
      <p:sp>
        <p:nvSpPr>
          <p:cNvPr id="100130" name="Element-11"/>
          <p:cNvSpPr/>
          <p:nvPr/>
        </p:nvSpPr>
        <p:spPr>
          <a:xfrm xmlns:a="http://schemas.openxmlformats.org/drawingml/2006/main">
            <a:off x="648000" y="6300000"/>
            <a:ext cx="504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850" b="0" i="0">
                <a:solidFill>
                  <a:srgbClr val="5C626C"/>
                </a:solidFill>
                <a:latin typeface="Arial"/>
                <a:ea typeface="Arial"/>
              </a:rPr>
              <a:t>Project LANCE — NATO SPS G6259</a:t>
            </a:r>
          </a:p>
        </p:txBody>
      </p:sp>
      <p:sp>
        <p:nvSpPr>
          <p:cNvPr id="100131" name="Element-12"/>
          <p:cNvSpPr/>
          <p:nvPr/>
        </p:nvSpPr>
        <p:spPr>
          <a:xfrm xmlns:a="http://schemas.openxmlformats.org/drawingml/2006/main">
            <a:off x="11016000" y="6300000"/>
            <a:ext cx="504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850" b="0" i="0">
                <a:solidFill>
                  <a:srgbClr val="5C626C"/>
                </a:solidFill>
                <a:latin typeface="Arial"/>
                <a:ea typeface="Arial"/>
              </a:rPr>
              <a:t>7</a:t>
            </a:r>
          </a:p>
        </p:txBody>
      </p:sp>
      <p:sp>
        <p:nvSpPr>
          <p:cNvPr id="100132" name="Element-13"/>
          <p:cNvSpPr/>
          <p:nvPr/>
        </p:nvSpPr>
        <p:spPr>
          <a:xfrm xmlns:a="http://schemas.openxmlformats.org/drawingml/2006/main">
            <a:off x="864000" y="1764000"/>
            <a:ext cx="105120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650" b="1" i="0">
                <a:solidFill>
                  <a:srgbClr val="20252D"/>
                </a:solidFill>
                <a:latin typeface="Arial"/>
                <a:ea typeface="Arial"/>
              </a:rPr>
              <a:t>A control task, simple enough to be solved without inference.</a:t>
            </a:r>
          </a:p>
          <a:p xmlns:a="http://schemas.openxmlformats.org/drawingml/2006/main">
            <a:pPr algn="ctr"/>
            <a:r>
              <a:rPr lang="en-US" sz="1650" b="1" i="0">
                <a:solidFill>
                  <a:srgbClr val="20252D"/>
                </a:solidFill>
                <a:latin typeface="Arial"/>
                <a:ea typeface="Arial"/>
              </a:rPr>
              <a:t>Both approaches are required to pass.</a:t>
            </a:r>
          </a:p>
        </p:txBody>
      </p:sp>
      <p:sp>
        <p:nvSpPr>
          <p:cNvPr id="100133" name="Element-14"/>
          <p:cNvSpPr/>
          <p:nvPr/>
        </p:nvSpPr>
        <p:spPr>
          <a:xfrm xmlns:a="http://schemas.openxmlformats.org/drawingml/2006/main">
            <a:off x="792000" y="2736000"/>
            <a:ext cx="5184000" cy="79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F0F4"/>
          </a:solidFill>
          <a:ln xmlns:a="http://schemas.openxmlformats.org/drawingml/2006/main" w="12700">
            <a:solidFill>
              <a:srgbClr val="D9DEE5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134" name="Element-15"/>
          <p:cNvSpPr/>
          <p:nvPr/>
        </p:nvSpPr>
        <p:spPr>
          <a:xfrm xmlns:a="http://schemas.openxmlformats.org/drawingml/2006/main">
            <a:off x="1044000" y="2916000"/>
            <a:ext cx="46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150" b="1" i="0">
                <a:solidFill>
                  <a:srgbClr val="B60036"/>
                </a:solidFill>
                <a:latin typeface="Arial"/>
                <a:ea typeface="Arial"/>
              </a:rPr>
              <a:t>script ✓  model ✗</a:t>
            </a:r>
          </a:p>
        </p:txBody>
      </p:sp>
      <p:sp>
        <p:nvSpPr>
          <p:cNvPr id="100135" name="Element-16"/>
          <p:cNvSpPr/>
          <p:nvPr/>
        </p:nvSpPr>
        <p:spPr>
          <a:xfrm xmlns:a="http://schemas.openxmlformats.org/drawingml/2006/main">
            <a:off x="1044000" y="3186000"/>
            <a:ext cx="46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950" b="0" i="0">
                <a:solidFill>
                  <a:srgbClr val="B60036"/>
                </a:solidFill>
                <a:latin typeface="Arial"/>
                <a:ea typeface="Arial"/>
              </a:rPr>
              <a:t>a defect in the instrument</a:t>
            </a:r>
          </a:p>
        </p:txBody>
      </p:sp>
      <p:sp>
        <p:nvSpPr>
          <p:cNvPr id="100136" name="Element-17"/>
          <p:cNvSpPr/>
          <p:nvPr/>
        </p:nvSpPr>
        <p:spPr>
          <a:xfrm xmlns:a="http://schemas.openxmlformats.org/drawingml/2006/main">
            <a:off x="6192000" y="2736000"/>
            <a:ext cx="5184000" cy="79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12700">
            <a:solidFill>
              <a:srgbClr val="D9DEE5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137" name="Element-18"/>
          <p:cNvSpPr/>
          <p:nvPr/>
        </p:nvSpPr>
        <p:spPr>
          <a:xfrm xmlns:a="http://schemas.openxmlformats.org/drawingml/2006/main">
            <a:off x="6444000" y="2916000"/>
            <a:ext cx="46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150" b="1" i="0">
                <a:solidFill>
                  <a:srgbClr val="20252D"/>
                </a:solidFill>
                <a:latin typeface="Arial"/>
                <a:ea typeface="Arial"/>
              </a:rPr>
              <a:t>script ✗  model ✓</a:t>
            </a:r>
          </a:p>
        </p:txBody>
      </p:sp>
      <p:sp>
        <p:nvSpPr>
          <p:cNvPr id="100138" name="Element-19"/>
          <p:cNvSpPr/>
          <p:nvPr/>
        </p:nvSpPr>
        <p:spPr>
          <a:xfrm xmlns:a="http://schemas.openxmlformats.org/drawingml/2006/main">
            <a:off x="6444000" y="3186000"/>
            <a:ext cx="46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950" b="0" i="0">
                <a:solidFill>
                  <a:srgbClr val="20252D"/>
                </a:solidFill>
                <a:latin typeface="Arial"/>
                <a:ea typeface="Arial"/>
              </a:rPr>
              <a:t>a gain, or a coverage gap</a:t>
            </a:r>
          </a:p>
        </p:txBody>
      </p:sp>
      <p:sp>
        <p:nvSpPr>
          <p:cNvPr id="100139" name="Element-20"/>
          <p:cNvSpPr/>
          <p:nvPr/>
        </p:nvSpPr>
        <p:spPr>
          <a:xfrm xmlns:a="http://schemas.openxmlformats.org/drawingml/2006/main">
            <a:off x="792000" y="3672000"/>
            <a:ext cx="5184000" cy="79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12700">
            <a:solidFill>
              <a:srgbClr val="D9DEE5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140" name="Element-21"/>
          <p:cNvSpPr/>
          <p:nvPr/>
        </p:nvSpPr>
        <p:spPr>
          <a:xfrm xmlns:a="http://schemas.openxmlformats.org/drawingml/2006/main">
            <a:off x="1044000" y="3852000"/>
            <a:ext cx="46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150" b="1" i="0">
                <a:solidFill>
                  <a:srgbClr val="5C626C"/>
                </a:solidFill>
                <a:latin typeface="Arial"/>
                <a:ea typeface="Arial"/>
              </a:rPr>
              <a:t>script ✗  model ✗</a:t>
            </a:r>
          </a:p>
        </p:txBody>
      </p:sp>
      <p:sp>
        <p:nvSpPr>
          <p:cNvPr id="100141" name="Element-22"/>
          <p:cNvSpPr/>
          <p:nvPr/>
        </p:nvSpPr>
        <p:spPr>
          <a:xfrm xmlns:a="http://schemas.openxmlformats.org/drawingml/2006/main">
            <a:off x="1044000" y="4122000"/>
            <a:ext cx="46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950" b="0" i="0">
                <a:solidFill>
                  <a:srgbClr val="5C626C"/>
                </a:solidFill>
                <a:latin typeface="Arial"/>
                <a:ea typeface="Arial"/>
              </a:rPr>
              <a:t>beyond the reach of this instrument</a:t>
            </a:r>
          </a:p>
        </p:txBody>
      </p:sp>
      <p:sp>
        <p:nvSpPr>
          <p:cNvPr id="100142" name="Element-23"/>
          <p:cNvSpPr/>
          <p:nvPr/>
        </p:nvSpPr>
        <p:spPr>
          <a:xfrm xmlns:a="http://schemas.openxmlformats.org/drawingml/2006/main">
            <a:off x="6192000" y="3672000"/>
            <a:ext cx="5184000" cy="79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6FC"/>
          </a:solidFill>
          <a:ln xmlns:a="http://schemas.openxmlformats.org/drawingml/2006/main" w="12700">
            <a:solidFill>
              <a:srgbClr val="D9DEE5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143" name="Element-24"/>
          <p:cNvSpPr/>
          <p:nvPr/>
        </p:nvSpPr>
        <p:spPr>
          <a:xfrm xmlns:a="http://schemas.openxmlformats.org/drawingml/2006/main">
            <a:off x="6444000" y="3852000"/>
            <a:ext cx="46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150" b="1" i="0">
                <a:solidFill>
                  <a:srgbClr val="2E7D5B"/>
                </a:solidFill>
                <a:latin typeface="Arial"/>
                <a:ea typeface="Arial"/>
              </a:rPr>
              <a:t>script ✓  model ✓</a:t>
            </a:r>
          </a:p>
        </p:txBody>
      </p:sp>
      <p:sp>
        <p:nvSpPr>
          <p:cNvPr id="100144" name="Element-25"/>
          <p:cNvSpPr/>
          <p:nvPr/>
        </p:nvSpPr>
        <p:spPr>
          <a:xfrm xmlns:a="http://schemas.openxmlformats.org/drawingml/2006/main">
            <a:off x="6444000" y="4122000"/>
            <a:ext cx="46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950" b="0" i="0">
                <a:solidFill>
                  <a:srgbClr val="2E7D5B"/>
                </a:solidFill>
                <a:latin typeface="Arial"/>
                <a:ea typeface="Arial"/>
              </a:rPr>
              <a:t>valid — the hypotheses may be read</a:t>
            </a:r>
          </a:p>
        </p:txBody>
      </p:sp>
      <p:sp>
        <p:nvSpPr>
          <p:cNvPr id="100145" name="Element-26"/>
          <p:cNvSpPr/>
          <p:nvPr/>
        </p:nvSpPr>
        <p:spPr>
          <a:xfrm xmlns:a="http://schemas.openxmlformats.org/drawingml/2006/main">
            <a:off x="792000" y="4950000"/>
            <a:ext cx="105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B60036"/>
                </a:solidFill>
                <a:latin typeface="Arial"/>
                <a:ea typeface="Arial"/>
              </a:rPr>
              <a:t>Only the fourth outcome permits the hypotheses to be read.</a:t>
            </a:r>
          </a:p>
        </p:txBody>
      </p:sp>
      <p:sp>
        <p:nvSpPr>
          <p:cNvPr id="100146" name="Element-27"/>
          <p:cNvSpPr/>
          <p:nvPr/>
        </p:nvSpPr>
        <p:spPr>
          <a:xfrm xmlns:a="http://schemas.openxmlformats.org/drawingml/2006/main">
            <a:off x="792000" y="5364000"/>
            <a:ext cx="10584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300" b="0" i="0">
                <a:solidFill>
                  <a:srgbClr val="5C626C"/>
                </a:solidFill>
                <a:latin typeface="Arial"/>
                <a:ea typeface="Arial"/>
              </a:rPr>
              <a:t>Implemented and tested offline. The laboratory run remains outstanding.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id="100147" name="Picture 1" descr="SMart ILIA — UMON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55d09408a4ff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792000" y="223200"/>
            <a:ext cx="1692000" cy="579864"/>
          </a:xfrm>
          <a:prstGeom xmlns:a="http://schemas.openxmlformats.org/drawingml/2006/main" prst="rect">
            <a:avLst/>
          </a:prstGeom>
        </p:spPr>
      </p:pic>
      <p:sp>
        <p:nvSpPr>
          <p:cNvPr id="100148" name="Title"/>
          <p:cNvSpPr/>
          <p:nvPr/>
        </p:nvSpPr>
        <p:spPr>
          <a:xfrm xmlns:a="http://schemas.openxmlformats.org/drawingml/2006/main">
            <a:off x="648000" y="630000"/>
            <a:ext cx="89280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900" b="1" i="0">
                <a:solidFill>
                  <a:srgbClr val="20252D"/>
                </a:solidFill>
                <a:latin typeface="Arial"/>
                <a:ea typeface="Arial"/>
              </a:rPr>
              <a:t>What we cannot claim</a:t>
            </a:r>
          </a:p>
        </p:txBody>
      </p:sp>
      <p:sp>
        <p:nvSpPr>
          <p:cNvPr id="100149" name="Element-5"/>
          <p:cNvSpPr/>
          <p:nvPr/>
        </p:nvSpPr>
        <p:spPr>
          <a:xfrm xmlns:a="http://schemas.openxmlformats.org/drawingml/2006/main">
            <a:off x="648000" y="1422000"/>
            <a:ext cx="1224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150" name="Element-6"/>
          <p:cNvSpPr/>
          <p:nvPr/>
        </p:nvSpPr>
        <p:spPr>
          <a:xfrm xmlns:a="http://schemas.openxmlformats.org/drawingml/2006/main">
            <a:off x="648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5C626C"/>
                </a:solidFill>
                <a:latin typeface="Arial"/>
                <a:ea typeface="Arial"/>
              </a:rPr>
              <a:t>Objective</a:t>
            </a:r>
          </a:p>
        </p:txBody>
      </p:sp>
      <p:sp>
        <p:nvSpPr>
          <p:cNvPr id="100151" name="Element-7"/>
          <p:cNvSpPr/>
          <p:nvPr/>
        </p:nvSpPr>
        <p:spPr>
          <a:xfrm xmlns:a="http://schemas.openxmlformats.org/drawingml/2006/main">
            <a:off x="2664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5C626C"/>
                </a:solidFill>
                <a:latin typeface="Arial"/>
                <a:ea typeface="Arial"/>
              </a:rPr>
              <a:t>Instrument</a:t>
            </a:r>
          </a:p>
        </p:txBody>
      </p:sp>
      <p:sp>
        <p:nvSpPr>
          <p:cNvPr id="100152" name="Element-8"/>
          <p:cNvSpPr/>
          <p:nvPr/>
        </p:nvSpPr>
        <p:spPr>
          <a:xfrm xmlns:a="http://schemas.openxmlformats.org/drawingml/2006/main">
            <a:off x="4680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5C626C"/>
                </a:solidFill>
                <a:latin typeface="Arial"/>
                <a:ea typeface="Arial"/>
              </a:rPr>
              <a:t>Hypotheses</a:t>
            </a:r>
          </a:p>
        </p:txBody>
      </p:sp>
      <p:sp>
        <p:nvSpPr>
          <p:cNvPr id="100153" name="Element-9"/>
          <p:cNvSpPr/>
          <p:nvPr/>
        </p:nvSpPr>
        <p:spPr>
          <a:xfrm xmlns:a="http://schemas.openxmlformats.org/drawingml/2006/main">
            <a:off x="6696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B60036"/>
                </a:solidFill>
                <a:latin typeface="Arial"/>
                <a:ea typeface="Arial"/>
              </a:rPr>
              <a:t>Outlook</a:t>
            </a:r>
          </a:p>
        </p:txBody>
      </p:sp>
      <p:sp>
        <p:nvSpPr>
          <p:cNvPr id="100154" name="Element-10"/>
          <p:cNvSpPr/>
          <p:nvPr/>
        </p:nvSpPr>
        <p:spPr>
          <a:xfrm xmlns:a="http://schemas.openxmlformats.org/drawingml/2006/main">
            <a:off x="6696000" y="540000"/>
            <a:ext cx="1800000" cy="1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155" name="Element-11"/>
          <p:cNvSpPr/>
          <p:nvPr/>
        </p:nvSpPr>
        <p:spPr>
          <a:xfrm xmlns:a="http://schemas.openxmlformats.org/drawingml/2006/main">
            <a:off x="648000" y="6300000"/>
            <a:ext cx="504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850" b="0" i="0">
                <a:solidFill>
                  <a:srgbClr val="5C626C"/>
                </a:solidFill>
                <a:latin typeface="Arial"/>
                <a:ea typeface="Arial"/>
              </a:rPr>
              <a:t>Project LANCE — NATO SPS G6259</a:t>
            </a:r>
          </a:p>
        </p:txBody>
      </p:sp>
      <p:sp>
        <p:nvSpPr>
          <p:cNvPr id="100156" name="Element-12"/>
          <p:cNvSpPr/>
          <p:nvPr/>
        </p:nvSpPr>
        <p:spPr>
          <a:xfrm xmlns:a="http://schemas.openxmlformats.org/drawingml/2006/main">
            <a:off x="11016000" y="6300000"/>
            <a:ext cx="504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850" b="0" i="0">
                <a:solidFill>
                  <a:srgbClr val="5C626C"/>
                </a:solidFill>
                <a:latin typeface="Arial"/>
                <a:ea typeface="Arial"/>
              </a:rPr>
              <a:t>8</a:t>
            </a:r>
          </a:p>
        </p:txBody>
      </p:sp>
      <p:sp>
        <p:nvSpPr>
          <p:cNvPr id="100157" name="Element-13"/>
          <p:cNvSpPr/>
          <p:nvPr/>
        </p:nvSpPr>
        <p:spPr>
          <a:xfrm xmlns:a="http://schemas.openxmlformats.org/drawingml/2006/main">
            <a:off x="792000" y="1944000"/>
            <a:ext cx="3384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12700">
            <a:solidFill>
              <a:srgbClr val="D9DEE5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158" name="Element-14"/>
          <p:cNvSpPr/>
          <p:nvPr/>
        </p:nvSpPr>
        <p:spPr>
          <a:xfrm xmlns:a="http://schemas.openxmlformats.org/drawingml/2006/main">
            <a:off x="1044000" y="2124000"/>
            <a:ext cx="432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1" i="0">
                <a:solidFill>
                  <a:srgbClr val="B60036"/>
                </a:solidFill>
                <a:latin typeface="Arial"/>
                <a:ea typeface="Arial"/>
              </a:rPr>
              <a:t>✕</a:t>
            </a:r>
          </a:p>
        </p:txBody>
      </p:sp>
      <p:sp>
        <p:nvSpPr>
          <p:cNvPr id="100159" name="Element-15"/>
          <p:cNvSpPr/>
          <p:nvPr/>
        </p:nvSpPr>
        <p:spPr>
          <a:xfrm xmlns:a="http://schemas.openxmlformats.org/drawingml/2006/main">
            <a:off x="1044000" y="2556000"/>
            <a:ext cx="288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700" b="1" i="0">
                <a:solidFill>
                  <a:srgbClr val="B60036"/>
                </a:solidFill>
                <a:latin typeface="Arial"/>
                <a:ea typeface="Arial"/>
              </a:rPr>
              <a:t>No general advantage</a:t>
            </a:r>
          </a:p>
        </p:txBody>
      </p:sp>
      <p:sp>
        <p:nvSpPr>
          <p:cNvPr id="100160" name="Element-16"/>
          <p:cNvSpPr/>
          <p:nvPr/>
        </p:nvSpPr>
        <p:spPr>
          <a:xfrm xmlns:a="http://schemas.openxmlformats.org/drawingml/2006/main">
            <a:off x="1044000" y="3096000"/>
            <a:ext cx="288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300" b="0" i="0">
                <a:solidFill>
                  <a:srgbClr val="20252D"/>
                </a:solidFill>
                <a:latin typeface="Arial"/>
                <a:ea typeface="Arial"/>
              </a:rPr>
              <a:t>No hypothesis has yet been executed.</a:t>
            </a:r>
          </a:p>
        </p:txBody>
      </p:sp>
      <p:sp>
        <p:nvSpPr>
          <p:cNvPr id="100161" name="Element-17"/>
          <p:cNvSpPr/>
          <p:nvPr/>
        </p:nvSpPr>
        <p:spPr>
          <a:xfrm xmlns:a="http://schemas.openxmlformats.org/drawingml/2006/main">
            <a:off x="4356000" y="1944000"/>
            <a:ext cx="3384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12700">
            <a:solidFill>
              <a:srgbClr val="D9DEE5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162" name="Element-18"/>
          <p:cNvSpPr/>
          <p:nvPr/>
        </p:nvSpPr>
        <p:spPr>
          <a:xfrm xmlns:a="http://schemas.openxmlformats.org/drawingml/2006/main">
            <a:off x="4608000" y="2124000"/>
            <a:ext cx="432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1" i="0">
                <a:solidFill>
                  <a:srgbClr val="B60036"/>
                </a:solidFill>
                <a:latin typeface="Arial"/>
                <a:ea typeface="Arial"/>
              </a:rPr>
              <a:t>✕</a:t>
            </a:r>
          </a:p>
        </p:txBody>
      </p:sp>
      <p:sp>
        <p:nvSpPr>
          <p:cNvPr id="100163" name="Element-19"/>
          <p:cNvSpPr/>
          <p:nvPr/>
        </p:nvSpPr>
        <p:spPr>
          <a:xfrm xmlns:a="http://schemas.openxmlformats.org/drawingml/2006/main">
            <a:off x="4608000" y="2556000"/>
            <a:ext cx="288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700" b="1" i="0">
                <a:solidFill>
                  <a:srgbClr val="B60036"/>
                </a:solidFill>
                <a:latin typeface="Arial"/>
                <a:ea typeface="Arial"/>
              </a:rPr>
              <a:t>No confidence interval</a:t>
            </a:r>
          </a:p>
        </p:txBody>
      </p:sp>
      <p:sp>
        <p:nvSpPr>
          <p:cNvPr id="100164" name="Element-20"/>
          <p:cNvSpPr/>
          <p:nvPr/>
        </p:nvSpPr>
        <p:spPr>
          <a:xfrm xmlns:a="http://schemas.openxmlformats.org/drawingml/2006/main">
            <a:off x="4608000" y="3096000"/>
            <a:ext cx="288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300" b="0" i="0">
                <a:solidFill>
                  <a:srgbClr val="20252D"/>
                </a:solidFill>
                <a:latin typeface="Arial"/>
                <a:ea typeface="Arial"/>
              </a:rPr>
              <a:t>Three repetitions yield a dispersion, not a sample.</a:t>
            </a:r>
          </a:p>
        </p:txBody>
      </p:sp>
      <p:sp>
        <p:nvSpPr>
          <p:cNvPr id="100165" name="Element-21"/>
          <p:cNvSpPr/>
          <p:nvPr/>
        </p:nvSpPr>
        <p:spPr>
          <a:xfrm xmlns:a="http://schemas.openxmlformats.org/drawingml/2006/main">
            <a:off x="7920000" y="1944000"/>
            <a:ext cx="3384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12700">
            <a:solidFill>
              <a:srgbClr val="D9DEE5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166" name="Element-22"/>
          <p:cNvSpPr/>
          <p:nvPr/>
        </p:nvSpPr>
        <p:spPr>
          <a:xfrm xmlns:a="http://schemas.openxmlformats.org/drawingml/2006/main">
            <a:off x="8172000" y="2124000"/>
            <a:ext cx="432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1" i="0">
                <a:solidFill>
                  <a:srgbClr val="B60036"/>
                </a:solidFill>
                <a:latin typeface="Arial"/>
                <a:ea typeface="Arial"/>
              </a:rPr>
              <a:t>✕</a:t>
            </a:r>
          </a:p>
        </p:txBody>
      </p:sp>
      <p:sp>
        <p:nvSpPr>
          <p:cNvPr id="100167" name="Element-23"/>
          <p:cNvSpPr/>
          <p:nvPr/>
        </p:nvSpPr>
        <p:spPr>
          <a:xfrm xmlns:a="http://schemas.openxmlformats.org/drawingml/2006/main">
            <a:off x="8172000" y="2556000"/>
            <a:ext cx="288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700" b="1" i="0">
                <a:solidFill>
                  <a:srgbClr val="B60036"/>
                </a:solidFill>
                <a:latin typeface="Arial"/>
                <a:ea typeface="Arial"/>
              </a:rPr>
              <a:t>No admitted evidence</a:t>
            </a:r>
          </a:p>
        </p:txBody>
      </p:sp>
      <p:sp>
        <p:nvSpPr>
          <p:cNvPr id="100168" name="Element-24"/>
          <p:cNvSpPr/>
          <p:nvPr/>
        </p:nvSpPr>
        <p:spPr>
          <a:xfrm xmlns:a="http://schemas.openxmlformats.org/drawingml/2006/main">
            <a:off x="8172000" y="3096000"/>
            <a:ext cx="288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300" b="0" i="0">
                <a:solidFill>
                  <a:srgbClr val="20252D"/>
                </a:solidFill>
                <a:latin typeface="Arial"/>
                <a:ea typeface="Arial"/>
              </a:rPr>
              <a:t>The metric definition is not frozen.</a:t>
            </a:r>
          </a:p>
        </p:txBody>
      </p:sp>
      <p:sp>
        <p:nvSpPr>
          <p:cNvPr id="100169" name="Element-25"/>
          <p:cNvSpPr/>
          <p:nvPr/>
        </p:nvSpPr>
        <p:spPr>
          <a:xfrm xmlns:a="http://schemas.openxmlformats.org/drawingml/2006/main">
            <a:off x="792000" y="4104000"/>
            <a:ext cx="105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350" b="1" i="0">
                <a:solidFill>
                  <a:srgbClr val="B60036"/>
                </a:solidFill>
                <a:latin typeface="Arial"/>
                <a:ea typeface="Arial"/>
              </a:rPr>
              <a:t>A successful run is not a measurement: one early run reported success while every model arm had failed.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id="100170" name="Picture 1" descr="SMart ILIA — UMON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29a2e6213497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792000" y="223200"/>
            <a:ext cx="1692000" cy="579864"/>
          </a:xfrm>
          <a:prstGeom xmlns:a="http://schemas.openxmlformats.org/drawingml/2006/main" prst="rect">
            <a:avLst/>
          </a:prstGeom>
        </p:spPr>
      </p:pic>
      <p:sp>
        <p:nvSpPr>
          <p:cNvPr id="100171" name="Title"/>
          <p:cNvSpPr/>
          <p:nvPr/>
        </p:nvSpPr>
        <p:spPr>
          <a:xfrm xmlns:a="http://schemas.openxmlformats.org/drawingml/2006/main">
            <a:off x="648000" y="630000"/>
            <a:ext cx="89280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900" b="1" i="0">
                <a:solidFill>
                  <a:srgbClr val="20252D"/>
                </a:solidFill>
                <a:latin typeface="Arial"/>
                <a:ea typeface="Arial"/>
              </a:rPr>
              <a:t>Next steps</a:t>
            </a:r>
          </a:p>
        </p:txBody>
      </p:sp>
      <p:sp>
        <p:nvSpPr>
          <p:cNvPr id="100172" name="Element-5"/>
          <p:cNvSpPr/>
          <p:nvPr/>
        </p:nvSpPr>
        <p:spPr>
          <a:xfrm xmlns:a="http://schemas.openxmlformats.org/drawingml/2006/main">
            <a:off x="648000" y="1422000"/>
            <a:ext cx="1224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173" name="Element-6"/>
          <p:cNvSpPr/>
          <p:nvPr/>
        </p:nvSpPr>
        <p:spPr>
          <a:xfrm xmlns:a="http://schemas.openxmlformats.org/drawingml/2006/main">
            <a:off x="648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5C626C"/>
                </a:solidFill>
                <a:latin typeface="Arial"/>
                <a:ea typeface="Arial"/>
              </a:rPr>
              <a:t>Objective</a:t>
            </a:r>
          </a:p>
        </p:txBody>
      </p:sp>
      <p:sp>
        <p:nvSpPr>
          <p:cNvPr id="100174" name="Element-7"/>
          <p:cNvSpPr/>
          <p:nvPr/>
        </p:nvSpPr>
        <p:spPr>
          <a:xfrm xmlns:a="http://schemas.openxmlformats.org/drawingml/2006/main">
            <a:off x="2664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5C626C"/>
                </a:solidFill>
                <a:latin typeface="Arial"/>
                <a:ea typeface="Arial"/>
              </a:rPr>
              <a:t>Instrument</a:t>
            </a:r>
          </a:p>
        </p:txBody>
      </p:sp>
      <p:sp>
        <p:nvSpPr>
          <p:cNvPr id="100175" name="Element-8"/>
          <p:cNvSpPr/>
          <p:nvPr/>
        </p:nvSpPr>
        <p:spPr>
          <a:xfrm xmlns:a="http://schemas.openxmlformats.org/drawingml/2006/main">
            <a:off x="4680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5C626C"/>
                </a:solidFill>
                <a:latin typeface="Arial"/>
                <a:ea typeface="Arial"/>
              </a:rPr>
              <a:t>Hypotheses</a:t>
            </a:r>
          </a:p>
        </p:txBody>
      </p:sp>
      <p:sp>
        <p:nvSpPr>
          <p:cNvPr id="100176" name="Element-9"/>
          <p:cNvSpPr/>
          <p:nvPr/>
        </p:nvSpPr>
        <p:spPr>
          <a:xfrm xmlns:a="http://schemas.openxmlformats.org/drawingml/2006/main">
            <a:off x="6696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B60036"/>
                </a:solidFill>
                <a:latin typeface="Arial"/>
                <a:ea typeface="Arial"/>
              </a:rPr>
              <a:t>Outlook</a:t>
            </a:r>
          </a:p>
        </p:txBody>
      </p:sp>
      <p:sp>
        <p:nvSpPr>
          <p:cNvPr id="100177" name="Element-10"/>
          <p:cNvSpPr/>
          <p:nvPr/>
        </p:nvSpPr>
        <p:spPr>
          <a:xfrm xmlns:a="http://schemas.openxmlformats.org/drawingml/2006/main">
            <a:off x="6696000" y="540000"/>
            <a:ext cx="1800000" cy="1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178" name="Element-11"/>
          <p:cNvSpPr/>
          <p:nvPr/>
        </p:nvSpPr>
        <p:spPr>
          <a:xfrm xmlns:a="http://schemas.openxmlformats.org/drawingml/2006/main">
            <a:off x="648000" y="6300000"/>
            <a:ext cx="504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850" b="0" i="0">
                <a:solidFill>
                  <a:srgbClr val="5C626C"/>
                </a:solidFill>
                <a:latin typeface="Arial"/>
                <a:ea typeface="Arial"/>
              </a:rPr>
              <a:t>Project LANCE — NATO SPS G6259</a:t>
            </a:r>
          </a:p>
        </p:txBody>
      </p:sp>
      <p:sp>
        <p:nvSpPr>
          <p:cNvPr id="100179" name="Element-12"/>
          <p:cNvSpPr/>
          <p:nvPr/>
        </p:nvSpPr>
        <p:spPr>
          <a:xfrm xmlns:a="http://schemas.openxmlformats.org/drawingml/2006/main">
            <a:off x="11016000" y="6300000"/>
            <a:ext cx="504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850" b="0" i="0">
                <a:solidFill>
                  <a:srgbClr val="5C626C"/>
                </a:solidFill>
                <a:latin typeface="Arial"/>
                <a:ea typeface="Arial"/>
              </a:rPr>
              <a:t>9</a:t>
            </a:r>
          </a:p>
        </p:txBody>
      </p:sp>
      <p:sp>
        <p:nvSpPr>
          <p:cNvPr id="100180" name="Element-13"/>
          <p:cNvSpPr/>
          <p:nvPr/>
        </p:nvSpPr>
        <p:spPr>
          <a:xfrm xmlns:a="http://schemas.openxmlformats.org/drawingml/2006/main">
            <a:off x="864000" y="1872000"/>
            <a:ext cx="432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050" b="1" i="0">
                <a:solidFill>
                  <a:srgbClr val="B60036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00181" name="Element-14"/>
          <p:cNvSpPr/>
          <p:nvPr/>
        </p:nvSpPr>
        <p:spPr>
          <a:xfrm xmlns:a="http://schemas.openxmlformats.org/drawingml/2006/main">
            <a:off x="1512000" y="1872000"/>
            <a:ext cx="756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050" b="0" i="0">
                <a:solidFill>
                  <a:srgbClr val="20252D"/>
                </a:solidFill>
                <a:latin typeface="Arial"/>
                <a:ea typeface="Arial"/>
              </a:rPr>
              <a:t>Execute V0 on a held-out instance</a:t>
            </a:r>
          </a:p>
        </p:txBody>
      </p:sp>
      <p:sp>
        <p:nvSpPr>
          <p:cNvPr id="100182" name="Element-15"/>
          <p:cNvSpPr/>
          <p:nvPr/>
        </p:nvSpPr>
        <p:spPr>
          <a:xfrm xmlns:a="http://schemas.openxmlformats.org/drawingml/2006/main">
            <a:off x="1512000" y="2394000"/>
            <a:ext cx="7560000" cy="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183" name="Element-16"/>
          <p:cNvSpPr/>
          <p:nvPr/>
        </p:nvSpPr>
        <p:spPr>
          <a:xfrm xmlns:a="http://schemas.openxmlformats.org/drawingml/2006/main">
            <a:off x="864000" y="2538000"/>
            <a:ext cx="432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050" b="1" i="0">
                <a:solidFill>
                  <a:srgbClr val="B60036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00184" name="Element-17"/>
          <p:cNvSpPr/>
          <p:nvPr/>
        </p:nvSpPr>
        <p:spPr>
          <a:xfrm xmlns:a="http://schemas.openxmlformats.org/drawingml/2006/main">
            <a:off x="1512000" y="2538000"/>
            <a:ext cx="756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050" b="0" i="0">
                <a:solidFill>
                  <a:srgbClr val="20252D"/>
                </a:solidFill>
                <a:latin typeface="Arial"/>
                <a:ea typeface="Arial"/>
              </a:rPr>
              <a:t>Develop a parameterisable test harness</a:t>
            </a:r>
          </a:p>
        </p:txBody>
      </p:sp>
      <p:sp>
        <p:nvSpPr>
          <p:cNvPr id="100185" name="Element-18"/>
          <p:cNvSpPr/>
          <p:nvPr/>
        </p:nvSpPr>
        <p:spPr>
          <a:xfrm xmlns:a="http://schemas.openxmlformats.org/drawingml/2006/main">
            <a:off x="1512000" y="3060000"/>
            <a:ext cx="7560000" cy="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186" name="Element-19"/>
          <p:cNvSpPr/>
          <p:nvPr/>
        </p:nvSpPr>
        <p:spPr>
          <a:xfrm xmlns:a="http://schemas.openxmlformats.org/drawingml/2006/main">
            <a:off x="864000" y="3204000"/>
            <a:ext cx="432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050" b="1" i="0">
                <a:solidFill>
                  <a:srgbClr val="B60036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00187" name="Element-20"/>
          <p:cNvSpPr/>
          <p:nvPr/>
        </p:nvSpPr>
        <p:spPr>
          <a:xfrm xmlns:a="http://schemas.openxmlformats.org/drawingml/2006/main">
            <a:off x="1512000" y="3204000"/>
            <a:ext cx="756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050" b="0" i="0">
                <a:solidFill>
                  <a:srgbClr val="20252D"/>
                </a:solidFill>
                <a:latin typeface="Arial"/>
                <a:ea typeface="Arial"/>
              </a:rPr>
              <a:t>Build the scenario families for H2, H3 and H4</a:t>
            </a:r>
          </a:p>
        </p:txBody>
      </p:sp>
      <p:sp>
        <p:nvSpPr>
          <p:cNvPr id="100188" name="Element-21"/>
          <p:cNvSpPr/>
          <p:nvPr/>
        </p:nvSpPr>
        <p:spPr>
          <a:xfrm xmlns:a="http://schemas.openxmlformats.org/drawingml/2006/main">
            <a:off x="1512000" y="3726000"/>
            <a:ext cx="7560000" cy="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189" name="Element-22"/>
          <p:cNvSpPr/>
          <p:nvPr/>
        </p:nvSpPr>
        <p:spPr>
          <a:xfrm xmlns:a="http://schemas.openxmlformats.org/drawingml/2006/main">
            <a:off x="864000" y="3870000"/>
            <a:ext cx="432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050" b="1" i="0">
                <a:solidFill>
                  <a:srgbClr val="B60036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100190" name="Element-23"/>
          <p:cNvSpPr/>
          <p:nvPr/>
        </p:nvSpPr>
        <p:spPr>
          <a:xfrm xmlns:a="http://schemas.openxmlformats.org/drawingml/2006/main">
            <a:off x="1512000" y="3870000"/>
            <a:ext cx="756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050" b="0" i="0">
                <a:solidFill>
                  <a:srgbClr val="20252D"/>
                </a:solidFill>
                <a:latin typeface="Arial"/>
                <a:ea typeface="Arial"/>
              </a:rPr>
              <a:t>Deploy a reproducible platform</a:t>
            </a:r>
          </a:p>
        </p:txBody>
      </p:sp>
      <p:sp>
        <p:nvSpPr>
          <p:cNvPr id="100191" name="Element-24"/>
          <p:cNvSpPr/>
          <p:nvPr/>
        </p:nvSpPr>
        <p:spPr>
          <a:xfrm xmlns:a="http://schemas.openxmlformats.org/drawingml/2006/main">
            <a:off x="864000" y="4716000"/>
            <a:ext cx="10512000" cy="68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F0F4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192" name="Element-25"/>
          <p:cNvSpPr/>
          <p:nvPr/>
        </p:nvSpPr>
        <p:spPr>
          <a:xfrm xmlns:a="http://schemas.openxmlformats.org/drawingml/2006/main">
            <a:off x="1152000" y="4806000"/>
            <a:ext cx="9936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150" b="1" i="0">
                <a:solidFill>
                  <a:srgbClr val="B60036"/>
                </a:solidFill>
                <a:latin typeface="Arial"/>
                <a:ea typeface="Arial"/>
              </a:rPr>
              <a:t>Forms of support requested</a:t>
            </a:r>
          </a:p>
        </p:txBody>
      </p:sp>
      <p:sp>
        <p:nvSpPr>
          <p:cNvPr id="100193" name="Element-26"/>
          <p:cNvSpPr/>
          <p:nvPr/>
        </p:nvSpPr>
        <p:spPr>
          <a:xfrm xmlns:a="http://schemas.openxmlformats.org/drawingml/2006/main">
            <a:off x="1152000" y="5040000"/>
            <a:ext cx="9936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350" b="0" i="0">
                <a:solidFill>
                  <a:srgbClr val="20252D"/>
                </a:solidFill>
                <a:latin typeface="Arial"/>
                <a:ea typeface="Arial"/>
              </a:rPr>
              <a:t>access to real vendor artifacts   ·   an adversarial review of the register</a:t>
            </a:r>
          </a:p>
        </p:txBody>
      </p:sp>
      <p:sp>
        <p:nvSpPr>
          <p:cNvPr id="100194" name="Element-27"/>
          <p:cNvSpPr/>
          <p:nvPr/>
        </p:nvSpPr>
        <p:spPr>
          <a:xfrm xmlns:a="http://schemas.openxmlformats.org/drawingml/2006/main">
            <a:off x="864000" y="5580000"/>
            <a:ext cx="10512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150" b="0" i="0">
                <a:solidFill>
                  <a:srgbClr val="5C626C"/>
                </a:solidFill>
                <a:latin typeface="Arial"/>
                <a:ea typeface="Arial"/>
              </a:rPr>
              <a:t>AsiaCCS 2027 — submission deadline 11 December 2026 (AoE).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id="100195" name="Picture 1" descr="SMart ILIA — UMON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42151ad9547a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792000" y="223200"/>
            <a:ext cx="1692000" cy="579864"/>
          </a:xfrm>
          <a:prstGeom xmlns:a="http://schemas.openxmlformats.org/drawingml/2006/main" prst="rect">
            <a:avLst/>
          </a:prstGeom>
        </p:spPr>
      </p:pic>
      <p:sp>
        <p:nvSpPr>
          <p:cNvPr id="100196" name="Title"/>
          <p:cNvSpPr/>
          <p:nvPr/>
        </p:nvSpPr>
        <p:spPr>
          <a:xfrm xmlns:a="http://schemas.openxmlformats.org/drawingml/2006/main">
            <a:off x="648000" y="630000"/>
            <a:ext cx="89280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900" b="1" i="0">
                <a:solidFill>
                  <a:srgbClr val="20252D"/>
                </a:solidFill>
                <a:latin typeface="Arial"/>
                <a:ea typeface="Arial"/>
              </a:rPr>
              <a:t>Reserve — declared coverage gaps</a:t>
            </a:r>
          </a:p>
        </p:txBody>
      </p:sp>
      <p:sp>
        <p:nvSpPr>
          <p:cNvPr id="100197" name="Element-5"/>
          <p:cNvSpPr/>
          <p:nvPr/>
        </p:nvSpPr>
        <p:spPr>
          <a:xfrm xmlns:a="http://schemas.openxmlformats.org/drawingml/2006/main">
            <a:off x="648000" y="1422000"/>
            <a:ext cx="1224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198" name="Element-6"/>
          <p:cNvSpPr/>
          <p:nvPr/>
        </p:nvSpPr>
        <p:spPr>
          <a:xfrm xmlns:a="http://schemas.openxmlformats.org/drawingml/2006/main">
            <a:off x="648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5C626C"/>
                </a:solidFill>
                <a:latin typeface="Arial"/>
                <a:ea typeface="Arial"/>
              </a:rPr>
              <a:t>Objective</a:t>
            </a:r>
          </a:p>
        </p:txBody>
      </p:sp>
      <p:sp>
        <p:nvSpPr>
          <p:cNvPr id="100199" name="Element-7"/>
          <p:cNvSpPr/>
          <p:nvPr/>
        </p:nvSpPr>
        <p:spPr>
          <a:xfrm xmlns:a="http://schemas.openxmlformats.org/drawingml/2006/main">
            <a:off x="2664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5C626C"/>
                </a:solidFill>
                <a:latin typeface="Arial"/>
                <a:ea typeface="Arial"/>
              </a:rPr>
              <a:t>Instrument</a:t>
            </a:r>
          </a:p>
        </p:txBody>
      </p:sp>
      <p:sp>
        <p:nvSpPr>
          <p:cNvPr id="100200" name="Element-8"/>
          <p:cNvSpPr/>
          <p:nvPr/>
        </p:nvSpPr>
        <p:spPr>
          <a:xfrm xmlns:a="http://schemas.openxmlformats.org/drawingml/2006/main">
            <a:off x="4680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5C626C"/>
                </a:solidFill>
                <a:latin typeface="Arial"/>
                <a:ea typeface="Arial"/>
              </a:rPr>
              <a:t>Hypotheses</a:t>
            </a:r>
          </a:p>
        </p:txBody>
      </p:sp>
      <p:sp>
        <p:nvSpPr>
          <p:cNvPr id="100201" name="Element-9"/>
          <p:cNvSpPr/>
          <p:nvPr/>
        </p:nvSpPr>
        <p:spPr>
          <a:xfrm xmlns:a="http://schemas.openxmlformats.org/drawingml/2006/main">
            <a:off x="6696000" y="306000"/>
            <a:ext cx="180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B60036"/>
                </a:solidFill>
                <a:latin typeface="Arial"/>
                <a:ea typeface="Arial"/>
              </a:rPr>
              <a:t>Outlook</a:t>
            </a:r>
          </a:p>
        </p:txBody>
      </p:sp>
      <p:sp>
        <p:nvSpPr>
          <p:cNvPr id="100202" name="Element-10"/>
          <p:cNvSpPr/>
          <p:nvPr/>
        </p:nvSpPr>
        <p:spPr>
          <a:xfrm xmlns:a="http://schemas.openxmlformats.org/drawingml/2006/main">
            <a:off x="6696000" y="540000"/>
            <a:ext cx="1800000" cy="1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203" name="Element-11"/>
          <p:cNvSpPr/>
          <p:nvPr/>
        </p:nvSpPr>
        <p:spPr>
          <a:xfrm xmlns:a="http://schemas.openxmlformats.org/drawingml/2006/main">
            <a:off x="648000" y="6300000"/>
            <a:ext cx="504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850" b="0" i="0">
                <a:solidFill>
                  <a:srgbClr val="5C626C"/>
                </a:solidFill>
                <a:latin typeface="Arial"/>
                <a:ea typeface="Arial"/>
              </a:rPr>
              <a:t>Project LANCE — NATO SPS G6259</a:t>
            </a:r>
          </a:p>
        </p:txBody>
      </p:sp>
      <p:sp>
        <p:nvSpPr>
          <p:cNvPr id="100204" name="Element-12"/>
          <p:cNvSpPr/>
          <p:nvPr/>
        </p:nvSpPr>
        <p:spPr>
          <a:xfrm xmlns:a="http://schemas.openxmlformats.org/drawingml/2006/main">
            <a:off x="11016000" y="6300000"/>
            <a:ext cx="504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850" b="0" i="0">
                <a:solidFill>
                  <a:srgbClr val="5C626C"/>
                </a:solidFill>
                <a:latin typeface="Arial"/>
                <a:ea typeface="Arial"/>
              </a:rPr>
              <a:t>10</a:t>
            </a:r>
          </a:p>
        </p:txBody>
      </p:sp>
      <p:sp>
        <p:nvSpPr>
          <p:cNvPr id="100205" name="Element-13"/>
          <p:cNvSpPr/>
          <p:nvPr/>
        </p:nvSpPr>
        <p:spPr>
          <a:xfrm xmlns:a="http://schemas.openxmlformats.org/drawingml/2006/main">
            <a:off x="864000" y="1764000"/>
            <a:ext cx="36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1" i="0">
                <a:solidFill>
                  <a:srgbClr val="B60036"/>
                </a:solidFill>
                <a:latin typeface="Arial"/>
                <a:ea typeface="Arial"/>
              </a:rPr>
              <a:t>—</a:t>
            </a:r>
          </a:p>
        </p:txBody>
      </p:sp>
      <p:sp>
        <p:nvSpPr>
          <p:cNvPr id="100206" name="Element-14"/>
          <p:cNvSpPr/>
          <p:nvPr/>
        </p:nvSpPr>
        <p:spPr>
          <a:xfrm xmlns:a="http://schemas.openxmlformats.org/drawingml/2006/main">
            <a:off x="1296000" y="1764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0" i="0">
                <a:solidFill>
                  <a:srgbClr val="20252D"/>
                </a:solidFill>
                <a:latin typeface="Arial"/>
                <a:ea typeface="Arial"/>
              </a:rPr>
              <a:t>Physical impact and functional safety</a:t>
            </a:r>
          </a:p>
        </p:txBody>
      </p:sp>
      <p:sp>
        <p:nvSpPr>
          <p:cNvPr id="100207" name="Element-15"/>
          <p:cNvSpPr/>
          <p:nvPr/>
        </p:nvSpPr>
        <p:spPr>
          <a:xfrm xmlns:a="http://schemas.openxmlformats.org/drawingml/2006/main">
            <a:off x="864000" y="2304000"/>
            <a:ext cx="36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1" i="0">
                <a:solidFill>
                  <a:srgbClr val="B60036"/>
                </a:solidFill>
                <a:latin typeface="Arial"/>
                <a:ea typeface="Arial"/>
              </a:rPr>
              <a:t>—</a:t>
            </a:r>
          </a:p>
        </p:txBody>
      </p:sp>
      <p:sp>
        <p:nvSpPr>
          <p:cNvPr id="100208" name="Element-16"/>
          <p:cNvSpPr/>
          <p:nvPr/>
        </p:nvSpPr>
        <p:spPr>
          <a:xfrm xmlns:a="http://schemas.openxmlformats.org/drawingml/2006/main">
            <a:off x="1296000" y="2304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0" i="0">
                <a:solidFill>
                  <a:srgbClr val="20252D"/>
                </a:solidFill>
                <a:latin typeface="Arial"/>
                <a:ea typeface="Arial"/>
              </a:rPr>
              <a:t>Device fragility under probing</a:t>
            </a:r>
          </a:p>
        </p:txBody>
      </p:sp>
      <p:sp>
        <p:nvSpPr>
          <p:cNvPr id="100209" name="Element-17"/>
          <p:cNvSpPr/>
          <p:nvPr/>
        </p:nvSpPr>
        <p:spPr>
          <a:xfrm xmlns:a="http://schemas.openxmlformats.org/drawingml/2006/main">
            <a:off x="864000" y="2844000"/>
            <a:ext cx="36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1" i="0">
                <a:solidFill>
                  <a:srgbClr val="B60036"/>
                </a:solidFill>
                <a:latin typeface="Arial"/>
                <a:ea typeface="Arial"/>
              </a:rPr>
              <a:t>—</a:t>
            </a:r>
          </a:p>
        </p:txBody>
      </p:sp>
      <p:sp>
        <p:nvSpPr>
          <p:cNvPr id="100210" name="Element-18"/>
          <p:cNvSpPr/>
          <p:nvPr/>
        </p:nvSpPr>
        <p:spPr>
          <a:xfrm xmlns:a="http://schemas.openxmlformats.org/drawingml/2006/main">
            <a:off x="1296000" y="2844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0" i="0">
                <a:solidFill>
                  <a:srgbClr val="20252D"/>
                </a:solidFill>
                <a:latin typeface="Arial"/>
                <a:ea typeface="Arial"/>
              </a:rPr>
              <a:t>Real fleet scale</a:t>
            </a:r>
          </a:p>
        </p:txBody>
      </p:sp>
      <p:sp>
        <p:nvSpPr>
          <p:cNvPr id="100211" name="Element-19"/>
          <p:cNvSpPr/>
          <p:nvPr/>
        </p:nvSpPr>
        <p:spPr>
          <a:xfrm xmlns:a="http://schemas.openxmlformats.org/drawingml/2006/main">
            <a:off x="864000" y="3384000"/>
            <a:ext cx="36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1" i="0">
                <a:solidFill>
                  <a:srgbClr val="B60036"/>
                </a:solidFill>
                <a:latin typeface="Arial"/>
                <a:ea typeface="Arial"/>
              </a:rPr>
              <a:t>—</a:t>
            </a:r>
          </a:p>
        </p:txBody>
      </p:sp>
      <p:sp>
        <p:nvSpPr>
          <p:cNvPr id="100212" name="Element-20"/>
          <p:cNvSpPr/>
          <p:nvPr/>
        </p:nvSpPr>
        <p:spPr>
          <a:xfrm xmlns:a="http://schemas.openxmlformats.org/drawingml/2006/main">
            <a:off x="1296000" y="3384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0" i="0">
                <a:solidFill>
                  <a:srgbClr val="20252D"/>
                </a:solidFill>
                <a:latin typeface="Arial"/>
                <a:ea typeface="Arial"/>
              </a:rPr>
              <a:t>Proprietary industrial protocols that are not simulated</a:t>
            </a:r>
          </a:p>
        </p:txBody>
      </p:sp>
      <p:sp>
        <p:nvSpPr>
          <p:cNvPr id="100213" name="Element-21"/>
          <p:cNvSpPr/>
          <p:nvPr/>
        </p:nvSpPr>
        <p:spPr>
          <a:xfrm xmlns:a="http://schemas.openxmlformats.org/drawingml/2006/main">
            <a:off x="864000" y="3924000"/>
            <a:ext cx="36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1" i="0">
                <a:solidFill>
                  <a:srgbClr val="B60036"/>
                </a:solidFill>
                <a:latin typeface="Arial"/>
                <a:ea typeface="Arial"/>
              </a:rPr>
              <a:t>—</a:t>
            </a:r>
          </a:p>
        </p:txBody>
      </p:sp>
      <p:sp>
        <p:nvSpPr>
          <p:cNvPr id="100214" name="Element-22"/>
          <p:cNvSpPr/>
          <p:nvPr/>
        </p:nvSpPr>
        <p:spPr>
          <a:xfrm xmlns:a="http://schemas.openxmlformats.org/drawingml/2006/main">
            <a:off x="1296000" y="3924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0" i="0">
                <a:solidFill>
                  <a:srgbClr val="20252D"/>
                </a:solidFill>
                <a:latin typeface="Arial"/>
                <a:ea typeface="Arial"/>
              </a:rPr>
              <a:t>Complete multi-step exploitation chains</a:t>
            </a:r>
          </a:p>
        </p:txBody>
      </p:sp>
      <p:sp>
        <p:nvSpPr>
          <p:cNvPr id="100215" name="Element-23"/>
          <p:cNvSpPr/>
          <p:nvPr/>
        </p:nvSpPr>
        <p:spPr>
          <a:xfrm xmlns:a="http://schemas.openxmlformats.org/drawingml/2006/main">
            <a:off x="864000" y="4464000"/>
            <a:ext cx="36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1" i="0">
                <a:solidFill>
                  <a:srgbClr val="B60036"/>
                </a:solidFill>
                <a:latin typeface="Arial"/>
                <a:ea typeface="Arial"/>
              </a:rPr>
              <a:t>—</a:t>
            </a:r>
          </a:p>
        </p:txBody>
      </p:sp>
      <p:sp>
        <p:nvSpPr>
          <p:cNvPr id="100216" name="Element-24"/>
          <p:cNvSpPr/>
          <p:nvPr/>
        </p:nvSpPr>
        <p:spPr>
          <a:xfrm xmlns:a="http://schemas.openxmlformats.org/drawingml/2006/main">
            <a:off x="1296000" y="4464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0" i="0">
                <a:solidFill>
                  <a:srgbClr val="20252D"/>
                </a:solidFill>
                <a:latin typeface="Arial"/>
                <a:ea typeface="Arial"/>
              </a:rPr>
              <a:t>Abstention and calibration</a:t>
            </a:r>
          </a:p>
        </p:txBody>
      </p:sp>
      <p:sp>
        <p:nvSpPr>
          <p:cNvPr id="100217" name="Element-25"/>
          <p:cNvSpPr/>
          <p:nvPr/>
        </p:nvSpPr>
        <p:spPr>
          <a:xfrm xmlns:a="http://schemas.openxmlformats.org/drawingml/2006/main">
            <a:off x="864000" y="5004000"/>
            <a:ext cx="36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1" i="0">
                <a:solidFill>
                  <a:srgbClr val="B60036"/>
                </a:solidFill>
                <a:latin typeface="Arial"/>
                <a:ea typeface="Arial"/>
              </a:rPr>
              <a:t>—</a:t>
            </a:r>
          </a:p>
        </p:txBody>
      </p:sp>
      <p:sp>
        <p:nvSpPr>
          <p:cNvPr id="100218" name="Element-26"/>
          <p:cNvSpPr/>
          <p:nvPr/>
        </p:nvSpPr>
        <p:spPr>
          <a:xfrm xmlns:a="http://schemas.openxmlformats.org/drawingml/2006/main">
            <a:off x="1296000" y="5004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0" i="0">
                <a:solidFill>
                  <a:srgbClr val="20252D"/>
                </a:solidFill>
                <a:latin typeface="Arial"/>
                <a:ea typeface="Arial"/>
              </a:rPr>
              <a:t>Generic IT scenarios, deliberately excluded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OfficeCLI/1.0.158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Project LANCE</dc:creator>
  <dcterms:created xsi:type="dcterms:W3CDTF">2026-10-21T11:48:11.0000000Z</dcterms:created>
  <lastModifiedBy>OfficeCLI</lastModifiedBy>
  <dcterms:modified xsi:type="dcterms:W3CDTF">2026-10-21T11:48:11.8233650Z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1.0.158</vt:lpwstr>
  </op:property>
  <op:property fmtid="{D5CDD505-2E9C-101B-9397-08002B2CF9AE}" pid="3" name="OfficeCLI.LastModified">
    <vt:lpwstr xmlns:vt="http://schemas.openxmlformats.org/officeDocument/2006/docPropsVTypes">2026-10-21T11:48:17Z</vt:lpwstr>
  </op:property>
</op:Properties>
</file>