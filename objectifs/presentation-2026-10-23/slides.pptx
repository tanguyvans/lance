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ffb54e774df4479" /><Relationship Type="http://schemas.openxmlformats.org/package/2006/relationships/metadata/core-properties" Target="/docProps/core.xml" Id="R1f4deb9085a84ef3" /><Relationship Type="http://schemas.openxmlformats.org/officeDocument/2006/relationships/extended-properties" Target="/docProps/app.xml" Id="R7870c6f491ff4e47" /><Relationship Type="http://schemas.openxmlformats.org/officeDocument/2006/relationships/custom-properties" Target="/docProps/custom.xml" Id="R8eec9beb9de345f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4f8ba038c8640e3"/>
  </p:notesMasterIdLst>
  <p:sldIdLst>
    <p:sldId id="256" r:id="R6b930083725b4b66"/>
    <p:sldId id="257" r:id="R81e66a927fbc4d21"/>
    <p:sldId id="258" r:id="R8e9c343bd0af41d5"/>
    <p:sldId id="259" r:id="R42753d29863e4066"/>
    <p:sldId id="260" r:id="Rf78ab499076c4ea2"/>
    <p:sldId id="261" r:id="R9c66c6cd40594b08"/>
    <p:sldId id="262" r:id="R50bf0237fa0842b0"/>
    <p:sldId id="263" r:id="Re0b916fbf1e84a43"/>
    <p:sldId id="264" r:id="R7b266bef07d74eb7"/>
    <p:sldId id="265" r:id="R6f610827686849f9"/>
  </p:sldIdLst>
  <p:sldSz cx="12192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b930083725b4b66" /><Relationship Type="http://schemas.openxmlformats.org/officeDocument/2006/relationships/notesMaster" Target="/ppt/notesMasters/notesMaster1.xml" Id="R94f8ba038c8640e3" /><Relationship Type="http://schemas.openxmlformats.org/officeDocument/2006/relationships/slide" Target="/ppt/slides/slide2.xml" Id="R81e66a927fbc4d21" /><Relationship Type="http://schemas.openxmlformats.org/officeDocument/2006/relationships/slide" Target="/ppt/slides/slide3.xml" Id="R8e9c343bd0af41d5" /><Relationship Type="http://schemas.openxmlformats.org/officeDocument/2006/relationships/slide" Target="/ppt/slides/slide4.xml" Id="R42753d29863e4066" /><Relationship Type="http://schemas.openxmlformats.org/officeDocument/2006/relationships/slide" Target="/ppt/slides/slide5.xml" Id="Rf78ab499076c4ea2" /><Relationship Type="http://schemas.openxmlformats.org/officeDocument/2006/relationships/slide" Target="/ppt/slides/slide6.xml" Id="R9c66c6cd40594b08" /><Relationship Type="http://schemas.openxmlformats.org/officeDocument/2006/relationships/slide" Target="/ppt/slides/slide7.xml" Id="R50bf0237fa0842b0" /><Relationship Type="http://schemas.openxmlformats.org/officeDocument/2006/relationships/slide" Target="/ppt/slides/slide8.xml" Id="Re0b916fbf1e84a43" /><Relationship Type="http://schemas.openxmlformats.org/officeDocument/2006/relationships/slide" Target="/ppt/slides/slide9.xml" Id="R7b266bef07d74eb7" /><Relationship Type="http://schemas.openxmlformats.org/officeDocument/2006/relationships/slide" Target="/ppt/slides/slide10.xml" Id="R6f610827686849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3bc30b9db254ef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46867a0ef174404" /><Relationship Type="http://schemas.openxmlformats.org/officeDocument/2006/relationships/slide" Target="/ppt/slides/slide1.xml" Id="R68262fc507f545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9ac46cf20d49fe" /><Relationship Type="http://schemas.openxmlformats.org/officeDocument/2006/relationships/slide" Target="/ppt/slides/slide2.xml" Id="R000678e8da8340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f2056a80c7d4068" /><Relationship Type="http://schemas.openxmlformats.org/officeDocument/2006/relationships/slide" Target="/ppt/slides/slide3.xml" Id="Rc5cd59506a844b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52472a2369149e5" /><Relationship Type="http://schemas.openxmlformats.org/officeDocument/2006/relationships/slide" Target="/ppt/slides/slide4.xml" Id="Rcf9e72bfc04149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d12702054894e14" /><Relationship Type="http://schemas.openxmlformats.org/officeDocument/2006/relationships/slide" Target="/ppt/slides/slide5.xml" Id="R1200ed37f0e74d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adcf44bc4c4241" /><Relationship Type="http://schemas.openxmlformats.org/officeDocument/2006/relationships/slide" Target="/ppt/slides/slide6.xml" Id="R87fdea6de05642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8239c40a27f4de6" /><Relationship Type="http://schemas.openxmlformats.org/officeDocument/2006/relationships/slide" Target="/ppt/slides/slide7.xml" Id="Ra5355c48bccf47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0e42dcc669e4939" /><Relationship Type="http://schemas.openxmlformats.org/officeDocument/2006/relationships/slide" Target="/ppt/slides/slide8.xml" Id="R2934fb32774f42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edcbc1bf30455e" /><Relationship Type="http://schemas.openxmlformats.org/officeDocument/2006/relationships/slide" Target="/ppt/slides/slide9.xml" Id="Rfb4f2d085eac4f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94756a9e1d54228" /><Relationship Type="http://schemas.openxmlformats.org/officeDocument/2006/relationships/slide" Target="/ppt/slides/slide10.xml" Id="Rc61becf6284649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20 seconds.</a:t>
            </a:r>
          </a:p>
          <a:p xmlns:a="http://schemas.openxmlformats.org/drawingml/2006/main">
            <a:r>
              <a:rPr lang="en-US"/>
              <a:t>Cover. Say: this is a progress report, not a results talk.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One sentence on the left, three commitments on the right. Do not read the three rows aloud; they qualify the sentence, they do not repeat it. Close on the last 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Three pieces, three roles. The model is one piece among them. The last line is the methodological point: a run means nothing without a network whose truth is known.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80 seconds.</a:t>
            </a:r>
          </a:p>
          <a:p xmlns:a="http://schemas.openxmlformats.org/drawingml/2006/main">
            <a:r>
              <a:rPr lang="en-US"/>
              <a:t>Two halves. Left: we recompute from the log, never from the conclusion. Right: the same trial runs on both configurations, so a false positive is visible. The bottom band is the second half of the rule.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Both approaches succeed everywhere. That is a property of the instrument, not a verdict on the model: the scale is saturated, so the bars carry no difference.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The objective does not change, its form does. Six network properties, six tests. H6 is detached on purpose: it is a risk, not a gain.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The gate is the condition of interpretation for everything else, and it binds both arms. Read the matrix by cells: the only cell that opens the register is the one where both arms pass — script check and model check.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Be explicit. This is the slide that buys credibility. Three limits, each stated as a claim we are not making, then the reason.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Order follows conditions, not dates. Then the ask: vendor artifacts and an adversarial review of the register. Close on the deadline.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A benchmark that states its gaps is stronger than one that claims full coverage. One line each, no discussion unless asked.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c6b5219a3349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e8ba26211848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2ce7333ad74c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5c79a995ed44b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72b61988a499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147115ebdaa4a5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6cbf8582d4e68" /><Relationship Type="http://schemas.openxmlformats.org/officeDocument/2006/relationships/notesSlide" Target="/ppt/notesSlides/notesSlide1.xml" Id="Rf21721850bf04a2b" /><Relationship Type="http://schemas.openxmlformats.org/officeDocument/2006/relationships/image" Target="/ppt/media/image.png" Id="Rf4ab03e63e7845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003a76b274fc7" /><Relationship Type="http://schemas.openxmlformats.org/officeDocument/2006/relationships/notesSlide" Target="/ppt/notesSlides/notesSlide2.xml" Id="R3cb4a07013a84082" /><Relationship Type="http://schemas.openxmlformats.org/officeDocument/2006/relationships/image" Target="/ppt/media/image2.png" Id="R0b4d1c0494db4f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288dff4634013" /><Relationship Type="http://schemas.openxmlformats.org/officeDocument/2006/relationships/notesSlide" Target="/ppt/notesSlides/notesSlide3.xml" Id="R49a15d7d03af487d" /><Relationship Type="http://schemas.openxmlformats.org/officeDocument/2006/relationships/image" Target="/ppt/media/image3.png" Id="R85e63ce5920e49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5f86863e64a55" /><Relationship Type="http://schemas.openxmlformats.org/officeDocument/2006/relationships/notesSlide" Target="/ppt/notesSlides/notesSlide4.xml" Id="R78d1012ec6d944fb" /><Relationship Type="http://schemas.openxmlformats.org/officeDocument/2006/relationships/image" Target="/ppt/media/image4.png" Id="R01098bf1c5ca4c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f01797aa045cc" /><Relationship Type="http://schemas.openxmlformats.org/officeDocument/2006/relationships/notesSlide" Target="/ppt/notesSlides/notesSlide5.xml" Id="R937efea216ad4719" /><Relationship Type="http://schemas.openxmlformats.org/officeDocument/2006/relationships/image" Target="/ppt/media/image5.png" Id="R272c67c8c5fe4e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3e5a0b231430f" /><Relationship Type="http://schemas.openxmlformats.org/officeDocument/2006/relationships/notesSlide" Target="/ppt/notesSlides/notesSlide6.xml" Id="R5c9903cfb1c445ca" /><Relationship Type="http://schemas.openxmlformats.org/officeDocument/2006/relationships/image" Target="/ppt/media/image6.png" Id="R773212702b344a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5ee0b847e4cad" /><Relationship Type="http://schemas.openxmlformats.org/officeDocument/2006/relationships/notesSlide" Target="/ppt/notesSlides/notesSlide7.xml" Id="R921d0643e27b43c2" /><Relationship Type="http://schemas.openxmlformats.org/officeDocument/2006/relationships/image" Target="/ppt/media/image7.png" Id="Rb337c398ccde40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b161b2edb4a04" /><Relationship Type="http://schemas.openxmlformats.org/officeDocument/2006/relationships/notesSlide" Target="/ppt/notesSlides/notesSlide8.xml" Id="R20aa59ce76ba4093" /><Relationship Type="http://schemas.openxmlformats.org/officeDocument/2006/relationships/image" Target="/ppt/media/image8.png" Id="Raa860651cd0747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e5acad16d43a8" /><Relationship Type="http://schemas.openxmlformats.org/officeDocument/2006/relationships/notesSlide" Target="/ppt/notesSlides/notesSlide9.xml" Id="Rcd9f3828390d4d7e" /><Relationship Type="http://schemas.openxmlformats.org/officeDocument/2006/relationships/image" Target="/ppt/media/image9.png" Id="Ra6605452bf834b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de5298275423d" /><Relationship Type="http://schemas.openxmlformats.org/officeDocument/2006/relationships/notesSlide" Target="/ppt/notesSlides/notesSlide10.xml" Id="Rece9b9dc17f14d11" /><Relationship Type="http://schemas.openxmlformats.org/officeDocument/2006/relationships/image" Target="/ppt/media/image10.png" Id="R54e05485c3a04e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Element-3"/>
          <p:cNvSpPr/>
          <p:nvPr/>
        </p:nvSpPr>
        <p:spPr>
          <a:xfrm xmlns:a="http://schemas.openxmlformats.org/drawingml/2006/main">
            <a:off x="792000" y="990000"/>
            <a:ext cx="50400" cy="21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1" name="Fixed-4"/>
          <p:cNvSpPr/>
          <p:nvPr/>
        </p:nvSpPr>
        <p:spPr>
          <a:xfrm xmlns:a="http://schemas.openxmlformats.org/drawingml/2006/main">
            <a:off x="1206000" y="918000"/>
            <a:ext cx="7920000" cy="99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4600" b="1" i="0">
                <a:solidFill>
                  <a:srgbClr val="20252D"/>
                </a:solidFill>
                <a:latin typeface="Arial"/>
                <a:ea typeface="Arial"/>
              </a:rPr>
              <a:t>LANCE</a:t>
            </a:r>
          </a:p>
        </p:txBody>
      </p:sp>
      <p:sp>
        <p:nvSpPr>
          <p:cNvPr id="100002" name="Fixed-5"/>
          <p:cNvSpPr/>
          <p:nvPr/>
        </p:nvSpPr>
        <p:spPr>
          <a:xfrm xmlns:a="http://schemas.openxmlformats.org/drawingml/2006/main">
            <a:off x="1206000" y="1926000"/>
            <a:ext cx="702000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500" b="0" i="0">
                <a:solidFill>
                  <a:srgbClr val="5C626C"/>
                </a:solidFill>
                <a:latin typeface="Arial"/>
                <a:ea typeface="Arial"/>
              </a:rPr>
              <a:t>An autonomous and verifiable auditor</a:t>
            </a:r>
          </a:p>
          <a:p xmlns:a="http://schemas.openxmlformats.org/drawingml/2006/main">
            <a:pPr algn="l"/>
            <a:r>
              <a:rPr lang="en-US" sz="2500" b="0" i="0">
                <a:solidFill>
                  <a:srgbClr val="5C626C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03" name="Element-6"/>
          <p:cNvSpPr/>
          <p:nvPr/>
        </p:nvSpPr>
        <p:spPr>
          <a:xfrm xmlns:a="http://schemas.openxmlformats.org/drawingml/2006/main">
            <a:off x="792000" y="333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4" name="Fixed-7"/>
          <p:cNvSpPr/>
          <p:nvPr/>
        </p:nvSpPr>
        <p:spPr>
          <a:xfrm xmlns:a="http://schemas.openxmlformats.org/drawingml/2006/main">
            <a:off x="1206000" y="34740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800" b="1" i="0">
                <a:solidFill>
                  <a:srgbClr val="B60036"/>
                </a:solidFill>
                <a:latin typeface="Arial"/>
                <a:ea typeface="Arial"/>
              </a:rPr>
              <a:t>Progress report — NATO SPS G6259</a:t>
            </a:r>
          </a:p>
        </p:txBody>
      </p:sp>
      <p:sp>
        <p:nvSpPr>
          <p:cNvPr id="100005" name="Fixed-8"/>
          <p:cNvSpPr/>
          <p:nvPr/>
        </p:nvSpPr>
        <p:spPr>
          <a:xfrm xmlns:a="http://schemas.openxmlformats.org/drawingml/2006/main">
            <a:off x="1206000" y="3870000"/>
            <a:ext cx="7200000" cy="3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23 October 2026  ·  Université de Mons, ILIA</a:t>
            </a:r>
          </a:p>
        </p:txBody>
      </p:sp>
      <p:sp>
        <p:nvSpPr>
          <p:cNvPr id="100006" name="Element-9"/>
          <p:cNvSpPr/>
          <p:nvPr/>
        </p:nvSpPr>
        <p:spPr>
          <a:xfrm xmlns:a="http://schemas.openxmlformats.org/drawingml/2006/main">
            <a:off x="792000" y="4788000"/>
            <a:ext cx="4536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7" name="Element-10"/>
          <p:cNvSpPr/>
          <p:nvPr/>
        </p:nvSpPr>
        <p:spPr>
          <a:xfrm xmlns:a="http://schemas.openxmlformats.org/drawingml/2006/main">
            <a:off x="792000" y="4788000"/>
            <a:ext cx="504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8" name="Fixed-11"/>
          <p:cNvSpPr/>
          <p:nvPr/>
        </p:nvSpPr>
        <p:spPr>
          <a:xfrm xmlns:a="http://schemas.openxmlformats.org/drawingml/2006/main">
            <a:off x="1134000" y="4788000"/>
            <a:ext cx="403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1">
                <a:solidFill>
                  <a:srgbClr val="5C626C"/>
                </a:solidFill>
                <a:latin typeface="Arial"/>
                <a:ea typeface="Arial"/>
              </a:rPr>
              <a:t>Status: work in progress.</a:t>
            </a:r>
          </a:p>
        </p:txBody>
      </p:sp>
      <p:pic>
        <p:nvPicPr>
          <p:cNvPr id="100009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b03e63e7845b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504000"/>
            <a:ext cx="1872000" cy="641551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1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d1c0494db4f5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11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12" name="Element-5"/>
          <p:cNvSpPr/>
          <p:nvPr/>
        </p:nvSpPr>
        <p:spPr>
          <a:xfrm xmlns:a="http://schemas.openxmlformats.org/drawingml/2006/main">
            <a:off x="792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3" name="Fixed-6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14" name="Fixed-7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15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1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</a:t>
            </a:r>
          </a:p>
        </p:txBody>
      </p:sp>
      <p:sp>
        <p:nvSpPr>
          <p:cNvPr id="10001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8" name="Fixed-11"/>
          <p:cNvSpPr/>
          <p:nvPr/>
        </p:nvSpPr>
        <p:spPr>
          <a:xfrm xmlns:a="http://schemas.openxmlformats.org/drawingml/2006/main">
            <a:off x="792000" y="1944000"/>
            <a:ext cx="43024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500" b="1" i="0">
                <a:solidFill>
                  <a:srgbClr val="20252D"/>
                </a:solidFill>
                <a:latin typeface="Arial"/>
                <a:ea typeface="Arial"/>
              </a:rPr>
              <a:t>An auditor that explores, identifies, verifies and reports.</a:t>
            </a:r>
          </a:p>
        </p:txBody>
      </p:sp>
      <p:sp>
        <p:nvSpPr>
          <p:cNvPr id="100019" name="Element-12"/>
          <p:cNvSpPr/>
          <p:nvPr/>
        </p:nvSpPr>
        <p:spPr>
          <a:xfrm xmlns:a="http://schemas.openxmlformats.org/drawingml/2006/main">
            <a:off x="5296000" y="1764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0" name="Element-13"/>
          <p:cNvSpPr/>
          <p:nvPr/>
        </p:nvSpPr>
        <p:spPr>
          <a:xfrm xmlns:a="http://schemas.openxmlformats.org/drawingml/2006/main">
            <a:off x="5296000" y="1962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1" name="Fixed-14"/>
          <p:cNvSpPr/>
          <p:nvPr/>
        </p:nvSpPr>
        <p:spPr>
          <a:xfrm xmlns:a="http://schemas.openxmlformats.org/drawingml/2006/main">
            <a:off x="5602000" y="1900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Under which conditions</a:t>
            </a:r>
          </a:p>
        </p:txBody>
      </p:sp>
      <p:sp>
        <p:nvSpPr>
          <p:cNvPr id="100022" name="Fixed-15"/>
          <p:cNvSpPr/>
          <p:nvPr/>
        </p:nvSpPr>
        <p:spPr>
          <a:xfrm xmlns:a="http://schemas.openxmlformats.org/drawingml/2006/main">
            <a:off x="5602000" y="2296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rather than which model prevails</a:t>
            </a:r>
          </a:p>
        </p:txBody>
      </p:sp>
      <p:sp>
        <p:nvSpPr>
          <p:cNvPr id="100023" name="Element-16"/>
          <p:cNvSpPr/>
          <p:nvPr/>
        </p:nvSpPr>
        <p:spPr>
          <a:xfrm xmlns:a="http://schemas.openxmlformats.org/drawingml/2006/main">
            <a:off x="5296000" y="2862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4" name="Element-17"/>
          <p:cNvSpPr/>
          <p:nvPr/>
        </p:nvSpPr>
        <p:spPr>
          <a:xfrm xmlns:a="http://schemas.openxmlformats.org/drawingml/2006/main">
            <a:off x="5296000" y="3060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5" name="Fixed-18"/>
          <p:cNvSpPr/>
          <p:nvPr/>
        </p:nvSpPr>
        <p:spPr>
          <a:xfrm xmlns:a="http://schemas.openxmlformats.org/drawingml/2006/main">
            <a:off x="5602000" y="2998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Identical tools and budget</a:t>
            </a:r>
          </a:p>
        </p:txBody>
      </p:sp>
      <p:sp>
        <p:nvSpPr>
          <p:cNvPr id="100026" name="Fixed-19"/>
          <p:cNvSpPr/>
          <p:nvPr/>
        </p:nvSpPr>
        <p:spPr>
          <a:xfrm xmlns:a="http://schemas.openxmlformats.org/drawingml/2006/main">
            <a:off x="5602000" y="3394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for both approaches</a:t>
            </a:r>
          </a:p>
        </p:txBody>
      </p:sp>
      <p:sp>
        <p:nvSpPr>
          <p:cNvPr id="100027" name="Element-20"/>
          <p:cNvSpPr/>
          <p:nvPr/>
        </p:nvSpPr>
        <p:spPr>
          <a:xfrm xmlns:a="http://schemas.openxmlformats.org/drawingml/2006/main">
            <a:off x="5296000" y="3960000"/>
            <a:ext cx="6104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8" name="Element-21"/>
          <p:cNvSpPr/>
          <p:nvPr/>
        </p:nvSpPr>
        <p:spPr>
          <a:xfrm xmlns:a="http://schemas.openxmlformats.org/drawingml/2006/main">
            <a:off x="5296000" y="4158000"/>
            <a:ext cx="57600" cy="5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9" name="Fixed-22"/>
          <p:cNvSpPr/>
          <p:nvPr/>
        </p:nvSpPr>
        <p:spPr>
          <a:xfrm xmlns:a="http://schemas.openxmlformats.org/drawingml/2006/main">
            <a:off x="5602000" y="4096800"/>
            <a:ext cx="5564000" cy="3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Evidence, not assertion</a:t>
            </a:r>
          </a:p>
        </p:txBody>
      </p:sp>
      <p:sp>
        <p:nvSpPr>
          <p:cNvPr id="100030" name="Fixed-23"/>
          <p:cNvSpPr/>
          <p:nvPr/>
        </p:nvSpPr>
        <p:spPr>
          <a:xfrm xmlns:a="http://schemas.openxmlformats.org/drawingml/2006/main">
            <a:off x="5602000" y="4492800"/>
            <a:ext cx="55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recomputed from the log</a:t>
            </a:r>
          </a:p>
        </p:txBody>
      </p:sp>
      <p:sp>
        <p:nvSpPr>
          <p:cNvPr id="100031" name="Element-24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2" name="Caption-2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Model training is not a current priority.</a:t>
            </a:r>
          </a:p>
        </p:txBody>
      </p:sp>
      <p:sp>
        <p:nvSpPr>
          <p:cNvPr id="100033" name="Fixed-26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34" name="Fixed-27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2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35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63ce5920e490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36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37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38" name="Element-6"/>
          <p:cNvSpPr/>
          <p:nvPr/>
        </p:nvSpPr>
        <p:spPr>
          <a:xfrm xmlns:a="http://schemas.openxmlformats.org/drawingml/2006/main">
            <a:off x="2736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9" name="Fixed-7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40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41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instrument</a:t>
            </a:r>
          </a:p>
        </p:txBody>
      </p:sp>
      <p:sp>
        <p:nvSpPr>
          <p:cNvPr id="100042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3" name="Element-11"/>
          <p:cNvSpPr/>
          <p:nvPr/>
        </p:nvSpPr>
        <p:spPr>
          <a:xfrm xmlns:a="http://schemas.openxmlformats.org/drawingml/2006/main">
            <a:off x="792000" y="1692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4" name="Element-12"/>
          <p:cNvSpPr/>
          <p:nvPr/>
        </p:nvSpPr>
        <p:spPr>
          <a:xfrm xmlns:a="http://schemas.openxmlformats.org/drawingml/2006/main">
            <a:off x="792000" y="1692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5" name="Fixed-13"/>
          <p:cNvSpPr/>
          <p:nvPr/>
        </p:nvSpPr>
        <p:spPr>
          <a:xfrm xmlns:a="http://schemas.openxmlformats.org/drawingml/2006/main">
            <a:off x="1206000" y="1692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20252D"/>
                </a:solidFill>
                <a:latin typeface="Arial"/>
                <a:ea typeface="Arial"/>
              </a:rPr>
              <a:t>Laboratory</a:t>
            </a:r>
          </a:p>
        </p:txBody>
      </p:sp>
      <p:sp>
        <p:nvSpPr>
          <p:cNvPr id="100046" name="Fixed-14"/>
          <p:cNvSpPr/>
          <p:nvPr/>
        </p:nvSpPr>
        <p:spPr>
          <a:xfrm xmlns:a="http://schemas.openxmlformats.org/drawingml/2006/main">
            <a:off x="3510000" y="1692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networks with known ground truth</a:t>
            </a:r>
          </a:p>
        </p:txBody>
      </p:sp>
      <p:sp>
        <p:nvSpPr>
          <p:cNvPr id="100047" name="Element-15"/>
          <p:cNvSpPr/>
          <p:nvPr/>
        </p:nvSpPr>
        <p:spPr>
          <a:xfrm xmlns:a="http://schemas.openxmlformats.org/drawingml/2006/main">
            <a:off x="855000" y="2728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8" name="Element-16"/>
          <p:cNvSpPr/>
          <p:nvPr/>
        </p:nvSpPr>
        <p:spPr>
          <a:xfrm xmlns:a="http://schemas.openxmlformats.org/drawingml/2006/main">
            <a:off x="792000" y="2808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49" name="Element-17"/>
          <p:cNvSpPr/>
          <p:nvPr/>
        </p:nvSpPr>
        <p:spPr>
          <a:xfrm xmlns:a="http://schemas.openxmlformats.org/drawingml/2006/main">
            <a:off x="792000" y="2808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0" name="Fixed-18"/>
          <p:cNvSpPr/>
          <p:nvPr/>
        </p:nvSpPr>
        <p:spPr>
          <a:xfrm xmlns:a="http://schemas.openxmlformats.org/drawingml/2006/main">
            <a:off x="1206000" y="2808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1D5C96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51" name="Fixed-19"/>
          <p:cNvSpPr/>
          <p:nvPr/>
        </p:nvSpPr>
        <p:spPr>
          <a:xfrm xmlns:a="http://schemas.openxmlformats.org/drawingml/2006/main">
            <a:off x="3510000" y="2808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conducts the audit</a:t>
            </a:r>
          </a:p>
        </p:txBody>
      </p:sp>
      <p:sp>
        <p:nvSpPr>
          <p:cNvPr id="100052" name="Element-20"/>
          <p:cNvSpPr/>
          <p:nvPr/>
        </p:nvSpPr>
        <p:spPr>
          <a:xfrm xmlns:a="http://schemas.openxmlformats.org/drawingml/2006/main">
            <a:off x="855000" y="3844800"/>
            <a:ext cx="25200" cy="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3" name="Element-21"/>
          <p:cNvSpPr/>
          <p:nvPr/>
        </p:nvSpPr>
        <p:spPr>
          <a:xfrm xmlns:a="http://schemas.openxmlformats.org/drawingml/2006/main">
            <a:off x="792000" y="3924000"/>
            <a:ext cx="106080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4" name="Element-22"/>
          <p:cNvSpPr/>
          <p:nvPr/>
        </p:nvSpPr>
        <p:spPr>
          <a:xfrm xmlns:a="http://schemas.openxmlformats.org/drawingml/2006/main">
            <a:off x="792000" y="3924000"/>
            <a:ext cx="151200" cy="103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5" name="Fixed-23"/>
          <p:cNvSpPr/>
          <p:nvPr/>
        </p:nvSpPr>
        <p:spPr>
          <a:xfrm xmlns:a="http://schemas.openxmlformats.org/drawingml/2006/main">
            <a:off x="1206000" y="3924000"/>
            <a:ext cx="2160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300" b="1" i="0">
                <a:solidFill>
                  <a:srgbClr val="B60036"/>
                </a:solidFill>
                <a:latin typeface="Arial"/>
                <a:ea typeface="Arial"/>
              </a:rPr>
              <a:t>Benchmark</a:t>
            </a:r>
          </a:p>
        </p:txBody>
      </p:sp>
      <p:sp>
        <p:nvSpPr>
          <p:cNvPr id="100056" name="Fixed-24"/>
          <p:cNvSpPr/>
          <p:nvPr/>
        </p:nvSpPr>
        <p:spPr>
          <a:xfrm xmlns:a="http://schemas.openxmlformats.org/drawingml/2006/main">
            <a:off x="3510000" y="3924000"/>
            <a:ext cx="7602000" cy="103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assesses the result</a:t>
            </a:r>
          </a:p>
        </p:txBody>
      </p:sp>
      <p:sp>
        <p:nvSpPr>
          <p:cNvPr id="100057" name="Element-25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8" name="Caption-3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model is one component among them.</a:t>
            </a:r>
          </a:p>
        </p:txBody>
      </p:sp>
      <p:sp>
        <p:nvSpPr>
          <p:cNvPr id="100059" name="Fixed-27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A run constitutes a measurement only against known ground truth.</a:t>
            </a:r>
          </a:p>
        </p:txBody>
      </p:sp>
      <p:sp>
        <p:nvSpPr>
          <p:cNvPr id="100060" name="Fixed-28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61" name="Fixed-29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3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62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98bf1c5ca4c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63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64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65" name="Element-6"/>
          <p:cNvSpPr/>
          <p:nvPr/>
        </p:nvSpPr>
        <p:spPr>
          <a:xfrm xmlns:a="http://schemas.openxmlformats.org/drawingml/2006/main">
            <a:off x="2736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6" name="Fixed-7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67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68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constitutes a finding</a:t>
            </a:r>
          </a:p>
        </p:txBody>
      </p:sp>
      <p:sp>
        <p:nvSpPr>
          <p:cNvPr id="100069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0" name="Element-11"/>
          <p:cNvSpPr/>
          <p:nvPr/>
        </p:nvSpPr>
        <p:spPr>
          <a:xfrm xmlns:a="http://schemas.openxmlformats.org/drawingml/2006/main">
            <a:off x="7920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1" name="Fixed-12"/>
          <p:cNvSpPr/>
          <p:nvPr/>
        </p:nvSpPr>
        <p:spPr>
          <a:xfrm xmlns:a="http://schemas.openxmlformats.org/drawingml/2006/main">
            <a:off x="1044000" y="18792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00" b="0" i="1">
                <a:solidFill>
                  <a:srgbClr val="5C626C"/>
                </a:solidFill>
                <a:latin typeface="Arial"/>
                <a:ea typeface="Arial"/>
              </a:rPr>
              <a:t>“I have read another organisation's data.”</a:t>
            </a:r>
          </a:p>
        </p:txBody>
      </p:sp>
      <p:sp>
        <p:nvSpPr>
          <p:cNvPr id="100072" name="Element-13"/>
          <p:cNvSpPr/>
          <p:nvPr/>
        </p:nvSpPr>
        <p:spPr>
          <a:xfrm xmlns:a="http://schemas.openxmlformats.org/drawingml/2006/main">
            <a:off x="31236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3" name="Fixed-14"/>
          <p:cNvSpPr/>
          <p:nvPr/>
        </p:nvSpPr>
        <p:spPr>
          <a:xfrm xmlns:a="http://schemas.openxmlformats.org/drawingml/2006/main">
            <a:off x="1044000" y="2844000"/>
            <a:ext cx="4699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B60036"/>
                </a:solidFill>
                <a:latin typeface="Arial"/>
                <a:ea typeface="Arial"/>
              </a:rPr>
              <a:t>✕   Not admitted</a:t>
            </a:r>
          </a:p>
        </p:txBody>
      </p:sp>
      <p:sp>
        <p:nvSpPr>
          <p:cNvPr id="100074" name="Element-15"/>
          <p:cNvSpPr/>
          <p:nvPr/>
        </p:nvSpPr>
        <p:spPr>
          <a:xfrm xmlns:a="http://schemas.openxmlformats.org/drawingml/2006/main">
            <a:off x="6196800" y="1710000"/>
            <a:ext cx="5203200" cy="217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5" name="Fixed-16"/>
          <p:cNvSpPr/>
          <p:nvPr/>
        </p:nvSpPr>
        <p:spPr>
          <a:xfrm xmlns:a="http://schemas.openxmlformats.org/drawingml/2006/main">
            <a:off x="6448800" y="1879200"/>
            <a:ext cx="4699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The request and its response</a:t>
            </a:r>
          </a:p>
          <a:p xmlns:a="http://schemas.openxmlformats.org/drawingml/2006/main">
            <a:pPr algn="ctr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contain the data.</a:t>
            </a:r>
          </a:p>
        </p:txBody>
      </p:sp>
      <p:sp>
        <p:nvSpPr>
          <p:cNvPr id="100076" name="Element-17"/>
          <p:cNvSpPr/>
          <p:nvPr/>
        </p:nvSpPr>
        <p:spPr>
          <a:xfrm xmlns:a="http://schemas.openxmlformats.org/drawingml/2006/main">
            <a:off x="8528400" y="2772000"/>
            <a:ext cx="5400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7" name="Fixed-18"/>
          <p:cNvSpPr/>
          <p:nvPr/>
        </p:nvSpPr>
        <p:spPr>
          <a:xfrm xmlns:a="http://schemas.openxmlformats.org/drawingml/2006/main">
            <a:off x="6448800" y="2844000"/>
            <a:ext cx="4699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600" b="1" i="0">
                <a:solidFill>
                  <a:srgbClr val="2E7D5B"/>
                </a:solidFill>
                <a:latin typeface="Arial"/>
                <a:ea typeface="Arial"/>
              </a:rPr>
              <a:t>✓   Admitted</a:t>
            </a:r>
          </a:p>
        </p:txBody>
      </p:sp>
      <p:sp>
        <p:nvSpPr>
          <p:cNvPr id="100078" name="Element-19"/>
          <p:cNvSpPr/>
          <p:nvPr/>
        </p:nvSpPr>
        <p:spPr>
          <a:xfrm xmlns:a="http://schemas.openxmlformats.org/drawingml/2006/main">
            <a:off x="792000" y="4158000"/>
            <a:ext cx="10608000" cy="8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9" name="Element-20"/>
          <p:cNvSpPr/>
          <p:nvPr/>
        </p:nvSpPr>
        <p:spPr>
          <a:xfrm xmlns:a="http://schemas.openxmlformats.org/drawingml/2006/main">
            <a:off x="792000" y="4158000"/>
            <a:ext cx="50400" cy="8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9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0" name="Fixed-21"/>
          <p:cNvSpPr/>
          <p:nvPr/>
        </p:nvSpPr>
        <p:spPr>
          <a:xfrm xmlns:a="http://schemas.openxmlformats.org/drawingml/2006/main">
            <a:off x="1152000" y="4158000"/>
            <a:ext cx="100320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same trial is conducted on a healthy and on a vulnerable network.   A finding reported on the healthy one is recorded as an error.</a:t>
            </a:r>
          </a:p>
        </p:txBody>
      </p:sp>
      <p:sp>
        <p:nvSpPr>
          <p:cNvPr id="100081" name="Element-22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2" name="Caption-4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finding is recomputed from the log; the conclusion is never taken on trust.</a:t>
            </a:r>
          </a:p>
        </p:txBody>
      </p:sp>
      <p:sp>
        <p:nvSpPr>
          <p:cNvPr id="100083" name="Fixed-24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84" name="Fixed-25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4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85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c67c8c5fe4ec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086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87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88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89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0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91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Current status</a:t>
            </a:r>
          </a:p>
        </p:txBody>
      </p:sp>
      <p:sp>
        <p:nvSpPr>
          <p:cNvPr id="100092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3" name="Fixed-11"/>
          <p:cNvSpPr/>
          <p:nvPr/>
        </p:nvSpPr>
        <p:spPr>
          <a:xfrm xmlns:a="http://schemas.openxmlformats.org/drawingml/2006/main">
            <a:off x="792000" y="1602000"/>
            <a:ext cx="9576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600" b="1" i="0">
                <a:solidFill>
                  <a:srgbClr val="20252D"/>
                </a:solidFill>
                <a:latin typeface="Arial"/>
                <a:ea typeface="Arial"/>
              </a:rPr>
              <a:t>Both approaches succeed on every configuration.</a:t>
            </a:r>
          </a:p>
        </p:txBody>
      </p:sp>
      <p:sp>
        <p:nvSpPr>
          <p:cNvPr id="100094" name="Element-12"/>
          <p:cNvSpPr/>
          <p:nvPr/>
        </p:nvSpPr>
        <p:spPr>
          <a:xfrm xmlns:a="http://schemas.openxmlformats.org/drawingml/2006/main">
            <a:off x="792000" y="2167200"/>
            <a:ext cx="93600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5" name="Fixed-13"/>
          <p:cNvSpPr/>
          <p:nvPr/>
        </p:nvSpPr>
        <p:spPr>
          <a:xfrm xmlns:a="http://schemas.openxmlformats.org/drawingml/2006/main">
            <a:off x="792000" y="2538000"/>
            <a:ext cx="50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Rule-based</a:t>
            </a:r>
          </a:p>
        </p:txBody>
      </p:sp>
      <p:sp>
        <p:nvSpPr>
          <p:cNvPr id="100096" name="Fixed-14"/>
          <p:cNvSpPr/>
          <p:nvPr/>
        </p:nvSpPr>
        <p:spPr>
          <a:xfrm xmlns:a="http://schemas.openxmlformats.org/drawingml/2006/main">
            <a:off x="9600000" y="2502000"/>
            <a:ext cx="180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2400" b="1" i="0">
                <a:solidFill>
                  <a:srgbClr val="5C626C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097" name="Element-15"/>
          <p:cNvSpPr/>
          <p:nvPr/>
        </p:nvSpPr>
        <p:spPr>
          <a:xfrm xmlns:a="http://schemas.openxmlformats.org/drawingml/2006/main">
            <a:off x="792000" y="2916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8" name="Element-16"/>
          <p:cNvSpPr/>
          <p:nvPr/>
        </p:nvSpPr>
        <p:spPr>
          <a:xfrm xmlns:a="http://schemas.openxmlformats.org/drawingml/2006/main">
            <a:off x="792000" y="3510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9" name="Fixed-17"/>
          <p:cNvSpPr/>
          <p:nvPr/>
        </p:nvSpPr>
        <p:spPr>
          <a:xfrm xmlns:a="http://schemas.openxmlformats.org/drawingml/2006/main">
            <a:off x="792000" y="3816000"/>
            <a:ext cx="50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Model-based</a:t>
            </a:r>
          </a:p>
        </p:txBody>
      </p:sp>
      <p:sp>
        <p:nvSpPr>
          <p:cNvPr id="100100" name="Fixed-18"/>
          <p:cNvSpPr/>
          <p:nvPr/>
        </p:nvSpPr>
        <p:spPr>
          <a:xfrm xmlns:a="http://schemas.openxmlformats.org/drawingml/2006/main">
            <a:off x="9600000" y="3780000"/>
            <a:ext cx="180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2400" b="1" i="0">
                <a:solidFill>
                  <a:srgbClr val="B60036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01" name="Element-19"/>
          <p:cNvSpPr/>
          <p:nvPr/>
        </p:nvSpPr>
        <p:spPr>
          <a:xfrm xmlns:a="http://schemas.openxmlformats.org/drawingml/2006/main">
            <a:off x="792000" y="4194000"/>
            <a:ext cx="10608000" cy="59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2" name="Element-20"/>
          <p:cNvSpPr/>
          <p:nvPr/>
        </p:nvSpPr>
        <p:spPr>
          <a:xfrm xmlns:a="http://schemas.openxmlformats.org/drawingml/2006/main">
            <a:off x="792000" y="47880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3" name="Element-21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4" name="Caption-5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The instrument does not discriminate between them.</a:t>
            </a:r>
          </a:p>
        </p:txBody>
      </p:sp>
      <p:sp>
        <p:nvSpPr>
          <p:cNvPr id="100105" name="Fixed-23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This is a limitation of the instrument, not of the model.</a:t>
            </a:r>
          </a:p>
        </p:txBody>
      </p:sp>
      <p:sp>
        <p:nvSpPr>
          <p:cNvPr id="100106" name="Fixed-24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07" name="Fixed-25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5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0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3212702b344a4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09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10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11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12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3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14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 restated as hypotheses</a:t>
            </a:r>
          </a:p>
        </p:txBody>
      </p:sp>
      <p:sp>
        <p:nvSpPr>
          <p:cNvPr id="100115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6" name="Element-11"/>
          <p:cNvSpPr/>
          <p:nvPr/>
        </p:nvSpPr>
        <p:spPr>
          <a:xfrm xmlns:a="http://schemas.openxmlformats.org/drawingml/2006/main">
            <a:off x="7920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7" name="Fixed-12"/>
          <p:cNvSpPr/>
          <p:nvPr/>
        </p:nvSpPr>
        <p:spPr>
          <a:xfrm xmlns:a="http://schemas.openxmlformats.org/drawingml/2006/main">
            <a:off x="10080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0118" name="Fixed-13"/>
          <p:cNvSpPr/>
          <p:nvPr/>
        </p:nvSpPr>
        <p:spPr>
          <a:xfrm xmlns:a="http://schemas.openxmlformats.org/drawingml/2006/main">
            <a:off x="16380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Connected devices</a:t>
            </a:r>
          </a:p>
        </p:txBody>
      </p:sp>
      <p:sp>
        <p:nvSpPr>
          <p:cNvPr id="100119" name="Element-14"/>
          <p:cNvSpPr/>
          <p:nvPr/>
        </p:nvSpPr>
        <p:spPr>
          <a:xfrm xmlns:a="http://schemas.openxmlformats.org/drawingml/2006/main">
            <a:off x="10080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0" name="Fixed-15"/>
          <p:cNvSpPr/>
          <p:nvPr/>
        </p:nvSpPr>
        <p:spPr>
          <a:xfrm xmlns:a="http://schemas.openxmlformats.org/drawingml/2006/main">
            <a:off x="10080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link absent from public inputs</a:t>
            </a:r>
          </a:p>
        </p:txBody>
      </p:sp>
      <p:sp>
        <p:nvSpPr>
          <p:cNvPr id="100121" name="Element-16"/>
          <p:cNvSpPr/>
          <p:nvPr/>
        </p:nvSpPr>
        <p:spPr>
          <a:xfrm xmlns:a="http://schemas.openxmlformats.org/drawingml/2006/main">
            <a:off x="44036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2" name="Fixed-17"/>
          <p:cNvSpPr/>
          <p:nvPr/>
        </p:nvSpPr>
        <p:spPr>
          <a:xfrm xmlns:a="http://schemas.openxmlformats.org/drawingml/2006/main">
            <a:off x="46196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00123" name="Fixed-18"/>
          <p:cNvSpPr/>
          <p:nvPr/>
        </p:nvSpPr>
        <p:spPr>
          <a:xfrm xmlns:a="http://schemas.openxmlformats.org/drawingml/2006/main">
            <a:off x="52496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Heterogeneous formats</a:t>
            </a:r>
          </a:p>
        </p:txBody>
      </p:sp>
      <p:sp>
        <p:nvSpPr>
          <p:cNvPr id="100124" name="Element-19"/>
          <p:cNvSpPr/>
          <p:nvPr/>
        </p:nvSpPr>
        <p:spPr>
          <a:xfrm xmlns:a="http://schemas.openxmlformats.org/drawingml/2006/main">
            <a:off x="46196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5" name="Fixed-20"/>
          <p:cNvSpPr/>
          <p:nvPr/>
        </p:nvSpPr>
        <p:spPr>
          <a:xfrm xmlns:a="http://schemas.openxmlformats.org/drawingml/2006/main">
            <a:off x="46196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representation no parser covers</a:t>
            </a:r>
          </a:p>
        </p:txBody>
      </p:sp>
      <p:sp>
        <p:nvSpPr>
          <p:cNvPr id="100126" name="Element-21"/>
          <p:cNvSpPr/>
          <p:nvPr/>
        </p:nvSpPr>
        <p:spPr>
          <a:xfrm xmlns:a="http://schemas.openxmlformats.org/drawingml/2006/main">
            <a:off x="8015200" y="1710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7" name="Fixed-22"/>
          <p:cNvSpPr/>
          <p:nvPr/>
        </p:nvSpPr>
        <p:spPr>
          <a:xfrm xmlns:a="http://schemas.openxmlformats.org/drawingml/2006/main">
            <a:off x="8231200" y="1832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00128" name="Fixed-23"/>
          <p:cNvSpPr/>
          <p:nvPr/>
        </p:nvSpPr>
        <p:spPr>
          <a:xfrm xmlns:a="http://schemas.openxmlformats.org/drawingml/2006/main">
            <a:off x="8861200" y="1911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Novel contracts</a:t>
            </a:r>
          </a:p>
        </p:txBody>
      </p:sp>
      <p:sp>
        <p:nvSpPr>
          <p:cNvPr id="100129" name="Element-24"/>
          <p:cNvSpPr/>
          <p:nvPr/>
        </p:nvSpPr>
        <p:spPr>
          <a:xfrm xmlns:a="http://schemas.openxmlformats.org/drawingml/2006/main">
            <a:off x="8231200" y="2293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0" name="Fixed-25"/>
          <p:cNvSpPr/>
          <p:nvPr/>
        </p:nvSpPr>
        <p:spPr>
          <a:xfrm xmlns:a="http://schemas.openxmlformats.org/drawingml/2006/main">
            <a:off x="8231200" y="2376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rights stated in unseen documentation</a:t>
            </a:r>
          </a:p>
        </p:txBody>
      </p:sp>
      <p:sp>
        <p:nvSpPr>
          <p:cNvPr id="100131" name="Element-26"/>
          <p:cNvSpPr/>
          <p:nvPr/>
        </p:nvSpPr>
        <p:spPr>
          <a:xfrm xmlns:a="http://schemas.openxmlformats.org/drawingml/2006/main">
            <a:off x="7920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2" name="Fixed-27"/>
          <p:cNvSpPr/>
          <p:nvPr/>
        </p:nvSpPr>
        <p:spPr>
          <a:xfrm xmlns:a="http://schemas.openxmlformats.org/drawingml/2006/main">
            <a:off x="10080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100133" name="Fixed-28"/>
          <p:cNvSpPr/>
          <p:nvPr/>
        </p:nvSpPr>
        <p:spPr>
          <a:xfrm xmlns:a="http://schemas.openxmlformats.org/drawingml/2006/main">
            <a:off x="16380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Vendor semantics</a:t>
            </a:r>
          </a:p>
        </p:txBody>
      </p:sp>
      <p:sp>
        <p:nvSpPr>
          <p:cNvPr id="100134" name="Element-29"/>
          <p:cNvSpPr/>
          <p:nvPr/>
        </p:nvSpPr>
        <p:spPr>
          <a:xfrm xmlns:a="http://schemas.openxmlformats.org/drawingml/2006/main">
            <a:off x="10080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5" name="Fixed-30"/>
          <p:cNvSpPr/>
          <p:nvPr/>
        </p:nvSpPr>
        <p:spPr>
          <a:xfrm xmlns:a="http://schemas.openxmlformats.org/drawingml/2006/main">
            <a:off x="10080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field whose meaning is only documented</a:t>
            </a:r>
          </a:p>
        </p:txBody>
      </p:sp>
      <p:sp>
        <p:nvSpPr>
          <p:cNvPr id="100136" name="Element-31"/>
          <p:cNvSpPr/>
          <p:nvPr/>
        </p:nvSpPr>
        <p:spPr>
          <a:xfrm xmlns:a="http://schemas.openxmlformats.org/drawingml/2006/main">
            <a:off x="44036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7" name="Fixed-32"/>
          <p:cNvSpPr/>
          <p:nvPr/>
        </p:nvSpPr>
        <p:spPr>
          <a:xfrm xmlns:a="http://schemas.openxmlformats.org/drawingml/2006/main">
            <a:off x="46196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H5</a:t>
            </a:r>
          </a:p>
        </p:txBody>
      </p:sp>
      <p:sp>
        <p:nvSpPr>
          <p:cNvPr id="100138" name="Fixed-33"/>
          <p:cNvSpPr/>
          <p:nvPr/>
        </p:nvSpPr>
        <p:spPr>
          <a:xfrm xmlns:a="http://schemas.openxmlformats.org/drawingml/2006/main">
            <a:off x="52496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Ambiguous refusals</a:t>
            </a:r>
          </a:p>
        </p:txBody>
      </p:sp>
      <p:sp>
        <p:nvSpPr>
          <p:cNvPr id="100139" name="Element-34"/>
          <p:cNvSpPr/>
          <p:nvPr/>
        </p:nvSpPr>
        <p:spPr>
          <a:xfrm xmlns:a="http://schemas.openxmlformats.org/drawingml/2006/main">
            <a:off x="46196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0" name="Fixed-35"/>
          <p:cNvSpPr/>
          <p:nvPr/>
        </p:nvSpPr>
        <p:spPr>
          <a:xfrm xmlns:a="http://schemas.openxmlformats.org/drawingml/2006/main">
            <a:off x="46196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resuming the audit after a refusal</a:t>
            </a:r>
          </a:p>
        </p:txBody>
      </p:sp>
      <p:sp>
        <p:nvSpPr>
          <p:cNvPr id="100141" name="Element-36"/>
          <p:cNvSpPr/>
          <p:nvPr/>
        </p:nvSpPr>
        <p:spPr>
          <a:xfrm xmlns:a="http://schemas.openxmlformats.org/drawingml/2006/main">
            <a:off x="8015200" y="3276000"/>
            <a:ext cx="3384800" cy="14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2" name="Fixed-37"/>
          <p:cNvSpPr/>
          <p:nvPr/>
        </p:nvSpPr>
        <p:spPr>
          <a:xfrm xmlns:a="http://schemas.openxmlformats.org/drawingml/2006/main">
            <a:off x="8231200" y="3398400"/>
            <a:ext cx="6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H6</a:t>
            </a:r>
          </a:p>
        </p:txBody>
      </p:sp>
      <p:sp>
        <p:nvSpPr>
          <p:cNvPr id="100143" name="Fixed-38"/>
          <p:cNvSpPr/>
          <p:nvPr/>
        </p:nvSpPr>
        <p:spPr>
          <a:xfrm xmlns:a="http://schemas.openxmlformats.org/drawingml/2006/main">
            <a:off x="8861200" y="3477600"/>
            <a:ext cx="2430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Hostile content</a:t>
            </a:r>
          </a:p>
        </p:txBody>
      </p:sp>
      <p:sp>
        <p:nvSpPr>
          <p:cNvPr id="100144" name="Element-39"/>
          <p:cNvSpPr/>
          <p:nvPr/>
        </p:nvSpPr>
        <p:spPr>
          <a:xfrm xmlns:a="http://schemas.openxmlformats.org/drawingml/2006/main">
            <a:off x="8231200" y="3859200"/>
            <a:ext cx="29528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5" name="Fixed-40"/>
          <p:cNvSpPr/>
          <p:nvPr/>
        </p:nvSpPr>
        <p:spPr>
          <a:xfrm xmlns:a="http://schemas.openxmlformats.org/drawingml/2006/main">
            <a:off x="8231200" y="3942000"/>
            <a:ext cx="295280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an instruction obeyed from observed content</a:t>
            </a:r>
          </a:p>
        </p:txBody>
      </p:sp>
      <p:sp>
        <p:nvSpPr>
          <p:cNvPr id="100146" name="Element-41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7" name="Caption-6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H1–H5 quantify a possible gain.      H6 quantifies a risk.</a:t>
            </a:r>
          </a:p>
        </p:txBody>
      </p:sp>
      <p:sp>
        <p:nvSpPr>
          <p:cNvPr id="100148" name="Fixed-43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49" name="Fixed-44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5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7c398ccde403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51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52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53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54" name="Element-7"/>
          <p:cNvSpPr/>
          <p:nvPr/>
        </p:nvSpPr>
        <p:spPr>
          <a:xfrm xmlns:a="http://schemas.openxmlformats.org/drawingml/2006/main">
            <a:off x="4680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5" name="Fixed-8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5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A control task before testing the model</a:t>
            </a:r>
          </a:p>
        </p:txBody>
      </p:sp>
      <p:sp>
        <p:nvSpPr>
          <p:cNvPr id="10015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8" name="Fixed-11"/>
          <p:cNvSpPr/>
          <p:nvPr/>
        </p:nvSpPr>
        <p:spPr>
          <a:xfrm xmlns:a="http://schemas.openxmlformats.org/drawingml/2006/main">
            <a:off x="792000" y="1602000"/>
            <a:ext cx="1060800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0" i="0">
                <a:solidFill>
                  <a:srgbClr val="5C626C"/>
                </a:solidFill>
                <a:latin typeface="Arial"/>
                <a:ea typeface="Arial"/>
              </a:rPr>
              <a:t>A control task, simple enough to be solved without inference.   Both approaches are required to pass.</a:t>
            </a:r>
          </a:p>
        </p:txBody>
      </p:sp>
      <p:sp>
        <p:nvSpPr>
          <p:cNvPr id="100159" name="Fixed-12"/>
          <p:cNvSpPr/>
          <p:nvPr/>
        </p:nvSpPr>
        <p:spPr>
          <a:xfrm xmlns:a="http://schemas.openxmlformats.org/drawingml/2006/main">
            <a:off x="2718000" y="2152800"/>
            <a:ext cx="424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model ✗</a:t>
            </a:r>
          </a:p>
        </p:txBody>
      </p:sp>
      <p:sp>
        <p:nvSpPr>
          <p:cNvPr id="100160" name="Fixed-13"/>
          <p:cNvSpPr/>
          <p:nvPr/>
        </p:nvSpPr>
        <p:spPr>
          <a:xfrm xmlns:a="http://schemas.openxmlformats.org/drawingml/2006/main">
            <a:off x="7158000" y="2152800"/>
            <a:ext cx="424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model ✓</a:t>
            </a:r>
          </a:p>
        </p:txBody>
      </p:sp>
      <p:sp>
        <p:nvSpPr>
          <p:cNvPr id="100161" name="Element-14"/>
          <p:cNvSpPr/>
          <p:nvPr/>
        </p:nvSpPr>
        <p:spPr>
          <a:xfrm xmlns:a="http://schemas.openxmlformats.org/drawingml/2006/main">
            <a:off x="2718000" y="2484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2" name="Element-15"/>
          <p:cNvSpPr/>
          <p:nvPr/>
        </p:nvSpPr>
        <p:spPr>
          <a:xfrm xmlns:a="http://schemas.openxmlformats.org/drawingml/2006/main">
            <a:off x="2718000" y="2484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3" name="Element-16"/>
          <p:cNvSpPr/>
          <p:nvPr/>
        </p:nvSpPr>
        <p:spPr>
          <a:xfrm xmlns:a="http://schemas.openxmlformats.org/drawingml/2006/main">
            <a:off x="2988000" y="2484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B60036"/>
                </a:solidFill>
                <a:latin typeface="Arial"/>
                <a:ea typeface="Arial"/>
              </a:rPr>
              <a:t>a defect in the instrument</a:t>
            </a:r>
          </a:p>
        </p:txBody>
      </p:sp>
      <p:sp>
        <p:nvSpPr>
          <p:cNvPr id="100164" name="Element-17"/>
          <p:cNvSpPr/>
          <p:nvPr/>
        </p:nvSpPr>
        <p:spPr>
          <a:xfrm xmlns:a="http://schemas.openxmlformats.org/drawingml/2006/main">
            <a:off x="7158000" y="2484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5" name="Element-18"/>
          <p:cNvSpPr/>
          <p:nvPr/>
        </p:nvSpPr>
        <p:spPr>
          <a:xfrm xmlns:a="http://schemas.openxmlformats.org/drawingml/2006/main">
            <a:off x="7158000" y="2484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6" name="Element-19"/>
          <p:cNvSpPr/>
          <p:nvPr/>
        </p:nvSpPr>
        <p:spPr>
          <a:xfrm xmlns:a="http://schemas.openxmlformats.org/drawingml/2006/main">
            <a:off x="7428000" y="2484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E7D5B"/>
                </a:solidFill>
                <a:latin typeface="Arial"/>
                <a:ea typeface="Arial"/>
              </a:rPr>
              <a:t>valid — the hypotheses may be read</a:t>
            </a:r>
          </a:p>
        </p:txBody>
      </p:sp>
      <p:sp>
        <p:nvSpPr>
          <p:cNvPr id="100167" name="Element-20"/>
          <p:cNvSpPr/>
          <p:nvPr/>
        </p:nvSpPr>
        <p:spPr>
          <a:xfrm xmlns:a="http://schemas.openxmlformats.org/drawingml/2006/main">
            <a:off x="2718000" y="3870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8" name="Element-21"/>
          <p:cNvSpPr/>
          <p:nvPr/>
        </p:nvSpPr>
        <p:spPr>
          <a:xfrm xmlns:a="http://schemas.openxmlformats.org/drawingml/2006/main">
            <a:off x="2718000" y="3870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9" name="Element-22"/>
          <p:cNvSpPr/>
          <p:nvPr/>
        </p:nvSpPr>
        <p:spPr>
          <a:xfrm xmlns:a="http://schemas.openxmlformats.org/drawingml/2006/main">
            <a:off x="2988000" y="3870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0" i="0">
                <a:solidFill>
                  <a:srgbClr val="5C626C"/>
                </a:solidFill>
                <a:latin typeface="Arial"/>
                <a:ea typeface="Arial"/>
              </a:rPr>
              <a:t>beyond the reach of this instrument</a:t>
            </a:r>
          </a:p>
        </p:txBody>
      </p:sp>
      <p:sp>
        <p:nvSpPr>
          <p:cNvPr id="100170" name="Element-23"/>
          <p:cNvSpPr/>
          <p:nvPr/>
        </p:nvSpPr>
        <p:spPr>
          <a:xfrm xmlns:a="http://schemas.openxmlformats.org/drawingml/2006/main">
            <a:off x="7158000" y="3870000"/>
            <a:ext cx="42420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1" name="Element-24"/>
          <p:cNvSpPr/>
          <p:nvPr/>
        </p:nvSpPr>
        <p:spPr>
          <a:xfrm xmlns:a="http://schemas.openxmlformats.org/drawingml/2006/main">
            <a:off x="7158000" y="3870000"/>
            <a:ext cx="50400" cy="127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2" name="Element-25"/>
          <p:cNvSpPr/>
          <p:nvPr/>
        </p:nvSpPr>
        <p:spPr>
          <a:xfrm xmlns:a="http://schemas.openxmlformats.org/drawingml/2006/main">
            <a:off x="7428000" y="3870000"/>
            <a:ext cx="375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a gain, or a coverage gap</a:t>
            </a:r>
          </a:p>
        </p:txBody>
      </p:sp>
      <p:sp>
        <p:nvSpPr>
          <p:cNvPr id="100173" name="Element-26"/>
          <p:cNvSpPr/>
          <p:nvPr/>
        </p:nvSpPr>
        <p:spPr>
          <a:xfrm xmlns:a="http://schemas.openxmlformats.org/drawingml/2006/main">
            <a:off x="792000" y="2484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✓</a:t>
            </a:r>
          </a:p>
        </p:txBody>
      </p:sp>
      <p:sp>
        <p:nvSpPr>
          <p:cNvPr id="100174" name="Element-27"/>
          <p:cNvSpPr/>
          <p:nvPr/>
        </p:nvSpPr>
        <p:spPr>
          <a:xfrm xmlns:a="http://schemas.openxmlformats.org/drawingml/2006/main">
            <a:off x="792000" y="3870000"/>
            <a:ext cx="17460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700" b="1" i="0">
                <a:solidFill>
                  <a:srgbClr val="5C626C"/>
                </a:solidFill>
                <a:latin typeface="Arial"/>
                <a:ea typeface="Arial"/>
              </a:rPr>
              <a:t>script ✗</a:t>
            </a:r>
          </a:p>
        </p:txBody>
      </p:sp>
      <p:sp>
        <p:nvSpPr>
          <p:cNvPr id="100175" name="Element-28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6" name="Caption-7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Only a control that the script and the model both pass permits the hypotheses to be read.</a:t>
            </a:r>
          </a:p>
        </p:txBody>
      </p:sp>
      <p:sp>
        <p:nvSpPr>
          <p:cNvPr id="100177" name="Fixed-30"/>
          <p:cNvSpPr/>
          <p:nvPr/>
        </p:nvSpPr>
        <p:spPr>
          <a:xfrm xmlns:a="http://schemas.openxmlformats.org/drawingml/2006/main">
            <a:off x="792000" y="61128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Implemented and tested offline. The laboratory run remains outstanding.</a:t>
            </a:r>
          </a:p>
        </p:txBody>
      </p:sp>
      <p:sp>
        <p:nvSpPr>
          <p:cNvPr id="100178" name="Fixed-31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79" name="Fixed-32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7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8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60651cd07478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181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82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83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84" name="Fixed-7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85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6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cannot claim</a:t>
            </a:r>
          </a:p>
        </p:txBody>
      </p:sp>
      <p:sp>
        <p:nvSpPr>
          <p:cNvPr id="100187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8" name="Element-11"/>
          <p:cNvSpPr/>
          <p:nvPr/>
        </p:nvSpPr>
        <p:spPr>
          <a:xfrm xmlns:a="http://schemas.openxmlformats.org/drawingml/2006/main">
            <a:off x="792000" y="1728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9" name="Element-12"/>
          <p:cNvSpPr/>
          <p:nvPr/>
        </p:nvSpPr>
        <p:spPr>
          <a:xfrm xmlns:a="http://schemas.openxmlformats.org/drawingml/2006/main">
            <a:off x="792000" y="1728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0" name="Element-13"/>
          <p:cNvSpPr/>
          <p:nvPr/>
        </p:nvSpPr>
        <p:spPr>
          <a:xfrm xmlns:a="http://schemas.openxmlformats.org/drawingml/2006/main">
            <a:off x="1098000" y="1728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91" name="Element-14"/>
          <p:cNvSpPr/>
          <p:nvPr/>
        </p:nvSpPr>
        <p:spPr>
          <a:xfrm xmlns:a="http://schemas.openxmlformats.org/drawingml/2006/main">
            <a:off x="1620000" y="1728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general advantage</a:t>
            </a:r>
          </a:p>
        </p:txBody>
      </p:sp>
      <p:sp>
        <p:nvSpPr>
          <p:cNvPr id="100192" name="Element-15"/>
          <p:cNvSpPr/>
          <p:nvPr/>
        </p:nvSpPr>
        <p:spPr>
          <a:xfrm xmlns:a="http://schemas.openxmlformats.org/drawingml/2006/main">
            <a:off x="5148000" y="1728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No hypothesis has yet been executed.</a:t>
            </a:r>
          </a:p>
        </p:txBody>
      </p:sp>
      <p:sp>
        <p:nvSpPr>
          <p:cNvPr id="100193" name="Element-16"/>
          <p:cNvSpPr/>
          <p:nvPr/>
        </p:nvSpPr>
        <p:spPr>
          <a:xfrm xmlns:a="http://schemas.openxmlformats.org/drawingml/2006/main">
            <a:off x="792000" y="2826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4" name="Element-17"/>
          <p:cNvSpPr/>
          <p:nvPr/>
        </p:nvSpPr>
        <p:spPr>
          <a:xfrm xmlns:a="http://schemas.openxmlformats.org/drawingml/2006/main">
            <a:off x="792000" y="2826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5" name="Element-18"/>
          <p:cNvSpPr/>
          <p:nvPr/>
        </p:nvSpPr>
        <p:spPr>
          <a:xfrm xmlns:a="http://schemas.openxmlformats.org/drawingml/2006/main">
            <a:off x="1098000" y="2826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96" name="Element-19"/>
          <p:cNvSpPr/>
          <p:nvPr/>
        </p:nvSpPr>
        <p:spPr>
          <a:xfrm xmlns:a="http://schemas.openxmlformats.org/drawingml/2006/main">
            <a:off x="1620000" y="2826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confidence interval</a:t>
            </a:r>
          </a:p>
        </p:txBody>
      </p:sp>
      <p:sp>
        <p:nvSpPr>
          <p:cNvPr id="100197" name="Element-20"/>
          <p:cNvSpPr/>
          <p:nvPr/>
        </p:nvSpPr>
        <p:spPr>
          <a:xfrm xmlns:a="http://schemas.openxmlformats.org/drawingml/2006/main">
            <a:off x="5148000" y="2826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Three repetitions yield a dispersion, not a sample.</a:t>
            </a:r>
          </a:p>
        </p:txBody>
      </p:sp>
      <p:sp>
        <p:nvSpPr>
          <p:cNvPr id="100198" name="Element-21"/>
          <p:cNvSpPr/>
          <p:nvPr/>
        </p:nvSpPr>
        <p:spPr>
          <a:xfrm xmlns:a="http://schemas.openxmlformats.org/drawingml/2006/main">
            <a:off x="792000" y="3924000"/>
            <a:ext cx="106080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9" name="Element-22"/>
          <p:cNvSpPr/>
          <p:nvPr/>
        </p:nvSpPr>
        <p:spPr>
          <a:xfrm xmlns:a="http://schemas.openxmlformats.org/drawingml/2006/main">
            <a:off x="792000" y="3924000"/>
            <a:ext cx="50400" cy="9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0" name="Element-23"/>
          <p:cNvSpPr/>
          <p:nvPr/>
        </p:nvSpPr>
        <p:spPr>
          <a:xfrm xmlns:a="http://schemas.openxmlformats.org/drawingml/2006/main">
            <a:off x="1098000" y="3924000"/>
            <a:ext cx="396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01" name="Element-24"/>
          <p:cNvSpPr/>
          <p:nvPr/>
        </p:nvSpPr>
        <p:spPr>
          <a:xfrm xmlns:a="http://schemas.openxmlformats.org/drawingml/2006/main">
            <a:off x="1620000" y="3924000"/>
            <a:ext cx="3384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No admitted evidence</a:t>
            </a:r>
          </a:p>
        </p:txBody>
      </p:sp>
      <p:sp>
        <p:nvSpPr>
          <p:cNvPr id="100202" name="Element-25"/>
          <p:cNvSpPr/>
          <p:nvPr/>
        </p:nvSpPr>
        <p:spPr>
          <a:xfrm xmlns:a="http://schemas.openxmlformats.org/drawingml/2006/main">
            <a:off x="5148000" y="3924000"/>
            <a:ext cx="5928000" cy="91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The metric definition is not frozen.</a:t>
            </a:r>
          </a:p>
        </p:txBody>
      </p:sp>
      <p:sp>
        <p:nvSpPr>
          <p:cNvPr id="100203" name="Element-26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4" name="Caption-8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successful run is not a measurement: one early run reported success while every model arm had failed.</a:t>
            </a:r>
          </a:p>
        </p:txBody>
      </p:sp>
      <p:sp>
        <p:nvSpPr>
          <p:cNvPr id="100205" name="Fixed-28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06" name="Fixed-29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8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0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05452bf834b2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08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09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10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11" name="Fixed-7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12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3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Next steps</a:t>
            </a:r>
          </a:p>
        </p:txBody>
      </p:sp>
      <p:sp>
        <p:nvSpPr>
          <p:cNvPr id="100214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5" name="Fixed-11"/>
          <p:cNvSpPr/>
          <p:nvPr/>
        </p:nvSpPr>
        <p:spPr>
          <a:xfrm xmlns:a="http://schemas.openxmlformats.org/drawingml/2006/main">
            <a:off x="792000" y="1782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216" name="Fixed-12"/>
          <p:cNvSpPr/>
          <p:nvPr/>
        </p:nvSpPr>
        <p:spPr>
          <a:xfrm xmlns:a="http://schemas.openxmlformats.org/drawingml/2006/main">
            <a:off x="1494000" y="1782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Execute V0 on a held-out instance</a:t>
            </a:r>
          </a:p>
        </p:txBody>
      </p:sp>
      <p:sp>
        <p:nvSpPr>
          <p:cNvPr id="100217" name="Element-13"/>
          <p:cNvSpPr/>
          <p:nvPr/>
        </p:nvSpPr>
        <p:spPr>
          <a:xfrm xmlns:a="http://schemas.openxmlformats.org/drawingml/2006/main">
            <a:off x="1494000" y="2430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18" name="Fixed-14"/>
          <p:cNvSpPr/>
          <p:nvPr/>
        </p:nvSpPr>
        <p:spPr>
          <a:xfrm xmlns:a="http://schemas.openxmlformats.org/drawingml/2006/main">
            <a:off x="792000" y="2718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219" name="Fixed-15"/>
          <p:cNvSpPr/>
          <p:nvPr/>
        </p:nvSpPr>
        <p:spPr>
          <a:xfrm xmlns:a="http://schemas.openxmlformats.org/drawingml/2006/main">
            <a:off x="1494000" y="2718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Develop a parameterisable test harness</a:t>
            </a:r>
          </a:p>
        </p:txBody>
      </p:sp>
      <p:sp>
        <p:nvSpPr>
          <p:cNvPr id="100220" name="Element-16"/>
          <p:cNvSpPr/>
          <p:nvPr/>
        </p:nvSpPr>
        <p:spPr>
          <a:xfrm xmlns:a="http://schemas.openxmlformats.org/drawingml/2006/main">
            <a:off x="1494000" y="3366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1" name="Fixed-17"/>
          <p:cNvSpPr/>
          <p:nvPr/>
        </p:nvSpPr>
        <p:spPr>
          <a:xfrm xmlns:a="http://schemas.openxmlformats.org/drawingml/2006/main">
            <a:off x="792000" y="3654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222" name="Fixed-18"/>
          <p:cNvSpPr/>
          <p:nvPr/>
        </p:nvSpPr>
        <p:spPr>
          <a:xfrm xmlns:a="http://schemas.openxmlformats.org/drawingml/2006/main">
            <a:off x="1494000" y="3654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Build the scenario families for H2, H3 and H4</a:t>
            </a:r>
          </a:p>
        </p:txBody>
      </p:sp>
      <p:sp>
        <p:nvSpPr>
          <p:cNvPr id="100223" name="Element-19"/>
          <p:cNvSpPr/>
          <p:nvPr/>
        </p:nvSpPr>
        <p:spPr>
          <a:xfrm xmlns:a="http://schemas.openxmlformats.org/drawingml/2006/main">
            <a:off x="1494000" y="4302000"/>
            <a:ext cx="62524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4" name="Fixed-20"/>
          <p:cNvSpPr/>
          <p:nvPr/>
        </p:nvSpPr>
        <p:spPr>
          <a:xfrm xmlns:a="http://schemas.openxmlformats.org/drawingml/2006/main">
            <a:off x="792000" y="4590000"/>
            <a:ext cx="4320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200" b="1" i="0">
                <a:solidFill>
                  <a:srgbClr val="B60036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225" name="Fixed-21"/>
          <p:cNvSpPr/>
          <p:nvPr/>
        </p:nvSpPr>
        <p:spPr>
          <a:xfrm xmlns:a="http://schemas.openxmlformats.org/drawingml/2006/main">
            <a:off x="1494000" y="4590000"/>
            <a:ext cx="62524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00" b="0" i="0">
                <a:solidFill>
                  <a:srgbClr val="20252D"/>
                </a:solidFill>
                <a:latin typeface="Arial"/>
                <a:ea typeface="Arial"/>
              </a:rPr>
              <a:t>Deploy a reproducible platform</a:t>
            </a:r>
          </a:p>
        </p:txBody>
      </p:sp>
      <p:sp>
        <p:nvSpPr>
          <p:cNvPr id="100226" name="Element-22"/>
          <p:cNvSpPr/>
          <p:nvPr/>
        </p:nvSpPr>
        <p:spPr>
          <a:xfrm xmlns:a="http://schemas.openxmlformats.org/drawingml/2006/main">
            <a:off x="7998400" y="1782000"/>
            <a:ext cx="3401600" cy="23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FCF0F4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7" name="Element-23"/>
          <p:cNvSpPr/>
          <p:nvPr/>
        </p:nvSpPr>
        <p:spPr>
          <a:xfrm xmlns:a="http://schemas.openxmlformats.org/drawingml/2006/main">
            <a:off x="7998400" y="1782000"/>
            <a:ext cx="50400" cy="232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8" name="Fixed-24"/>
          <p:cNvSpPr/>
          <p:nvPr/>
        </p:nvSpPr>
        <p:spPr>
          <a:xfrm xmlns:a="http://schemas.openxmlformats.org/drawingml/2006/main">
            <a:off x="8304400" y="1879200"/>
            <a:ext cx="27896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Support requested</a:t>
            </a:r>
          </a:p>
        </p:txBody>
      </p:sp>
      <p:sp>
        <p:nvSpPr>
          <p:cNvPr id="100229" name="Element-25"/>
          <p:cNvSpPr/>
          <p:nvPr/>
        </p:nvSpPr>
        <p:spPr>
          <a:xfrm xmlns:a="http://schemas.openxmlformats.org/drawingml/2006/main">
            <a:off x="8304400" y="2466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0" name="Fixed-26"/>
          <p:cNvSpPr/>
          <p:nvPr/>
        </p:nvSpPr>
        <p:spPr>
          <a:xfrm xmlns:a="http://schemas.openxmlformats.org/drawingml/2006/main">
            <a:off x="8574400" y="2322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access to real vendor artifacts</a:t>
            </a:r>
          </a:p>
        </p:txBody>
      </p:sp>
      <p:sp>
        <p:nvSpPr>
          <p:cNvPr id="100231" name="Element-27"/>
          <p:cNvSpPr/>
          <p:nvPr/>
        </p:nvSpPr>
        <p:spPr>
          <a:xfrm xmlns:a="http://schemas.openxmlformats.org/drawingml/2006/main">
            <a:off x="8304400" y="3348000"/>
            <a:ext cx="162000" cy="3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2" name="Fixed-28"/>
          <p:cNvSpPr/>
          <p:nvPr/>
        </p:nvSpPr>
        <p:spPr>
          <a:xfrm xmlns:a="http://schemas.openxmlformats.org/drawingml/2006/main">
            <a:off x="8574400" y="3204000"/>
            <a:ext cx="27176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an adversarial review of the register</a:t>
            </a:r>
          </a:p>
        </p:txBody>
      </p:sp>
      <p:sp>
        <p:nvSpPr>
          <p:cNvPr id="100233" name="Element-29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4" name="Caption-9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Order follows conditions, not dates.</a:t>
            </a:r>
          </a:p>
        </p:txBody>
      </p:sp>
      <p:sp>
        <p:nvSpPr>
          <p:cNvPr id="100235" name="Fixed-31"/>
          <p:cNvSpPr/>
          <p:nvPr/>
        </p:nvSpPr>
        <p:spPr>
          <a:xfrm xmlns:a="http://schemas.openxmlformats.org/drawingml/2006/main">
            <a:off x="792000" y="5781600"/>
            <a:ext cx="1060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AsiaCCS 2027 — submission deadline 11 December 2026 (AoE).</a:t>
            </a:r>
          </a:p>
        </p:txBody>
      </p:sp>
      <p:sp>
        <p:nvSpPr>
          <p:cNvPr id="100236" name="Fixed-32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37" name="Fixed-33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9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3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05485c3a04ea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02000" y="216000"/>
            <a:ext cx="1699200" cy="582331"/>
          </a:xfrm>
          <a:prstGeom xmlns:a="http://schemas.openxmlformats.org/drawingml/2006/main" prst="rect">
            <a:avLst/>
          </a:prstGeom>
        </p:spPr>
      </p:pic>
      <p:sp>
        <p:nvSpPr>
          <p:cNvPr id="100239" name="Fixed-4"/>
          <p:cNvSpPr/>
          <p:nvPr/>
        </p:nvSpPr>
        <p:spPr>
          <a:xfrm xmlns:a="http://schemas.openxmlformats.org/drawingml/2006/main">
            <a:off x="792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40" name="Fixed-5"/>
          <p:cNvSpPr/>
          <p:nvPr/>
        </p:nvSpPr>
        <p:spPr>
          <a:xfrm xmlns:a="http://schemas.openxmlformats.org/drawingml/2006/main">
            <a:off x="2736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41" name="Fixed-6"/>
          <p:cNvSpPr/>
          <p:nvPr/>
        </p:nvSpPr>
        <p:spPr>
          <a:xfrm xmlns:a="http://schemas.openxmlformats.org/drawingml/2006/main">
            <a:off x="4680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42" name="Fixed-7"/>
          <p:cNvSpPr/>
          <p:nvPr/>
        </p:nvSpPr>
        <p:spPr>
          <a:xfrm xmlns:a="http://schemas.openxmlformats.org/drawingml/2006/main">
            <a:off x="6624000" y="288000"/>
            <a:ext cx="1764000" cy="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43" name="Element-8"/>
          <p:cNvSpPr/>
          <p:nvPr/>
        </p:nvSpPr>
        <p:spPr>
          <a:xfrm xmlns:a="http://schemas.openxmlformats.org/drawingml/2006/main">
            <a:off x="6624000" y="529200"/>
            <a:ext cx="1764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4" name="Title"/>
          <p:cNvSpPr/>
          <p:nvPr/>
        </p:nvSpPr>
        <p:spPr>
          <a:xfrm xmlns:a="http://schemas.openxmlformats.org/drawingml/2006/main">
            <a:off x="792000" y="612000"/>
            <a:ext cx="87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declared coverage gaps</a:t>
            </a:r>
          </a:p>
        </p:txBody>
      </p:sp>
      <p:sp>
        <p:nvSpPr>
          <p:cNvPr id="100245" name="Element-10"/>
          <p:cNvSpPr/>
          <p:nvPr/>
        </p:nvSpPr>
        <p:spPr>
          <a:xfrm xmlns:a="http://schemas.openxmlformats.org/drawingml/2006/main">
            <a:off x="792000" y="1303200"/>
            <a:ext cx="1224000" cy="2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6" name="Element-11"/>
          <p:cNvSpPr/>
          <p:nvPr/>
        </p:nvSpPr>
        <p:spPr>
          <a:xfrm xmlns:a="http://schemas.openxmlformats.org/drawingml/2006/main">
            <a:off x="792000" y="1926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7" name="Fixed-12"/>
          <p:cNvSpPr/>
          <p:nvPr/>
        </p:nvSpPr>
        <p:spPr>
          <a:xfrm xmlns:a="http://schemas.openxmlformats.org/drawingml/2006/main">
            <a:off x="1170000" y="1818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Physical impact and functional safety</a:t>
            </a:r>
          </a:p>
        </p:txBody>
      </p:sp>
      <p:sp>
        <p:nvSpPr>
          <p:cNvPr id="100248" name="Element-13"/>
          <p:cNvSpPr/>
          <p:nvPr/>
        </p:nvSpPr>
        <p:spPr>
          <a:xfrm xmlns:a="http://schemas.openxmlformats.org/drawingml/2006/main">
            <a:off x="792000" y="2520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9" name="Element-14"/>
          <p:cNvSpPr/>
          <p:nvPr/>
        </p:nvSpPr>
        <p:spPr>
          <a:xfrm xmlns:a="http://schemas.openxmlformats.org/drawingml/2006/main">
            <a:off x="792000" y="2808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0" name="Fixed-15"/>
          <p:cNvSpPr/>
          <p:nvPr/>
        </p:nvSpPr>
        <p:spPr>
          <a:xfrm xmlns:a="http://schemas.openxmlformats.org/drawingml/2006/main">
            <a:off x="1170000" y="2700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Device fragility under probing</a:t>
            </a:r>
          </a:p>
        </p:txBody>
      </p:sp>
      <p:sp>
        <p:nvSpPr>
          <p:cNvPr id="100251" name="Element-16"/>
          <p:cNvSpPr/>
          <p:nvPr/>
        </p:nvSpPr>
        <p:spPr>
          <a:xfrm xmlns:a="http://schemas.openxmlformats.org/drawingml/2006/main">
            <a:off x="792000" y="3402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2" name="Element-17"/>
          <p:cNvSpPr/>
          <p:nvPr/>
        </p:nvSpPr>
        <p:spPr>
          <a:xfrm xmlns:a="http://schemas.openxmlformats.org/drawingml/2006/main">
            <a:off x="792000" y="3690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3" name="Fixed-18"/>
          <p:cNvSpPr/>
          <p:nvPr/>
        </p:nvSpPr>
        <p:spPr>
          <a:xfrm xmlns:a="http://schemas.openxmlformats.org/drawingml/2006/main">
            <a:off x="1170000" y="3582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Real fleet scale</a:t>
            </a:r>
          </a:p>
        </p:txBody>
      </p:sp>
      <p:sp>
        <p:nvSpPr>
          <p:cNvPr id="100254" name="Element-19"/>
          <p:cNvSpPr/>
          <p:nvPr/>
        </p:nvSpPr>
        <p:spPr>
          <a:xfrm xmlns:a="http://schemas.openxmlformats.org/drawingml/2006/main">
            <a:off x="792000" y="4284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5" name="Element-20"/>
          <p:cNvSpPr/>
          <p:nvPr/>
        </p:nvSpPr>
        <p:spPr>
          <a:xfrm xmlns:a="http://schemas.openxmlformats.org/drawingml/2006/main">
            <a:off x="792000" y="4572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6" name="Fixed-21"/>
          <p:cNvSpPr/>
          <p:nvPr/>
        </p:nvSpPr>
        <p:spPr>
          <a:xfrm xmlns:a="http://schemas.openxmlformats.org/drawingml/2006/main">
            <a:off x="1170000" y="4464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Proprietary industrial protocols that are not simulated</a:t>
            </a:r>
          </a:p>
        </p:txBody>
      </p:sp>
      <p:sp>
        <p:nvSpPr>
          <p:cNvPr id="100257" name="Element-22"/>
          <p:cNvSpPr/>
          <p:nvPr/>
        </p:nvSpPr>
        <p:spPr>
          <a:xfrm xmlns:a="http://schemas.openxmlformats.org/drawingml/2006/main">
            <a:off x="6384000" y="1926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8" name="Fixed-23"/>
          <p:cNvSpPr/>
          <p:nvPr/>
        </p:nvSpPr>
        <p:spPr>
          <a:xfrm xmlns:a="http://schemas.openxmlformats.org/drawingml/2006/main">
            <a:off x="6762000" y="1818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Complete multi-step exploitation chains</a:t>
            </a:r>
          </a:p>
        </p:txBody>
      </p:sp>
      <p:sp>
        <p:nvSpPr>
          <p:cNvPr id="100259" name="Element-24"/>
          <p:cNvSpPr/>
          <p:nvPr/>
        </p:nvSpPr>
        <p:spPr>
          <a:xfrm xmlns:a="http://schemas.openxmlformats.org/drawingml/2006/main">
            <a:off x="6384000" y="2520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0" name="Element-25"/>
          <p:cNvSpPr/>
          <p:nvPr/>
        </p:nvSpPr>
        <p:spPr>
          <a:xfrm xmlns:a="http://schemas.openxmlformats.org/drawingml/2006/main">
            <a:off x="6384000" y="3249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1" name="Fixed-26"/>
          <p:cNvSpPr/>
          <p:nvPr/>
        </p:nvSpPr>
        <p:spPr>
          <a:xfrm xmlns:a="http://schemas.openxmlformats.org/drawingml/2006/main">
            <a:off x="6762000" y="3141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Abstention and calibration</a:t>
            </a:r>
          </a:p>
        </p:txBody>
      </p:sp>
      <p:sp>
        <p:nvSpPr>
          <p:cNvPr id="100262" name="Element-27"/>
          <p:cNvSpPr/>
          <p:nvPr/>
        </p:nvSpPr>
        <p:spPr>
          <a:xfrm xmlns:a="http://schemas.openxmlformats.org/drawingml/2006/main">
            <a:off x="6384000" y="3843000"/>
            <a:ext cx="5016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3" name="Element-28"/>
          <p:cNvSpPr/>
          <p:nvPr/>
        </p:nvSpPr>
        <p:spPr>
          <a:xfrm xmlns:a="http://schemas.openxmlformats.org/drawingml/2006/main">
            <a:off x="6384000" y="4572000"/>
            <a:ext cx="198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4" name="Fixed-29"/>
          <p:cNvSpPr/>
          <p:nvPr/>
        </p:nvSpPr>
        <p:spPr>
          <a:xfrm xmlns:a="http://schemas.openxmlformats.org/drawingml/2006/main">
            <a:off x="6762000" y="4464000"/>
            <a:ext cx="4638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600" b="0" i="0">
                <a:solidFill>
                  <a:srgbClr val="20252D"/>
                </a:solidFill>
                <a:latin typeface="Arial"/>
                <a:ea typeface="Arial"/>
              </a:rPr>
              <a:t>Generic IT scenarios, deliberately excluded</a:t>
            </a:r>
          </a:p>
        </p:txBody>
      </p:sp>
      <p:sp>
        <p:nvSpPr>
          <p:cNvPr id="100265" name="Element-30"/>
          <p:cNvSpPr/>
          <p:nvPr/>
        </p:nvSpPr>
        <p:spPr>
          <a:xfrm xmlns:a="http://schemas.openxmlformats.org/drawingml/2006/main">
            <a:off x="792000" y="5335200"/>
            <a:ext cx="10608000" cy="1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6" name="Caption-10"/>
          <p:cNvSpPr/>
          <p:nvPr/>
        </p:nvSpPr>
        <p:spPr>
          <a:xfrm xmlns:a="http://schemas.openxmlformats.org/drawingml/2006/main">
            <a:off x="792000" y="5356800"/>
            <a:ext cx="10608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1">
                <a:solidFill>
                  <a:srgbClr val="B60036"/>
                </a:solidFill>
                <a:latin typeface="Arial"/>
                <a:ea typeface="Arial"/>
              </a:rPr>
              <a:t>A benchmark that states its gaps is stronger than one that claims full coverage.</a:t>
            </a:r>
          </a:p>
        </p:txBody>
      </p:sp>
      <p:sp>
        <p:nvSpPr>
          <p:cNvPr id="100267" name="Fixed-32"/>
          <p:cNvSpPr/>
          <p:nvPr/>
        </p:nvSpPr>
        <p:spPr>
          <a:xfrm xmlns:a="http://schemas.openxmlformats.org/drawingml/2006/main">
            <a:off x="792000" y="6444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68" name="Fixed-33"/>
          <p:cNvSpPr/>
          <p:nvPr/>
        </p:nvSpPr>
        <p:spPr>
          <a:xfrm xmlns:a="http://schemas.openxmlformats.org/drawingml/2006/main">
            <a:off x="10752000" y="6444000"/>
            <a:ext cx="648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10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LANCE</dc:creator>
  <dcterms:created xsi:type="dcterms:W3CDTF">2026-10-22T08:10:06.0000000Z</dcterms:created>
  <lastModifiedBy>OfficeCLI</lastModifiedBy>
  <dcterms:modified xsi:type="dcterms:W3CDTF">2026-10-22T08:10:06.6952370Z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2026-10-22T08:10:12Z</vt:lpwstr>
  </op:property>
</op:Properties>
</file>