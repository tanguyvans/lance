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Default Extension="jpg" ContentType="image/jpe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ea2e16720be44541" /><Relationship Type="http://schemas.openxmlformats.org/package/2006/relationships/metadata/core-properties" Target="/docProps/core.xml" Id="R448634533a61443c" /><Relationship Type="http://schemas.openxmlformats.org/officeDocument/2006/relationships/extended-properties" Target="/docProps/app.xml" Id="R22277db409b64c98" /><Relationship Type="http://schemas.openxmlformats.org/officeDocument/2006/relationships/custom-properties" Target="/docProps/custom.xml" Id="Rff9cd067b5914424"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619d729994c4488f"/>
  </p:notesMasterIdLst>
  <p:sldIdLst>
    <p:sldId id="256" r:id="R77b266d724774276"/>
    <p:sldId id="257" r:id="R99733a52bdb946a0"/>
    <p:sldId id="258" r:id="R3ecad2927253450a"/>
    <p:sldId id="259" r:id="R71c5f8ba0fb148d9"/>
    <p:sldId id="260" r:id="R856d8fa264054cbe"/>
    <p:sldId id="261" r:id="R8dbba40e3d644cbe"/>
    <p:sldId id="262" r:id="Ra7784ac30d42483f"/>
    <p:sldId id="263" r:id="Re336759db94a4695"/>
    <p:sldId id="264" r:id="R49ea348753aa4653"/>
    <p:sldId id="265" r:id="Refdd40cd24624d20"/>
  </p:sldIdLst>
  <p:sldSz cx="12192000" cy="6858000" type="custom"/>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77b266d724774276" /><Relationship Type="http://schemas.openxmlformats.org/officeDocument/2006/relationships/notesMaster" Target="/ppt/notesMasters/notesMaster1.xml" Id="R619d729994c4488f" /><Relationship Type="http://schemas.openxmlformats.org/officeDocument/2006/relationships/slide" Target="/ppt/slides/slide2.xml" Id="R99733a52bdb946a0" /><Relationship Type="http://schemas.openxmlformats.org/officeDocument/2006/relationships/slide" Target="/ppt/slides/slide3.xml" Id="R3ecad2927253450a" /><Relationship Type="http://schemas.openxmlformats.org/officeDocument/2006/relationships/slide" Target="/ppt/slides/slide4.xml" Id="R71c5f8ba0fb148d9" /><Relationship Type="http://schemas.openxmlformats.org/officeDocument/2006/relationships/slide" Target="/ppt/slides/slide5.xml" Id="R856d8fa264054cbe" /><Relationship Type="http://schemas.openxmlformats.org/officeDocument/2006/relationships/slide" Target="/ppt/slides/slide6.xml" Id="R8dbba40e3d644cbe" /><Relationship Type="http://schemas.openxmlformats.org/officeDocument/2006/relationships/slide" Target="/ppt/slides/slide7.xml" Id="Ra7784ac30d42483f" /><Relationship Type="http://schemas.openxmlformats.org/officeDocument/2006/relationships/slide" Target="/ppt/slides/slide8.xml" Id="Re336759db94a4695" /><Relationship Type="http://schemas.openxmlformats.org/officeDocument/2006/relationships/slide" Target="/ppt/slides/slide9.xml" Id="R49ea348753aa4653" /><Relationship Type="http://schemas.openxmlformats.org/officeDocument/2006/relationships/slide" Target="/ppt/slides/slide10.xml" Id="Refdd40cd24624d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1e7831feb7a24602"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68deffc5592d4f92" /><Relationship Type="http://schemas.openxmlformats.org/officeDocument/2006/relationships/slide" Target="/ppt/slides/slide1.xml" Id="R590865e3386c432e"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6317b879cb32405c" /><Relationship Type="http://schemas.openxmlformats.org/officeDocument/2006/relationships/slide" Target="/ppt/slides/slide2.xml" Id="R9cbab3d855e244a7"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b33806283e1746db" /><Relationship Type="http://schemas.openxmlformats.org/officeDocument/2006/relationships/slide" Target="/ppt/slides/slide3.xml" Id="R64a3350dd52d4d43"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a418cfc662c54f51" /><Relationship Type="http://schemas.openxmlformats.org/officeDocument/2006/relationships/slide" Target="/ppt/slides/slide4.xml" Id="R565f72c6235244cd"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fee4955c42e5469e" /><Relationship Type="http://schemas.openxmlformats.org/officeDocument/2006/relationships/slide" Target="/ppt/slides/slide5.xml" Id="Rf1e9133e17a74679"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8a362276226749dc" /><Relationship Type="http://schemas.openxmlformats.org/officeDocument/2006/relationships/slide" Target="/ppt/slides/slide6.xml" Id="R287bf9f358734c26"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cfc5553e8aa447f5" /><Relationship Type="http://schemas.openxmlformats.org/officeDocument/2006/relationships/slide" Target="/ppt/slides/slide7.xml" Id="Rbc9c7c0d83034f94"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a8eaee37c1fb4a34" /><Relationship Type="http://schemas.openxmlformats.org/officeDocument/2006/relationships/slide" Target="/ppt/slides/slide8.xml" Id="Rf107e05db6914626"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20228ea4dcb8465d" /><Relationship Type="http://schemas.openxmlformats.org/officeDocument/2006/relationships/slide" Target="/ppt/slides/slide9.xml" Id="R1809bab6bb0e4bf7"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160cd2b522334c13" /><Relationship Type="http://schemas.openxmlformats.org/officeDocument/2006/relationships/slide" Target="/ppt/slides/slide10.xml" Id="Rb67ffd24ca2846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20 seconds.</a:t>
            </a:r>
          </a:p>
          <a:p xmlns:a="http://schemas.openxmlformats.org/drawingml/2006/main">
            <a:r>
              <a:rPr lang="en-US"/>
              <a:t>Cover. Say: this is a progress report.</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Read the question aloud, then the three points. The question is about conditions, not about which model wins.</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45 seconds.</a:t>
            </a:r>
          </a:p>
          <a:p xmlns:a="http://schemas.openxmlformats.org/drawingml/2006/main">
            <a:r>
              <a:rPr lang="en-US"/>
              <a:t>The platform conducts the audit. Left: three facts. Right: the dashboard of a running instance. What the results mean comes later.</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The harness is fixed. Only the decision-maker changes: a script or an LLM agent, on the same tools, budget and log.</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Read left to right. The goal is set before the run. The scenario carries its own answer key. The benchmark compares what the platform reports with that key, never with the model's own conclusion.</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60 seconds.</a:t>
            </a:r>
          </a:p>
          <a:p xmlns:a="http://schemas.openxmlformats.org/drawingml/2006/main">
            <a:r>
              <a:rPr lang="en-US"/>
              <a:t>A finding counts only once it is recomputed from the log. On the healthy network, any finding is an error.</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70 seconds.</a:t>
            </a:r>
          </a:p>
          <a:p xmlns:a="http://schemas.openxmlformats.org/drawingml/2006/main">
            <a:r>
              <a:rPr lang="en-US"/>
              <a:t>V0 is the gate. Both arms face the same control task, and the hypotheses are read only if the script and the model both pass it.</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75 seconds.</a:t>
            </a:r>
          </a:p>
          <a:p xmlns:a="http://schemas.openxmlformats.org/drawingml/2006/main">
            <a:r>
              <a:rPr lang="en-US"/>
              <a:t>Six network properties, six tests. H1 to H5 test a possible gain; H6 is kept apart because it tests a risk.</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70 seconds.</a:t>
            </a:r>
          </a:p>
          <a:p xmlns:a="http://schemas.openxmlformats.org/drawingml/2006/main">
            <a:r>
              <a:rPr lang="en-US"/>
              <a:t>Order follows conditions, not dates. Then the request: vendor artifacts and an adversarial review of the register.</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Duration: about 0 seconds.</a:t>
            </a:r>
          </a:p>
          <a:p xmlns:a="http://schemas.openxmlformats.org/drawingml/2006/main">
            <a:r>
              <a:rPr lang="en-US"/>
              <a:t>A benchmark that states its gaps is stronger than one that claims full coverage. One line each, no discussion unless asked.</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c9800503e44e3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c409a7156474c2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bffffa9453d40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dd6d6c3c6384ed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b7aac5d78374001"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5be545d59f994e9f"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91673034d9af4343" /><Relationship Type="http://schemas.openxmlformats.org/officeDocument/2006/relationships/notesSlide" Target="/ppt/notesSlides/notesSlide1.xml" Id="R0a7a09d0eb2f4727" /><Relationship Type="http://schemas.openxmlformats.org/officeDocument/2006/relationships/image" Target="/ppt/media/image.png" Id="R068a66be6e1a4c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5d2cfca0aa54293" /><Relationship Type="http://schemas.openxmlformats.org/officeDocument/2006/relationships/notesSlide" Target="/ppt/notesSlides/notesSlide2.xml" Id="R93a1027cf9cf4c2e" /><Relationship Type="http://schemas.openxmlformats.org/officeDocument/2006/relationships/image" Target="/ppt/media/image2.png" Id="R7b0bffbbf2f245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a4349c172af4e2d" /><Relationship Type="http://schemas.openxmlformats.org/officeDocument/2006/relationships/notesSlide" Target="/ppt/notesSlides/notesSlide3.xml" Id="R1ed0d26f59d74c49" /><Relationship Type="http://schemas.openxmlformats.org/officeDocument/2006/relationships/image" Target="/ppt/media/image3.png" Id="R90c0962b4fd84094" /><Relationship Type="http://schemas.openxmlformats.org/officeDocument/2006/relationships/image" Target="/ppt/media/image.jpg" Id="Rd8238817ce9449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431e8cbf8c942d4" /><Relationship Type="http://schemas.openxmlformats.org/officeDocument/2006/relationships/notesSlide" Target="/ppt/notesSlides/notesSlide4.xml" Id="R5b3ece8fba924ceb" /><Relationship Type="http://schemas.openxmlformats.org/officeDocument/2006/relationships/image" Target="/ppt/media/image4.png" Id="Rf875b8625ce241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f8065de1cfa4d32" /><Relationship Type="http://schemas.openxmlformats.org/officeDocument/2006/relationships/notesSlide" Target="/ppt/notesSlides/notesSlide5.xml" Id="Rfeb9ace183e84e82" /><Relationship Type="http://schemas.openxmlformats.org/officeDocument/2006/relationships/image" Target="/ppt/media/image5.png" Id="R70c81608f5fe4c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27592658fc483a" /><Relationship Type="http://schemas.openxmlformats.org/officeDocument/2006/relationships/notesSlide" Target="/ppt/notesSlides/notesSlide6.xml" Id="R52c19470e95e4985" /><Relationship Type="http://schemas.openxmlformats.org/officeDocument/2006/relationships/image" Target="/ppt/media/image6.png" Id="R9cdbdf39dd6e4a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418b779da764071" /><Relationship Type="http://schemas.openxmlformats.org/officeDocument/2006/relationships/notesSlide" Target="/ppt/notesSlides/notesSlide7.xml" Id="Rf3aa49b87318409a" /><Relationship Type="http://schemas.openxmlformats.org/officeDocument/2006/relationships/image" Target="/ppt/media/image7.png" Id="R960344a3afe94df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b063e582e8c403d" /><Relationship Type="http://schemas.openxmlformats.org/officeDocument/2006/relationships/notesSlide" Target="/ppt/notesSlides/notesSlide8.xml" Id="R310edbef87b0469b" /><Relationship Type="http://schemas.openxmlformats.org/officeDocument/2006/relationships/image" Target="/ppt/media/image8.png" Id="R5f708da276fe4a8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0dee79f6a60431e" /><Relationship Type="http://schemas.openxmlformats.org/officeDocument/2006/relationships/notesSlide" Target="/ppt/notesSlides/notesSlide9.xml" Id="R260237bfad7846c8" /><Relationship Type="http://schemas.openxmlformats.org/officeDocument/2006/relationships/image" Target="/ppt/media/image9.png" Id="Rc43f346d199e4a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eaa9a4d613240c2" /><Relationship Type="http://schemas.openxmlformats.org/officeDocument/2006/relationships/notesSlide" Target="/ppt/notesSlides/notesSlide10.xml" Id="Rd413f385fe144f45" /><Relationship Type="http://schemas.openxmlformats.org/officeDocument/2006/relationships/image" Target="/ppt/media/image10.png" Id="R32bc4958de6749e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0" name="Element-3"/>
          <p:cNvSpPr/>
          <p:nvPr/>
        </p:nvSpPr>
        <p:spPr>
          <a:xfrm xmlns:a="http://schemas.openxmlformats.org/drawingml/2006/main">
            <a:off x="792000" y="990000"/>
            <a:ext cx="50400" cy="2196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1" name="Fixed-4"/>
          <p:cNvSpPr/>
          <p:nvPr/>
        </p:nvSpPr>
        <p:spPr>
          <a:xfrm xmlns:a="http://schemas.openxmlformats.org/drawingml/2006/main">
            <a:off x="1206000" y="918000"/>
            <a:ext cx="7920000" cy="99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4600" b="1" i="0">
                <a:solidFill>
                  <a:srgbClr val="20252D"/>
                </a:solidFill>
                <a:latin typeface="Arial"/>
                <a:ea typeface="Arial"/>
              </a:rPr>
              <a:t>LANCE</a:t>
            </a:r>
          </a:p>
        </p:txBody>
      </p:sp>
      <p:sp>
        <p:nvSpPr>
          <p:cNvPr id="100002" name="Fixed-5"/>
          <p:cNvSpPr/>
          <p:nvPr/>
        </p:nvSpPr>
        <p:spPr>
          <a:xfrm xmlns:a="http://schemas.openxmlformats.org/drawingml/2006/main">
            <a:off x="1206000" y="1926000"/>
            <a:ext cx="7020000" cy="8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500" b="0" i="0">
                <a:solidFill>
                  <a:srgbClr val="5C626C"/>
                </a:solidFill>
                <a:latin typeface="Arial"/>
                <a:ea typeface="Arial"/>
              </a:rPr>
              <a:t>An autonomous and verifiable auditor</a:t>
            </a:r>
          </a:p>
          <a:p xmlns:a="http://schemas.openxmlformats.org/drawingml/2006/main">
            <a:pPr algn="l"/>
            <a:r>
              <a:rPr lang="en-US" sz="2500" b="0" i="0">
                <a:solidFill>
                  <a:srgbClr val="5C626C"/>
                </a:solidFill>
                <a:latin typeface="Arial"/>
                <a:ea typeface="Arial"/>
              </a:rPr>
              <a:t>for IoT/IIoT networks</a:t>
            </a:r>
          </a:p>
        </p:txBody>
      </p:sp>
      <p:sp>
        <p:nvSpPr>
          <p:cNvPr id="100003" name="Element-6"/>
          <p:cNvSpPr/>
          <p:nvPr/>
        </p:nvSpPr>
        <p:spPr>
          <a:xfrm xmlns:a="http://schemas.openxmlformats.org/drawingml/2006/main">
            <a:off x="792000" y="33300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4" name="Fixed-7"/>
          <p:cNvSpPr/>
          <p:nvPr/>
        </p:nvSpPr>
        <p:spPr>
          <a:xfrm xmlns:a="http://schemas.openxmlformats.org/drawingml/2006/main">
            <a:off x="1206000" y="3474000"/>
            <a:ext cx="7200000" cy="30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500" b="0" i="0">
                <a:solidFill>
                  <a:srgbClr val="5C626C"/>
                </a:solidFill>
                <a:latin typeface="Arial"/>
                <a:ea typeface="Arial"/>
              </a:rPr>
              <a:t>23 October 2026  ·  Université de Mons, ILIA</a:t>
            </a:r>
          </a:p>
        </p:txBody>
      </p:sp>
      <p:pic>
        <p:nvPicPr>
          <p:cNvPr id="100005"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068a66be6e1a4c4c"/>
          <a:stretch xmlns:a="http://schemas.openxmlformats.org/drawingml/2006/main">
            <a:fillRect/>
          </a:stretch>
        </p:blipFill>
        <p:spPr>
          <a:xfrm xmlns:a="http://schemas.openxmlformats.org/drawingml/2006/main">
            <a:off x="9702000" y="504000"/>
            <a:ext cx="1872000" cy="641551"/>
          </a:xfrm>
          <a:prstGeom xmlns:a="http://schemas.openxmlformats.org/drawingml/2006/main" prst="rect">
            <a:avLst/>
          </a:prstGeom>
        </p:spPr>
      </p:pic>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0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7b0bffbbf2f2458c"/>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0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Objective</a:t>
            </a:r>
          </a:p>
        </p:txBody>
      </p:sp>
      <p:sp>
        <p:nvSpPr>
          <p:cNvPr id="100008" name="Element-5"/>
          <p:cNvSpPr/>
          <p:nvPr/>
        </p:nvSpPr>
        <p:spPr>
          <a:xfrm xmlns:a="http://schemas.openxmlformats.org/drawingml/2006/main">
            <a:off x="7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09" name="Fixed-6"/>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010"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1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1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01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objective</a:t>
            </a:r>
          </a:p>
        </p:txBody>
      </p:sp>
      <p:sp>
        <p:nvSpPr>
          <p:cNvPr id="10001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5" name="Element-12"/>
          <p:cNvSpPr/>
          <p:nvPr/>
        </p:nvSpPr>
        <p:spPr>
          <a:xfrm xmlns:a="http://schemas.openxmlformats.org/drawingml/2006/main">
            <a:off x="792000" y="1764000"/>
            <a:ext cx="10608000" cy="12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550" b="1" i="0">
                <a:solidFill>
                  <a:srgbClr val="20252D"/>
                </a:solidFill>
                <a:latin typeface="Arial"/>
                <a:ea typeface="Arial"/>
              </a:rPr>
              <a:t>Under which conditions does an agentic approach prevail over a scripted one, rather than which model prevails?</a:t>
            </a:r>
          </a:p>
        </p:txBody>
      </p:sp>
      <p:sp>
        <p:nvSpPr>
          <p:cNvPr id="100016" name="Element-13"/>
          <p:cNvSpPr/>
          <p:nvPr/>
        </p:nvSpPr>
        <p:spPr>
          <a:xfrm xmlns:a="http://schemas.openxmlformats.org/drawingml/2006/main">
            <a:off x="792000" y="3420000"/>
            <a:ext cx="50400" cy="32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7" name="Fixed-14"/>
          <p:cNvSpPr/>
          <p:nvPr/>
        </p:nvSpPr>
        <p:spPr>
          <a:xfrm xmlns:a="http://schemas.openxmlformats.org/drawingml/2006/main">
            <a:off x="990000" y="3348000"/>
            <a:ext cx="1041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i="0">
                <a:solidFill>
                  <a:srgbClr val="20252D"/>
                </a:solidFill>
                <a:latin typeface="Arial"/>
                <a:ea typeface="Arial"/>
              </a:rPr>
              <a:t>An auditor that explores, identifies, verifies and reports.</a:t>
            </a:r>
          </a:p>
        </p:txBody>
      </p:sp>
      <p:sp>
        <p:nvSpPr>
          <p:cNvPr id="100018" name="Element-15"/>
          <p:cNvSpPr/>
          <p:nvPr/>
        </p:nvSpPr>
        <p:spPr>
          <a:xfrm xmlns:a="http://schemas.openxmlformats.org/drawingml/2006/main">
            <a:off x="792000" y="4014000"/>
            <a:ext cx="50400" cy="32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19" name="Fixed-16"/>
          <p:cNvSpPr/>
          <p:nvPr/>
        </p:nvSpPr>
        <p:spPr>
          <a:xfrm xmlns:a="http://schemas.openxmlformats.org/drawingml/2006/main">
            <a:off x="990000" y="3942000"/>
            <a:ext cx="1041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i="0">
                <a:solidFill>
                  <a:srgbClr val="20252D"/>
                </a:solidFill>
                <a:latin typeface="Arial"/>
                <a:ea typeface="Arial"/>
              </a:rPr>
              <a:t>Identical tools and budget for both approaches, within the control harness.</a:t>
            </a:r>
          </a:p>
        </p:txBody>
      </p:sp>
      <p:sp>
        <p:nvSpPr>
          <p:cNvPr id="100020" name="Element-17"/>
          <p:cNvSpPr/>
          <p:nvPr/>
        </p:nvSpPr>
        <p:spPr>
          <a:xfrm xmlns:a="http://schemas.openxmlformats.org/drawingml/2006/main">
            <a:off x="792000" y="4608000"/>
            <a:ext cx="50400" cy="324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1" name="Fixed-18"/>
          <p:cNvSpPr/>
          <p:nvPr/>
        </p:nvSpPr>
        <p:spPr>
          <a:xfrm xmlns:a="http://schemas.openxmlformats.org/drawingml/2006/main">
            <a:off x="990000" y="4536000"/>
            <a:ext cx="10410000" cy="4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0" i="0">
                <a:solidFill>
                  <a:srgbClr val="20252D"/>
                </a:solidFill>
                <a:latin typeface="Arial"/>
                <a:ea typeface="Arial"/>
              </a:rPr>
              <a:t>Evidence recomputed from the log, not asserted.</a:t>
            </a:r>
          </a:p>
        </p:txBody>
      </p:sp>
      <p:sp>
        <p:nvSpPr>
          <p:cNvPr id="100022" name="Element-1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3" name="Caption-2"/>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Model training is not a current priority.</a:t>
            </a:r>
          </a:p>
        </p:txBody>
      </p:sp>
      <p:sp>
        <p:nvSpPr>
          <p:cNvPr id="100024" name="Fixed-21"/>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25" name="Fixed-22"/>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2</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2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90c0962b4fd84094"/>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2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Objective</a:t>
            </a:r>
          </a:p>
        </p:txBody>
      </p:sp>
      <p:sp>
        <p:nvSpPr>
          <p:cNvPr id="100028" name="Element-5"/>
          <p:cNvSpPr/>
          <p:nvPr/>
        </p:nvSpPr>
        <p:spPr>
          <a:xfrm xmlns:a="http://schemas.openxmlformats.org/drawingml/2006/main">
            <a:off x="7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29" name="Fixed-6"/>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030"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3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3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03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platform in brief</a:t>
            </a:r>
          </a:p>
        </p:txBody>
      </p:sp>
      <p:sp>
        <p:nvSpPr>
          <p:cNvPr id="10003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5" name="Element-12"/>
          <p:cNvSpPr/>
          <p:nvPr/>
        </p:nvSpPr>
        <p:spPr>
          <a:xfrm xmlns:a="http://schemas.openxmlformats.org/drawingml/2006/main">
            <a:off x="792000" y="20340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6" name="Fixed-13"/>
          <p:cNvSpPr/>
          <p:nvPr/>
        </p:nvSpPr>
        <p:spPr>
          <a:xfrm xmlns:a="http://schemas.openxmlformats.org/drawingml/2006/main">
            <a:off x="990000" y="1944000"/>
            <a:ext cx="4104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Runs the audit in six phases</a:t>
            </a:r>
          </a:p>
        </p:txBody>
      </p:sp>
      <p:sp>
        <p:nvSpPr>
          <p:cNvPr id="100037" name="Element-14"/>
          <p:cNvSpPr/>
          <p:nvPr/>
        </p:nvSpPr>
        <p:spPr>
          <a:xfrm xmlns:a="http://schemas.openxmlformats.org/drawingml/2006/main">
            <a:off x="792000" y="28620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38" name="Fixed-15"/>
          <p:cNvSpPr/>
          <p:nvPr/>
        </p:nvSpPr>
        <p:spPr>
          <a:xfrm xmlns:a="http://schemas.openxmlformats.org/drawingml/2006/main">
            <a:off x="990000" y="2772000"/>
            <a:ext cx="4104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Four execution modes</a:t>
            </a:r>
          </a:p>
        </p:txBody>
      </p:sp>
      <p:sp>
        <p:nvSpPr>
          <p:cNvPr id="100039" name="Element-16"/>
          <p:cNvSpPr/>
          <p:nvPr/>
        </p:nvSpPr>
        <p:spPr>
          <a:xfrm xmlns:a="http://schemas.openxmlformats.org/drawingml/2006/main">
            <a:off x="792000" y="3690000"/>
            <a:ext cx="50400" cy="43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0" name="Fixed-17"/>
          <p:cNvSpPr/>
          <p:nvPr/>
        </p:nvSpPr>
        <p:spPr>
          <a:xfrm xmlns:a="http://schemas.openxmlformats.org/drawingml/2006/main">
            <a:off x="990000" y="3600000"/>
            <a:ext cx="4104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Every run kept as evidence</a:t>
            </a:r>
          </a:p>
        </p:txBody>
      </p:sp>
      <p:pic>
        <p:nvPicPr>
          <p:cNvPr id="100041" name="Picture 2" descr="LANCE platform: network topology of the lab"/>
          <p:cNvPicPr>
            <a:picLocks xmlns:a="http://schemas.openxmlformats.org/drawingml/2006/main" noChangeAspect="1"/>
          </p:cNvPicPr>
          <p:nvPr/>
        </p:nvPicPr>
        <p:blipFill>
          <a:blip xmlns:r="http://schemas.openxmlformats.org/officeDocument/2006/relationships" xmlns:a="http://schemas.openxmlformats.org/drawingml/2006/main" r:embed="Rd8238817ce94497f"/>
          <a:stretch xmlns:a="http://schemas.openxmlformats.org/drawingml/2006/main">
            <a:fillRect/>
          </a:stretch>
        </p:blipFill>
        <p:spPr>
          <a:xfrm xmlns:a="http://schemas.openxmlformats.org/drawingml/2006/main">
            <a:off x="5640000" y="1620000"/>
            <a:ext cx="5760000" cy="3628800"/>
          </a:xfrm>
          <a:prstGeom xmlns:a="http://schemas.openxmlformats.org/drawingml/2006/main" prst="rect">
            <a:avLst/>
          </a:prstGeom>
        </p:spPr>
      </p:pic>
      <p:sp>
        <p:nvSpPr>
          <p:cNvPr id="100042" name="Element-1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43" name="Caption-3"/>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platform runs the audit; the benchmark judges it.</a:t>
            </a:r>
          </a:p>
        </p:txBody>
      </p:sp>
      <p:sp>
        <p:nvSpPr>
          <p:cNvPr id="100044" name="Fixed-21"/>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Captures of the running instance, 22 October 2026.</a:t>
            </a:r>
          </a:p>
        </p:txBody>
      </p:sp>
      <p:sp>
        <p:nvSpPr>
          <p:cNvPr id="100045" name="Fixed-22"/>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46" name="Fixed-23"/>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3</a:t>
            </a:r>
          </a:p>
        </p:txBody>
      </p:sp>
    </p:spTree>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47"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f875b8625ce241c1"/>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48"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049"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Method</a:t>
            </a:r>
          </a:p>
        </p:txBody>
      </p:sp>
      <p:sp>
        <p:nvSpPr>
          <p:cNvPr id="100050"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1"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52"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53"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054"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Script, LLM agent and harness</a:t>
            </a:r>
          </a:p>
        </p:txBody>
      </p:sp>
      <p:sp>
        <p:nvSpPr>
          <p:cNvPr id="100055"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6" name="Element-12"/>
          <p:cNvSpPr/>
          <p:nvPr/>
        </p:nvSpPr>
        <p:spPr>
          <a:xfrm xmlns:a="http://schemas.openxmlformats.org/drawingml/2006/main">
            <a:off x="792000" y="1656000"/>
            <a:ext cx="10608000" cy="34920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7" name="Fixed-13"/>
          <p:cNvSpPr/>
          <p:nvPr/>
        </p:nvSpPr>
        <p:spPr>
          <a:xfrm xmlns:a="http://schemas.openxmlformats.org/drawingml/2006/main">
            <a:off x="1008000" y="1782000"/>
            <a:ext cx="10176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1D5C96"/>
                </a:solidFill>
                <a:latin typeface="Arial"/>
                <a:ea typeface="Arial"/>
              </a:rPr>
              <a:t>HARNESS  ·  same tools, budget, log and scoring for both</a:t>
            </a:r>
          </a:p>
        </p:txBody>
      </p:sp>
      <p:sp>
        <p:nvSpPr>
          <p:cNvPr id="100058" name="Element-14"/>
          <p:cNvSpPr/>
          <p:nvPr/>
        </p:nvSpPr>
        <p:spPr>
          <a:xfrm xmlns:a="http://schemas.openxmlformats.org/drawingml/2006/main">
            <a:off x="1008000" y="2232000"/>
            <a:ext cx="4980000" cy="936000"/>
          </a:xfrm>
          <a:prstGeom xmlns:a="http://schemas.openxmlformats.org/drawingml/2006/main" prst="rect">
            <a:avLst/>
          </a:prstGeom>
          <a:solidFill xmlns:a="http://schemas.openxmlformats.org/drawingml/2006/main">
            <a:srgbClr val="FFFFFF"/>
          </a:solidFill>
          <a:ln xmlns:a="http://schemas.openxmlformats.org/drawingml/2006/main" w="12700">
            <a:solidFill>
              <a:srgbClr val="5C626C"/>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59" name="Element-15"/>
          <p:cNvSpPr/>
          <p:nvPr/>
        </p:nvSpPr>
        <p:spPr>
          <a:xfrm xmlns:a="http://schemas.openxmlformats.org/drawingml/2006/main">
            <a:off x="1008000" y="2232000"/>
            <a:ext cx="49800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0" name="Fixed-16"/>
          <p:cNvSpPr/>
          <p:nvPr/>
        </p:nvSpPr>
        <p:spPr>
          <a:xfrm xmlns:a="http://schemas.openxmlformats.org/drawingml/2006/main">
            <a:off x="1224000" y="2412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20252D"/>
                </a:solidFill>
                <a:latin typeface="Arial"/>
                <a:ea typeface="Arial"/>
              </a:rPr>
              <a:t>Script</a:t>
            </a:r>
          </a:p>
        </p:txBody>
      </p:sp>
      <p:sp>
        <p:nvSpPr>
          <p:cNvPr id="100061" name="Fixed-17"/>
          <p:cNvSpPr/>
          <p:nvPr/>
        </p:nvSpPr>
        <p:spPr>
          <a:xfrm xmlns:a="http://schemas.openxmlformats.org/drawingml/2006/main">
            <a:off x="1224000" y="2772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Fixed steps. No model.</a:t>
            </a:r>
          </a:p>
        </p:txBody>
      </p:sp>
      <p:sp>
        <p:nvSpPr>
          <p:cNvPr id="100062" name="Element-18"/>
          <p:cNvSpPr/>
          <p:nvPr/>
        </p:nvSpPr>
        <p:spPr>
          <a:xfrm xmlns:a="http://schemas.openxmlformats.org/drawingml/2006/main">
            <a:off x="3489000" y="3168000"/>
            <a:ext cx="18000" cy="2520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3" name="Element-19"/>
          <p:cNvSpPr/>
          <p:nvPr/>
        </p:nvSpPr>
        <p:spPr>
          <a:xfrm xmlns:a="http://schemas.openxmlformats.org/drawingml/2006/main">
            <a:off x="6204000" y="2232000"/>
            <a:ext cx="4980000" cy="936000"/>
          </a:xfrm>
          <a:prstGeom xmlns:a="http://schemas.openxmlformats.org/drawingml/2006/main" prst="rect">
            <a:avLst/>
          </a:prstGeom>
          <a:solidFill xmlns:a="http://schemas.openxmlformats.org/drawingml/2006/main">
            <a:srgbClr val="FFFFFF"/>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4" name="Element-20"/>
          <p:cNvSpPr/>
          <p:nvPr/>
        </p:nvSpPr>
        <p:spPr>
          <a:xfrm xmlns:a="http://schemas.openxmlformats.org/drawingml/2006/main">
            <a:off x="6204000" y="2232000"/>
            <a:ext cx="49800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5" name="Fixed-21"/>
          <p:cNvSpPr/>
          <p:nvPr/>
        </p:nvSpPr>
        <p:spPr>
          <a:xfrm xmlns:a="http://schemas.openxmlformats.org/drawingml/2006/main">
            <a:off x="6420000" y="2412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LLM agent</a:t>
            </a:r>
          </a:p>
        </p:txBody>
      </p:sp>
      <p:sp>
        <p:nvSpPr>
          <p:cNvPr id="100066" name="Fixed-22"/>
          <p:cNvSpPr/>
          <p:nvPr/>
        </p:nvSpPr>
        <p:spPr>
          <a:xfrm xmlns:a="http://schemas.openxmlformats.org/drawingml/2006/main">
            <a:off x="6420000" y="2772000"/>
            <a:ext cx="454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 model picks each next step.</a:t>
            </a:r>
          </a:p>
        </p:txBody>
      </p:sp>
      <p:sp>
        <p:nvSpPr>
          <p:cNvPr id="100067" name="Element-23"/>
          <p:cNvSpPr/>
          <p:nvPr/>
        </p:nvSpPr>
        <p:spPr>
          <a:xfrm xmlns:a="http://schemas.openxmlformats.org/drawingml/2006/main">
            <a:off x="8685000" y="3168000"/>
            <a:ext cx="18000" cy="25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8" name="Element-24"/>
          <p:cNvSpPr/>
          <p:nvPr/>
        </p:nvSpPr>
        <p:spPr>
          <a:xfrm xmlns:a="http://schemas.openxmlformats.org/drawingml/2006/main">
            <a:off x="1008000" y="3420000"/>
            <a:ext cx="10176000" cy="43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69" name="Fixed-25"/>
          <p:cNvSpPr/>
          <p:nvPr/>
        </p:nvSpPr>
        <p:spPr>
          <a:xfrm xmlns:a="http://schemas.openxmlformats.org/drawingml/2006/main">
            <a:off x="1152000" y="3420000"/>
            <a:ext cx="9888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800" b="0" i="0">
                <a:solidFill>
                  <a:srgbClr val="20252D"/>
                </a:solidFill>
                <a:latin typeface="Arial"/>
                <a:ea typeface="Arial"/>
              </a:rPr>
              <a:t>Same tools for both</a:t>
            </a:r>
          </a:p>
        </p:txBody>
      </p:sp>
      <p:sp>
        <p:nvSpPr>
          <p:cNvPr id="100070" name="Element-26"/>
          <p:cNvSpPr/>
          <p:nvPr/>
        </p:nvSpPr>
        <p:spPr>
          <a:xfrm xmlns:a="http://schemas.openxmlformats.org/drawingml/2006/main">
            <a:off x="6087000" y="3852000"/>
            <a:ext cx="18000" cy="1800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1" name="Element-27"/>
          <p:cNvSpPr/>
          <p:nvPr/>
        </p:nvSpPr>
        <p:spPr>
          <a:xfrm xmlns:a="http://schemas.openxmlformats.org/drawingml/2006/main">
            <a:off x="1008000" y="4032000"/>
            <a:ext cx="10176000" cy="432000"/>
          </a:xfrm>
          <a:prstGeom xmlns:a="http://schemas.openxmlformats.org/drawingml/2006/main" prst="rect">
            <a:avLst/>
          </a:prstGeom>
          <a:solidFill xmlns:a="http://schemas.openxmlformats.org/drawingml/2006/main">
            <a:srgbClr val="FFFFFF"/>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2" name="Fixed-28"/>
          <p:cNvSpPr/>
          <p:nvPr/>
        </p:nvSpPr>
        <p:spPr>
          <a:xfrm xmlns:a="http://schemas.openxmlformats.org/drawingml/2006/main">
            <a:off x="1152000" y="4032000"/>
            <a:ext cx="9888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800" b="0" i="0">
                <a:solidFill>
                  <a:srgbClr val="20252D"/>
                </a:solidFill>
                <a:latin typeface="Arial"/>
                <a:ea typeface="Arial"/>
              </a:rPr>
              <a:t>Same log, same scoring</a:t>
            </a:r>
          </a:p>
        </p:txBody>
      </p:sp>
      <p:sp>
        <p:nvSpPr>
          <p:cNvPr id="100073" name="Element-29"/>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74" name="Caption-4"/>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Only the step-choice mechanism changes.</a:t>
            </a:r>
          </a:p>
        </p:txBody>
      </p:sp>
      <p:sp>
        <p:nvSpPr>
          <p:cNvPr id="100075" name="Fixed-31"/>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076" name="Fixed-32"/>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4</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077"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70c81608f5fe4cbd"/>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078"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079"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Method</a:t>
            </a:r>
          </a:p>
        </p:txBody>
      </p:sp>
      <p:sp>
        <p:nvSpPr>
          <p:cNvPr id="100080"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1"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082"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083"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084"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How a run is judged against the goal</a:t>
            </a:r>
          </a:p>
        </p:txBody>
      </p:sp>
      <p:sp>
        <p:nvSpPr>
          <p:cNvPr id="100085"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6" name="Element-12"/>
          <p:cNvSpPr/>
          <p:nvPr/>
        </p:nvSpPr>
        <p:spPr>
          <a:xfrm xmlns:a="http://schemas.openxmlformats.org/drawingml/2006/main">
            <a:off x="7920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7" name="Element-13"/>
          <p:cNvSpPr/>
          <p:nvPr/>
        </p:nvSpPr>
        <p:spPr>
          <a:xfrm xmlns:a="http://schemas.openxmlformats.org/drawingml/2006/main">
            <a:off x="7920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88" name="Fixed-14"/>
          <p:cNvSpPr/>
          <p:nvPr/>
        </p:nvSpPr>
        <p:spPr>
          <a:xfrm xmlns:a="http://schemas.openxmlformats.org/drawingml/2006/main">
            <a:off x="9720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1</a:t>
            </a:r>
          </a:p>
        </p:txBody>
      </p:sp>
      <p:sp>
        <p:nvSpPr>
          <p:cNvPr id="100089" name="Fixed-15"/>
          <p:cNvSpPr/>
          <p:nvPr/>
        </p:nvSpPr>
        <p:spPr>
          <a:xfrm xmlns:a="http://schemas.openxmlformats.org/drawingml/2006/main">
            <a:off x="9720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Goal</a:t>
            </a:r>
          </a:p>
        </p:txBody>
      </p:sp>
      <p:sp>
        <p:nvSpPr>
          <p:cNvPr id="100090" name="Fixed-16"/>
          <p:cNvSpPr/>
          <p:nvPr/>
        </p:nvSpPr>
        <p:spPr>
          <a:xfrm xmlns:a="http://schemas.openxmlformats.org/drawingml/2006/main">
            <a:off x="9720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Find the planted weaknesses</a:t>
            </a:r>
          </a:p>
        </p:txBody>
      </p:sp>
      <p:sp>
        <p:nvSpPr>
          <p:cNvPr id="100091" name="Element-17"/>
          <p:cNvSpPr/>
          <p:nvPr/>
        </p:nvSpPr>
        <p:spPr>
          <a:xfrm xmlns:a="http://schemas.openxmlformats.org/drawingml/2006/main">
            <a:off x="26832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2" name="Element-18"/>
          <p:cNvSpPr/>
          <p:nvPr/>
        </p:nvSpPr>
        <p:spPr>
          <a:xfrm xmlns:a="http://schemas.openxmlformats.org/drawingml/2006/main">
            <a:off x="29784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3" name="Element-19"/>
          <p:cNvSpPr/>
          <p:nvPr/>
        </p:nvSpPr>
        <p:spPr>
          <a:xfrm xmlns:a="http://schemas.openxmlformats.org/drawingml/2006/main">
            <a:off x="29784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4" name="Fixed-20"/>
          <p:cNvSpPr/>
          <p:nvPr/>
        </p:nvSpPr>
        <p:spPr>
          <a:xfrm xmlns:a="http://schemas.openxmlformats.org/drawingml/2006/main">
            <a:off x="31584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2</a:t>
            </a:r>
          </a:p>
        </p:txBody>
      </p:sp>
      <p:sp>
        <p:nvSpPr>
          <p:cNvPr id="100095" name="Fixed-21"/>
          <p:cNvSpPr/>
          <p:nvPr/>
        </p:nvSpPr>
        <p:spPr>
          <a:xfrm xmlns:a="http://schemas.openxmlformats.org/drawingml/2006/main">
            <a:off x="31584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Laboratory</a:t>
            </a:r>
          </a:p>
        </p:txBody>
      </p:sp>
      <p:sp>
        <p:nvSpPr>
          <p:cNvPr id="100096" name="Fixed-22"/>
          <p:cNvSpPr/>
          <p:nvPr/>
        </p:nvSpPr>
        <p:spPr>
          <a:xfrm xmlns:a="http://schemas.openxmlformats.org/drawingml/2006/main">
            <a:off x="31584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Scenario with a known answer key</a:t>
            </a:r>
          </a:p>
        </p:txBody>
      </p:sp>
      <p:sp>
        <p:nvSpPr>
          <p:cNvPr id="100097" name="Element-23"/>
          <p:cNvSpPr/>
          <p:nvPr/>
        </p:nvSpPr>
        <p:spPr>
          <a:xfrm xmlns:a="http://schemas.openxmlformats.org/drawingml/2006/main">
            <a:off x="48696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8" name="Element-24"/>
          <p:cNvSpPr/>
          <p:nvPr/>
        </p:nvSpPr>
        <p:spPr>
          <a:xfrm xmlns:a="http://schemas.openxmlformats.org/drawingml/2006/main">
            <a:off x="5164800" y="1908000"/>
            <a:ext cx="1862400" cy="1800000"/>
          </a:xfrm>
          <a:prstGeom xmlns:a="http://schemas.openxmlformats.org/drawingml/2006/main" prst="rect">
            <a:avLst/>
          </a:prstGeom>
          <a:solidFill xmlns:a="http://schemas.openxmlformats.org/drawingml/2006/main">
            <a:srgbClr val="EFF6FC"/>
          </a:solidFill>
          <a:ln xmlns:a="http://schemas.openxmlformats.org/drawingml/2006/main" w="12700">
            <a:solidFill>
              <a:srgbClr val="1D5C9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099" name="Element-25"/>
          <p:cNvSpPr/>
          <p:nvPr/>
        </p:nvSpPr>
        <p:spPr>
          <a:xfrm xmlns:a="http://schemas.openxmlformats.org/drawingml/2006/main">
            <a:off x="5164800" y="1908000"/>
            <a:ext cx="1862400" cy="504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0" name="Fixed-26"/>
          <p:cNvSpPr/>
          <p:nvPr/>
        </p:nvSpPr>
        <p:spPr>
          <a:xfrm xmlns:a="http://schemas.openxmlformats.org/drawingml/2006/main">
            <a:off x="53448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1D5C96"/>
                </a:solidFill>
                <a:latin typeface="Arial"/>
                <a:ea typeface="Arial"/>
              </a:rPr>
              <a:t>3</a:t>
            </a:r>
          </a:p>
        </p:txBody>
      </p:sp>
      <p:sp>
        <p:nvSpPr>
          <p:cNvPr id="100101" name="Fixed-27"/>
          <p:cNvSpPr/>
          <p:nvPr/>
        </p:nvSpPr>
        <p:spPr>
          <a:xfrm xmlns:a="http://schemas.openxmlformats.org/drawingml/2006/main">
            <a:off x="53448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1D5C96"/>
                </a:solidFill>
                <a:latin typeface="Arial"/>
                <a:ea typeface="Arial"/>
              </a:rPr>
              <a:t>Platform</a:t>
            </a:r>
          </a:p>
        </p:txBody>
      </p:sp>
      <p:sp>
        <p:nvSpPr>
          <p:cNvPr id="100102" name="Fixed-28"/>
          <p:cNvSpPr/>
          <p:nvPr/>
        </p:nvSpPr>
        <p:spPr>
          <a:xfrm xmlns:a="http://schemas.openxmlformats.org/drawingml/2006/main">
            <a:off x="53448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Audits it, one log per run</a:t>
            </a:r>
          </a:p>
        </p:txBody>
      </p:sp>
      <p:sp>
        <p:nvSpPr>
          <p:cNvPr id="100103" name="Element-29"/>
          <p:cNvSpPr/>
          <p:nvPr/>
        </p:nvSpPr>
        <p:spPr>
          <a:xfrm xmlns:a="http://schemas.openxmlformats.org/drawingml/2006/main">
            <a:off x="7056000" y="2797200"/>
            <a:ext cx="266400" cy="21600"/>
          </a:xfrm>
          <a:prstGeom xmlns:a="http://schemas.openxmlformats.org/drawingml/2006/main" prst="rect">
            <a:avLst/>
          </a:prstGeom>
          <a:solidFill xmlns:a="http://schemas.openxmlformats.org/drawingml/2006/main">
            <a:srgbClr val="1D5C9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4" name="Element-30"/>
          <p:cNvSpPr/>
          <p:nvPr/>
        </p:nvSpPr>
        <p:spPr>
          <a:xfrm xmlns:a="http://schemas.openxmlformats.org/drawingml/2006/main">
            <a:off x="7351200" y="1908000"/>
            <a:ext cx="1862400" cy="1800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5" name="Element-31"/>
          <p:cNvSpPr/>
          <p:nvPr/>
        </p:nvSpPr>
        <p:spPr>
          <a:xfrm xmlns:a="http://schemas.openxmlformats.org/drawingml/2006/main">
            <a:off x="7351200" y="1908000"/>
            <a:ext cx="18624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06" name="Fixed-32"/>
          <p:cNvSpPr/>
          <p:nvPr/>
        </p:nvSpPr>
        <p:spPr>
          <a:xfrm xmlns:a="http://schemas.openxmlformats.org/drawingml/2006/main">
            <a:off x="75312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4</a:t>
            </a:r>
          </a:p>
        </p:txBody>
      </p:sp>
      <p:sp>
        <p:nvSpPr>
          <p:cNvPr id="100107" name="Fixed-33"/>
          <p:cNvSpPr/>
          <p:nvPr/>
        </p:nvSpPr>
        <p:spPr>
          <a:xfrm xmlns:a="http://schemas.openxmlformats.org/drawingml/2006/main">
            <a:off x="75312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20252D"/>
                </a:solidFill>
                <a:latin typeface="Arial"/>
                <a:ea typeface="Arial"/>
              </a:rPr>
              <a:t>Evidence</a:t>
            </a:r>
          </a:p>
        </p:txBody>
      </p:sp>
      <p:sp>
        <p:nvSpPr>
          <p:cNvPr id="100108" name="Fixed-34"/>
          <p:cNvSpPr/>
          <p:nvPr/>
        </p:nvSpPr>
        <p:spPr>
          <a:xfrm xmlns:a="http://schemas.openxmlformats.org/drawingml/2006/main">
            <a:off x="75312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Files kept for each run</a:t>
            </a:r>
          </a:p>
        </p:txBody>
      </p:sp>
      <p:sp>
        <p:nvSpPr>
          <p:cNvPr id="100109" name="Element-35"/>
          <p:cNvSpPr/>
          <p:nvPr/>
        </p:nvSpPr>
        <p:spPr>
          <a:xfrm xmlns:a="http://schemas.openxmlformats.org/drawingml/2006/main">
            <a:off x="9242400" y="2797200"/>
            <a:ext cx="266400" cy="216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0" name="Element-36"/>
          <p:cNvSpPr/>
          <p:nvPr/>
        </p:nvSpPr>
        <p:spPr>
          <a:xfrm xmlns:a="http://schemas.openxmlformats.org/drawingml/2006/main">
            <a:off x="9537600" y="1908000"/>
            <a:ext cx="1862400" cy="1800000"/>
          </a:xfrm>
          <a:prstGeom xmlns:a="http://schemas.openxmlformats.org/drawingml/2006/main" prst="rect">
            <a:avLst/>
          </a:prstGeom>
          <a:solidFill xmlns:a="http://schemas.openxmlformats.org/drawingml/2006/main">
            <a:srgbClr val="FCF0F4"/>
          </a:solidFill>
          <a:ln xmlns:a="http://schemas.openxmlformats.org/drawingml/2006/main" w="12700">
            <a:solidFill>
              <a:srgbClr val="B60036"/>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1" name="Element-37"/>
          <p:cNvSpPr/>
          <p:nvPr/>
        </p:nvSpPr>
        <p:spPr>
          <a:xfrm xmlns:a="http://schemas.openxmlformats.org/drawingml/2006/main">
            <a:off x="9537600" y="1908000"/>
            <a:ext cx="18624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2" name="Fixed-38"/>
          <p:cNvSpPr/>
          <p:nvPr/>
        </p:nvSpPr>
        <p:spPr>
          <a:xfrm xmlns:a="http://schemas.openxmlformats.org/drawingml/2006/main">
            <a:off x="9717600" y="2106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B60036"/>
                </a:solidFill>
                <a:latin typeface="Arial"/>
                <a:ea typeface="Arial"/>
              </a:rPr>
              <a:t>5</a:t>
            </a:r>
          </a:p>
        </p:txBody>
      </p:sp>
      <p:sp>
        <p:nvSpPr>
          <p:cNvPr id="100113" name="Fixed-39"/>
          <p:cNvSpPr/>
          <p:nvPr/>
        </p:nvSpPr>
        <p:spPr>
          <a:xfrm xmlns:a="http://schemas.openxmlformats.org/drawingml/2006/main">
            <a:off x="9717600" y="2394000"/>
            <a:ext cx="15024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1" i="0">
                <a:solidFill>
                  <a:srgbClr val="B60036"/>
                </a:solidFill>
                <a:latin typeface="Arial"/>
                <a:ea typeface="Arial"/>
              </a:rPr>
              <a:t>Benchmark</a:t>
            </a:r>
          </a:p>
        </p:txBody>
      </p:sp>
      <p:sp>
        <p:nvSpPr>
          <p:cNvPr id="100114" name="Fixed-40"/>
          <p:cNvSpPr/>
          <p:nvPr/>
        </p:nvSpPr>
        <p:spPr>
          <a:xfrm xmlns:a="http://schemas.openxmlformats.org/drawingml/2006/main">
            <a:off x="9717600" y="2700000"/>
            <a:ext cx="1502400" cy="93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00" b="0" i="0">
                <a:solidFill>
                  <a:srgbClr val="5C626C"/>
                </a:solidFill>
                <a:latin typeface="Arial"/>
                <a:ea typeface="Arial"/>
              </a:rPr>
              <a:t>Scores against the key</a:t>
            </a:r>
          </a:p>
        </p:txBody>
      </p:sp>
      <p:sp>
        <p:nvSpPr>
          <p:cNvPr id="100115" name="Element-41"/>
          <p:cNvSpPr/>
          <p:nvPr/>
        </p:nvSpPr>
        <p:spPr>
          <a:xfrm xmlns:a="http://schemas.openxmlformats.org/drawingml/2006/main">
            <a:off x="1714200" y="3726000"/>
            <a:ext cx="18000" cy="28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6" name="Element-42"/>
          <p:cNvSpPr/>
          <p:nvPr/>
        </p:nvSpPr>
        <p:spPr>
          <a:xfrm xmlns:a="http://schemas.openxmlformats.org/drawingml/2006/main">
            <a:off x="10459800" y="3726000"/>
            <a:ext cx="18000" cy="28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7" name="Element-43"/>
          <p:cNvSpPr/>
          <p:nvPr/>
        </p:nvSpPr>
        <p:spPr>
          <a:xfrm xmlns:a="http://schemas.openxmlformats.org/drawingml/2006/main">
            <a:off x="1723200" y="4014000"/>
            <a:ext cx="8745600" cy="18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18" name="Fixed-44"/>
          <p:cNvSpPr/>
          <p:nvPr/>
        </p:nvSpPr>
        <p:spPr>
          <a:xfrm xmlns:a="http://schemas.openxmlformats.org/drawingml/2006/main">
            <a:off x="792000" y="4104000"/>
            <a:ext cx="106080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r>
              <a:rPr lang="en-US" sz="1600" b="1" i="0">
                <a:solidFill>
                  <a:srgbClr val="B60036"/>
                </a:solidFill>
                <a:latin typeface="Arial"/>
                <a:ea typeface="Arial"/>
              </a:rPr>
              <a:t>The score uses the planted truth, never the platform's own conclusion.</a:t>
            </a:r>
          </a:p>
        </p:txBody>
      </p:sp>
      <p:sp>
        <p:nvSpPr>
          <p:cNvPr id="100119" name="Element-45"/>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0" name="Caption-5"/>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Each run is scored against the known weaknesses of its scenario.</a:t>
            </a:r>
          </a:p>
        </p:txBody>
      </p:sp>
      <p:sp>
        <p:nvSpPr>
          <p:cNvPr id="100121" name="Fixed-47"/>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22" name="Fixed-48"/>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5</a:t>
            </a:r>
          </a:p>
        </p:txBody>
      </p:sp>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23"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9cdbdf39dd6e4ab8"/>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24"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25"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Method</a:t>
            </a:r>
          </a:p>
        </p:txBody>
      </p:sp>
      <p:sp>
        <p:nvSpPr>
          <p:cNvPr id="100126" name="Element-6"/>
          <p:cNvSpPr/>
          <p:nvPr/>
        </p:nvSpPr>
        <p:spPr>
          <a:xfrm xmlns:a="http://schemas.openxmlformats.org/drawingml/2006/main">
            <a:off x="25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27" name="Fixed-7"/>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128"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29"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130"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What constitutes a finding</a:t>
            </a:r>
          </a:p>
        </p:txBody>
      </p:sp>
      <p:sp>
        <p:nvSpPr>
          <p:cNvPr id="100131"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2" name="Element-12"/>
          <p:cNvSpPr/>
          <p:nvPr/>
        </p:nvSpPr>
        <p:spPr>
          <a:xfrm xmlns:a="http://schemas.openxmlformats.org/drawingml/2006/main">
            <a:off x="792000" y="1746000"/>
            <a:ext cx="5203200" cy="259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3" name="Element-13"/>
          <p:cNvSpPr/>
          <p:nvPr/>
        </p:nvSpPr>
        <p:spPr>
          <a:xfrm xmlns:a="http://schemas.openxmlformats.org/drawingml/2006/main">
            <a:off x="792000" y="1746000"/>
            <a:ext cx="5203200" cy="504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4" name="Fixed-14"/>
          <p:cNvSpPr/>
          <p:nvPr/>
        </p:nvSpPr>
        <p:spPr>
          <a:xfrm xmlns:a="http://schemas.openxmlformats.org/drawingml/2006/main">
            <a:off x="1080000" y="1998000"/>
            <a:ext cx="46272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5C626C"/>
                </a:solidFill>
                <a:latin typeface="Arial"/>
                <a:ea typeface="Arial"/>
              </a:rPr>
              <a:t>Healthy network</a:t>
            </a:r>
          </a:p>
        </p:txBody>
      </p:sp>
      <p:sp>
        <p:nvSpPr>
          <p:cNvPr id="100135" name="Fixed-15"/>
          <p:cNvSpPr/>
          <p:nvPr/>
        </p:nvSpPr>
        <p:spPr>
          <a:xfrm xmlns:a="http://schemas.openxmlformats.org/drawingml/2006/main">
            <a:off x="1080000" y="2358000"/>
            <a:ext cx="46272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800" b="1" i="0">
                <a:solidFill>
                  <a:srgbClr val="B60036"/>
                </a:solidFill>
                <a:latin typeface="Arial"/>
                <a:ea typeface="Arial"/>
              </a:rPr>
              <a:t>✕  Error</a:t>
            </a:r>
          </a:p>
        </p:txBody>
      </p:sp>
      <p:sp>
        <p:nvSpPr>
          <p:cNvPr id="100136" name="Element-16"/>
          <p:cNvSpPr/>
          <p:nvPr/>
        </p:nvSpPr>
        <p:spPr>
          <a:xfrm xmlns:a="http://schemas.openxmlformats.org/drawingml/2006/main">
            <a:off x="1080000" y="2934000"/>
            <a:ext cx="46272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5C626C"/>
                </a:solidFill>
                <a:latin typeface="Arial"/>
                <a:ea typeface="Arial"/>
              </a:rPr>
              <a:t>Any finding reported here is an error.</a:t>
            </a:r>
          </a:p>
        </p:txBody>
      </p:sp>
      <p:sp>
        <p:nvSpPr>
          <p:cNvPr id="100137" name="Element-17"/>
          <p:cNvSpPr/>
          <p:nvPr/>
        </p:nvSpPr>
        <p:spPr>
          <a:xfrm xmlns:a="http://schemas.openxmlformats.org/drawingml/2006/main">
            <a:off x="6196800" y="1746000"/>
            <a:ext cx="5203200" cy="2592000"/>
          </a:xfrm>
          <a:prstGeom xmlns:a="http://schemas.openxmlformats.org/drawingml/2006/main" prst="rect">
            <a:avLst/>
          </a:prstGeom>
          <a:solidFill xmlns:a="http://schemas.openxmlformats.org/drawingml/2006/main">
            <a:srgbClr val="EFF6FC"/>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8" name="Element-18"/>
          <p:cNvSpPr/>
          <p:nvPr/>
        </p:nvSpPr>
        <p:spPr>
          <a:xfrm xmlns:a="http://schemas.openxmlformats.org/drawingml/2006/main">
            <a:off x="6196800" y="1746000"/>
            <a:ext cx="5203200" cy="50400"/>
          </a:xfrm>
          <a:prstGeom xmlns:a="http://schemas.openxmlformats.org/drawingml/2006/main" prst="rect">
            <a:avLst/>
          </a:prstGeom>
          <a:solidFill xmlns:a="http://schemas.openxmlformats.org/drawingml/2006/main">
            <a:srgbClr val="2E7D5B"/>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39" name="Fixed-19"/>
          <p:cNvSpPr/>
          <p:nvPr/>
        </p:nvSpPr>
        <p:spPr>
          <a:xfrm xmlns:a="http://schemas.openxmlformats.org/drawingml/2006/main">
            <a:off x="6484800" y="1998000"/>
            <a:ext cx="4627200" cy="28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400" b="1" i="0">
                <a:solidFill>
                  <a:srgbClr val="5C626C"/>
                </a:solidFill>
                <a:latin typeface="Arial"/>
                <a:ea typeface="Arial"/>
              </a:rPr>
              <a:t>Vulnerable network</a:t>
            </a:r>
          </a:p>
        </p:txBody>
      </p:sp>
      <p:sp>
        <p:nvSpPr>
          <p:cNvPr id="100140" name="Fixed-20"/>
          <p:cNvSpPr/>
          <p:nvPr/>
        </p:nvSpPr>
        <p:spPr>
          <a:xfrm xmlns:a="http://schemas.openxmlformats.org/drawingml/2006/main">
            <a:off x="6484800" y="2358000"/>
            <a:ext cx="46272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800" b="1" i="0">
                <a:solidFill>
                  <a:srgbClr val="2E7D5B"/>
                </a:solidFill>
                <a:latin typeface="Arial"/>
                <a:ea typeface="Arial"/>
              </a:rPr>
              <a:t>✓  Finding</a:t>
            </a:r>
          </a:p>
        </p:txBody>
      </p:sp>
      <p:sp>
        <p:nvSpPr>
          <p:cNvPr id="100141" name="Element-21"/>
          <p:cNvSpPr/>
          <p:nvPr/>
        </p:nvSpPr>
        <p:spPr>
          <a:xfrm xmlns:a="http://schemas.openxmlformats.org/drawingml/2006/main">
            <a:off x="6484800" y="2934000"/>
            <a:ext cx="46272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5C626C"/>
                </a:solidFill>
                <a:latin typeface="Arial"/>
                <a:ea typeface="Arial"/>
              </a:rPr>
              <a:t>Recomputed from the log before it counts.</a:t>
            </a:r>
          </a:p>
        </p:txBody>
      </p:sp>
      <p:sp>
        <p:nvSpPr>
          <p:cNvPr id="100142" name="Element-22"/>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43" name="Caption-6"/>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The finding is recomputed from the log; the conclusion is never taken on trust.</a:t>
            </a:r>
          </a:p>
        </p:txBody>
      </p:sp>
      <p:sp>
        <p:nvSpPr>
          <p:cNvPr id="100144" name="Fixed-24"/>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45" name="Fixed-25"/>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6</a:t>
            </a:r>
          </a:p>
        </p:txBody>
      </p:sp>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46"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960344a3afe94df8"/>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47"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48"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149"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Control</a:t>
            </a:r>
          </a:p>
        </p:txBody>
      </p:sp>
      <p:sp>
        <p:nvSpPr>
          <p:cNvPr id="100150" name="Element-7"/>
          <p:cNvSpPr/>
          <p:nvPr/>
        </p:nvSpPr>
        <p:spPr>
          <a:xfrm xmlns:a="http://schemas.openxmlformats.org/drawingml/2006/main">
            <a:off x="43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1" name="Fixed-8"/>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152"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153"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A control task before testing the model</a:t>
            </a:r>
          </a:p>
        </p:txBody>
      </p:sp>
      <p:sp>
        <p:nvSpPr>
          <p:cNvPr id="100154"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5" name="Fixed-12"/>
          <p:cNvSpPr/>
          <p:nvPr/>
        </p:nvSpPr>
        <p:spPr>
          <a:xfrm xmlns:a="http://schemas.openxmlformats.org/drawingml/2006/main">
            <a:off x="792000" y="1602000"/>
            <a:ext cx="10608000" cy="52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700" b="0" i="0">
                <a:solidFill>
                  <a:srgbClr val="5C626C"/>
                </a:solidFill>
                <a:latin typeface="Arial"/>
                <a:ea typeface="Arial"/>
              </a:rPr>
              <a:t>V0 is a control task, simple enough to be solved without inference. Both approaches must pass it.</a:t>
            </a:r>
          </a:p>
        </p:txBody>
      </p:sp>
      <p:sp>
        <p:nvSpPr>
          <p:cNvPr id="100156" name="Element-13"/>
          <p:cNvSpPr/>
          <p:nvPr/>
        </p:nvSpPr>
        <p:spPr>
          <a:xfrm xmlns:a="http://schemas.openxmlformats.org/drawingml/2006/main">
            <a:off x="792000" y="2592000"/>
            <a:ext cx="2500800" cy="187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7" name="Element-14"/>
          <p:cNvSpPr/>
          <p:nvPr/>
        </p:nvSpPr>
        <p:spPr>
          <a:xfrm xmlns:a="http://schemas.openxmlformats.org/drawingml/2006/main">
            <a:off x="792000" y="2592000"/>
            <a:ext cx="25008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58" name="Fixed-15"/>
          <p:cNvSpPr/>
          <p:nvPr/>
        </p:nvSpPr>
        <p:spPr>
          <a:xfrm xmlns:a="http://schemas.openxmlformats.org/drawingml/2006/main">
            <a:off x="1008000" y="2808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1</a:t>
            </a:r>
          </a:p>
        </p:txBody>
      </p:sp>
      <p:sp>
        <p:nvSpPr>
          <p:cNvPr id="100159" name="Element-16"/>
          <p:cNvSpPr/>
          <p:nvPr/>
        </p:nvSpPr>
        <p:spPr>
          <a:xfrm xmlns:a="http://schemas.openxmlformats.org/drawingml/2006/main">
            <a:off x="1008000" y="3204000"/>
            <a:ext cx="20688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1" i="0">
                <a:solidFill>
                  <a:srgbClr val="20252D"/>
                </a:solidFill>
                <a:latin typeface="Arial"/>
                <a:ea typeface="Arial"/>
              </a:rPr>
              <a:t>Script passes</a:t>
            </a:r>
          </a:p>
        </p:txBody>
      </p:sp>
      <p:sp>
        <p:nvSpPr>
          <p:cNvPr id="100160" name="Element-17"/>
          <p:cNvSpPr/>
          <p:nvPr/>
        </p:nvSpPr>
        <p:spPr>
          <a:xfrm xmlns:a="http://schemas.openxmlformats.org/drawingml/2006/main">
            <a:off x="3494400" y="2592000"/>
            <a:ext cx="2500800" cy="1872000"/>
          </a:xfrm>
          <a:prstGeom xmlns:a="http://schemas.openxmlformats.org/drawingml/2006/main" prst="rect">
            <a:avLst/>
          </a:prstGeom>
          <a:solidFill xmlns:a="http://schemas.openxmlformats.org/drawingml/2006/main">
            <a:srgbClr val="F6F7F9"/>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1" name="Element-18"/>
          <p:cNvSpPr/>
          <p:nvPr/>
        </p:nvSpPr>
        <p:spPr>
          <a:xfrm xmlns:a="http://schemas.openxmlformats.org/drawingml/2006/main">
            <a:off x="3494400" y="2592000"/>
            <a:ext cx="2500800" cy="50400"/>
          </a:xfrm>
          <a:prstGeom xmlns:a="http://schemas.openxmlformats.org/drawingml/2006/main" prst="rect">
            <a:avLst/>
          </a:prstGeom>
          <a:solidFill xmlns:a="http://schemas.openxmlformats.org/drawingml/2006/main">
            <a:srgbClr val="5C626C"/>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2" name="Fixed-19"/>
          <p:cNvSpPr/>
          <p:nvPr/>
        </p:nvSpPr>
        <p:spPr>
          <a:xfrm xmlns:a="http://schemas.openxmlformats.org/drawingml/2006/main">
            <a:off x="3710400" y="2808000"/>
            <a:ext cx="7200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2</a:t>
            </a:r>
          </a:p>
        </p:txBody>
      </p:sp>
      <p:sp>
        <p:nvSpPr>
          <p:cNvPr id="100163" name="Element-20"/>
          <p:cNvSpPr/>
          <p:nvPr/>
        </p:nvSpPr>
        <p:spPr>
          <a:xfrm xmlns:a="http://schemas.openxmlformats.org/drawingml/2006/main">
            <a:off x="3710400" y="3204000"/>
            <a:ext cx="20688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000" b="1" i="0">
                <a:solidFill>
                  <a:srgbClr val="20252D"/>
                </a:solidFill>
                <a:latin typeface="Arial"/>
                <a:ea typeface="Arial"/>
              </a:rPr>
              <a:t>Model passes</a:t>
            </a:r>
          </a:p>
        </p:txBody>
      </p:sp>
      <p:sp>
        <p:nvSpPr>
          <p:cNvPr id="100164" name="Element-21"/>
          <p:cNvSpPr/>
          <p:nvPr/>
        </p:nvSpPr>
        <p:spPr>
          <a:xfrm xmlns:a="http://schemas.openxmlformats.org/drawingml/2006/main">
            <a:off x="6196800" y="2592000"/>
            <a:ext cx="5203200" cy="1872000"/>
          </a:xfrm>
          <a:prstGeom xmlns:a="http://schemas.openxmlformats.org/drawingml/2006/main" prst="rect">
            <a:avLst/>
          </a:prstGeom>
          <a:solidFill xmlns:a="http://schemas.openxmlformats.org/drawingml/2006/main">
            <a:srgbClr val="EFF6FC"/>
          </a:solidFill>
          <a:ln xmlns:a="http://schemas.openxmlformats.org/drawingml/2006/main" w="12700">
            <a:solidFill>
              <a:srgbClr val="D9DEE5"/>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5" name="Element-22"/>
          <p:cNvSpPr/>
          <p:nvPr/>
        </p:nvSpPr>
        <p:spPr>
          <a:xfrm xmlns:a="http://schemas.openxmlformats.org/drawingml/2006/main">
            <a:off x="6196800" y="2592000"/>
            <a:ext cx="5203200" cy="50400"/>
          </a:xfrm>
          <a:prstGeom xmlns:a="http://schemas.openxmlformats.org/drawingml/2006/main" prst="rect">
            <a:avLst/>
          </a:prstGeom>
          <a:solidFill xmlns:a="http://schemas.openxmlformats.org/drawingml/2006/main">
            <a:srgbClr val="2E7D5B"/>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6" name="Fixed-23"/>
          <p:cNvSpPr/>
          <p:nvPr/>
        </p:nvSpPr>
        <p:spPr>
          <a:xfrm xmlns:a="http://schemas.openxmlformats.org/drawingml/2006/main">
            <a:off x="6484800" y="2808000"/>
            <a:ext cx="4627200" cy="36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1" i="0">
                <a:solidFill>
                  <a:srgbClr val="5C626C"/>
                </a:solidFill>
                <a:latin typeface="Arial"/>
                <a:ea typeface="Arial"/>
              </a:rPr>
              <a:t>Gate</a:t>
            </a:r>
          </a:p>
        </p:txBody>
      </p:sp>
      <p:sp>
        <p:nvSpPr>
          <p:cNvPr id="100167" name="Element-24"/>
          <p:cNvSpPr/>
          <p:nvPr/>
        </p:nvSpPr>
        <p:spPr>
          <a:xfrm xmlns:a="http://schemas.openxmlformats.org/drawingml/2006/main">
            <a:off x="6484800" y="3204000"/>
            <a:ext cx="46272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750" b="1" i="0">
                <a:solidFill>
                  <a:srgbClr val="2E7D5B"/>
                </a:solidFill>
                <a:latin typeface="Arial"/>
                <a:ea typeface="Arial"/>
              </a:rPr>
              <a:t>Both pass: the hypotheses may be read.</a:t>
            </a:r>
          </a:p>
        </p:txBody>
      </p:sp>
      <p:sp>
        <p:nvSpPr>
          <p:cNvPr id="100168" name="Element-25"/>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69" name="Caption-7"/>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Only a control that both approaches pass permits the hypotheses to be read.</a:t>
            </a:r>
          </a:p>
        </p:txBody>
      </p:sp>
      <p:sp>
        <p:nvSpPr>
          <p:cNvPr id="100170" name="Fixed-27"/>
          <p:cNvSpPr/>
          <p:nvPr/>
        </p:nvSpPr>
        <p:spPr>
          <a:xfrm xmlns:a="http://schemas.openxmlformats.org/drawingml/2006/main">
            <a:off x="792000" y="61128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Calibration passed on the lab network (3 of 3 runs per arm). The held-out instance remains outstanding.</a:t>
            </a:r>
          </a:p>
        </p:txBody>
      </p:sp>
      <p:sp>
        <p:nvSpPr>
          <p:cNvPr id="100171" name="Fixed-28"/>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172" name="Fixed-29"/>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7</a:t>
            </a:r>
          </a:p>
        </p:txBody>
      </p:sp>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173"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5f708da276fe4a88"/>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174"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175"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176"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177"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Hypotheses</a:t>
            </a:r>
          </a:p>
        </p:txBody>
      </p:sp>
      <p:sp>
        <p:nvSpPr>
          <p:cNvPr id="100178" name="Element-8"/>
          <p:cNvSpPr/>
          <p:nvPr/>
        </p:nvSpPr>
        <p:spPr>
          <a:xfrm xmlns:a="http://schemas.openxmlformats.org/drawingml/2006/main">
            <a:off x="61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79" name="Fixed-9"/>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Next steps</a:t>
            </a:r>
          </a:p>
        </p:txBody>
      </p:sp>
      <p:sp>
        <p:nvSpPr>
          <p:cNvPr id="100180"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The objective restated as hypotheses</a:t>
            </a:r>
          </a:p>
        </p:txBody>
      </p:sp>
      <p:sp>
        <p:nvSpPr>
          <p:cNvPr id="100181"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2" name="Fixed-12"/>
          <p:cNvSpPr/>
          <p:nvPr/>
        </p:nvSpPr>
        <p:spPr>
          <a:xfrm xmlns:a="http://schemas.openxmlformats.org/drawingml/2006/main">
            <a:off x="792000" y="1602000"/>
            <a:ext cx="10608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5C626C"/>
                </a:solidFill>
                <a:latin typeface="Arial"/>
                <a:ea typeface="Arial"/>
              </a:rPr>
              <a:t>The register is this list: each hypothesis, with the test that decides it.</a:t>
            </a:r>
          </a:p>
        </p:txBody>
      </p:sp>
      <p:sp>
        <p:nvSpPr>
          <p:cNvPr id="100183" name="Fixed-13"/>
          <p:cNvSpPr/>
          <p:nvPr/>
        </p:nvSpPr>
        <p:spPr>
          <a:xfrm xmlns:a="http://schemas.openxmlformats.org/drawingml/2006/main">
            <a:off x="792000" y="2088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H1</a:t>
            </a:r>
          </a:p>
        </p:txBody>
      </p:sp>
      <p:sp>
        <p:nvSpPr>
          <p:cNvPr id="100184" name="Fixed-14"/>
          <p:cNvSpPr/>
          <p:nvPr/>
        </p:nvSpPr>
        <p:spPr>
          <a:xfrm xmlns:a="http://schemas.openxmlformats.org/drawingml/2006/main">
            <a:off x="1512000" y="2088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Connected devices</a:t>
            </a:r>
          </a:p>
        </p:txBody>
      </p:sp>
      <p:sp>
        <p:nvSpPr>
          <p:cNvPr id="100185" name="Fixed-15"/>
          <p:cNvSpPr/>
          <p:nvPr/>
        </p:nvSpPr>
        <p:spPr>
          <a:xfrm xmlns:a="http://schemas.openxmlformats.org/drawingml/2006/main">
            <a:off x="4824000" y="2088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a link absent from public inputs</a:t>
            </a:r>
          </a:p>
        </p:txBody>
      </p:sp>
      <p:sp>
        <p:nvSpPr>
          <p:cNvPr id="100186" name="Element-16"/>
          <p:cNvSpPr/>
          <p:nvPr/>
        </p:nvSpPr>
        <p:spPr>
          <a:xfrm xmlns:a="http://schemas.openxmlformats.org/drawingml/2006/main">
            <a:off x="792000" y="2548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87" name="Fixed-17"/>
          <p:cNvSpPr/>
          <p:nvPr/>
        </p:nvSpPr>
        <p:spPr>
          <a:xfrm xmlns:a="http://schemas.openxmlformats.org/drawingml/2006/main">
            <a:off x="792000" y="2592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H2</a:t>
            </a:r>
          </a:p>
        </p:txBody>
      </p:sp>
      <p:sp>
        <p:nvSpPr>
          <p:cNvPr id="100188" name="Fixed-18"/>
          <p:cNvSpPr/>
          <p:nvPr/>
        </p:nvSpPr>
        <p:spPr>
          <a:xfrm xmlns:a="http://schemas.openxmlformats.org/drawingml/2006/main">
            <a:off x="1512000" y="2592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Heterogeneous formats</a:t>
            </a:r>
          </a:p>
        </p:txBody>
      </p:sp>
      <p:sp>
        <p:nvSpPr>
          <p:cNvPr id="100189" name="Fixed-19"/>
          <p:cNvSpPr/>
          <p:nvPr/>
        </p:nvSpPr>
        <p:spPr>
          <a:xfrm xmlns:a="http://schemas.openxmlformats.org/drawingml/2006/main">
            <a:off x="4824000" y="2592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a representation no parser covers</a:t>
            </a:r>
          </a:p>
        </p:txBody>
      </p:sp>
      <p:sp>
        <p:nvSpPr>
          <p:cNvPr id="100190" name="Element-20"/>
          <p:cNvSpPr/>
          <p:nvPr/>
        </p:nvSpPr>
        <p:spPr>
          <a:xfrm xmlns:a="http://schemas.openxmlformats.org/drawingml/2006/main">
            <a:off x="792000" y="3052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1" name="Fixed-21"/>
          <p:cNvSpPr/>
          <p:nvPr/>
        </p:nvSpPr>
        <p:spPr>
          <a:xfrm xmlns:a="http://schemas.openxmlformats.org/drawingml/2006/main">
            <a:off x="792000" y="3096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H3</a:t>
            </a:r>
          </a:p>
        </p:txBody>
      </p:sp>
      <p:sp>
        <p:nvSpPr>
          <p:cNvPr id="100192" name="Fixed-22"/>
          <p:cNvSpPr/>
          <p:nvPr/>
        </p:nvSpPr>
        <p:spPr>
          <a:xfrm xmlns:a="http://schemas.openxmlformats.org/drawingml/2006/main">
            <a:off x="1512000" y="3096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Novel contracts</a:t>
            </a:r>
          </a:p>
        </p:txBody>
      </p:sp>
      <p:sp>
        <p:nvSpPr>
          <p:cNvPr id="100193" name="Fixed-23"/>
          <p:cNvSpPr/>
          <p:nvPr/>
        </p:nvSpPr>
        <p:spPr>
          <a:xfrm xmlns:a="http://schemas.openxmlformats.org/drawingml/2006/main">
            <a:off x="4824000" y="3096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rights stated in unseen documentation</a:t>
            </a:r>
          </a:p>
        </p:txBody>
      </p:sp>
      <p:sp>
        <p:nvSpPr>
          <p:cNvPr id="100194" name="Element-24"/>
          <p:cNvSpPr/>
          <p:nvPr/>
        </p:nvSpPr>
        <p:spPr>
          <a:xfrm xmlns:a="http://schemas.openxmlformats.org/drawingml/2006/main">
            <a:off x="792000" y="3556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5" name="Fixed-25"/>
          <p:cNvSpPr/>
          <p:nvPr/>
        </p:nvSpPr>
        <p:spPr>
          <a:xfrm xmlns:a="http://schemas.openxmlformats.org/drawingml/2006/main">
            <a:off x="792000" y="3600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H4</a:t>
            </a:r>
          </a:p>
        </p:txBody>
      </p:sp>
      <p:sp>
        <p:nvSpPr>
          <p:cNvPr id="100196" name="Fixed-26"/>
          <p:cNvSpPr/>
          <p:nvPr/>
        </p:nvSpPr>
        <p:spPr>
          <a:xfrm xmlns:a="http://schemas.openxmlformats.org/drawingml/2006/main">
            <a:off x="1512000" y="3600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Vendor semantics</a:t>
            </a:r>
          </a:p>
        </p:txBody>
      </p:sp>
      <p:sp>
        <p:nvSpPr>
          <p:cNvPr id="100197" name="Fixed-27"/>
          <p:cNvSpPr/>
          <p:nvPr/>
        </p:nvSpPr>
        <p:spPr>
          <a:xfrm xmlns:a="http://schemas.openxmlformats.org/drawingml/2006/main">
            <a:off x="4824000" y="3600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a field whose meaning is only documented</a:t>
            </a:r>
          </a:p>
        </p:txBody>
      </p:sp>
      <p:sp>
        <p:nvSpPr>
          <p:cNvPr id="100198" name="Element-28"/>
          <p:cNvSpPr/>
          <p:nvPr/>
        </p:nvSpPr>
        <p:spPr>
          <a:xfrm xmlns:a="http://schemas.openxmlformats.org/drawingml/2006/main">
            <a:off x="792000" y="4060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199" name="Fixed-29"/>
          <p:cNvSpPr/>
          <p:nvPr/>
        </p:nvSpPr>
        <p:spPr>
          <a:xfrm xmlns:a="http://schemas.openxmlformats.org/drawingml/2006/main">
            <a:off x="792000" y="4104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H5</a:t>
            </a:r>
          </a:p>
        </p:txBody>
      </p:sp>
      <p:sp>
        <p:nvSpPr>
          <p:cNvPr id="100200" name="Fixed-30"/>
          <p:cNvSpPr/>
          <p:nvPr/>
        </p:nvSpPr>
        <p:spPr>
          <a:xfrm xmlns:a="http://schemas.openxmlformats.org/drawingml/2006/main">
            <a:off x="1512000" y="4104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20252D"/>
                </a:solidFill>
                <a:latin typeface="Arial"/>
                <a:ea typeface="Arial"/>
              </a:rPr>
              <a:t>Ambiguous refusals</a:t>
            </a:r>
          </a:p>
        </p:txBody>
      </p:sp>
      <p:sp>
        <p:nvSpPr>
          <p:cNvPr id="100201" name="Fixed-31"/>
          <p:cNvSpPr/>
          <p:nvPr/>
        </p:nvSpPr>
        <p:spPr>
          <a:xfrm xmlns:a="http://schemas.openxmlformats.org/drawingml/2006/main">
            <a:off x="4824000" y="4104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resuming the audit after a refusal</a:t>
            </a:r>
          </a:p>
        </p:txBody>
      </p:sp>
      <p:sp>
        <p:nvSpPr>
          <p:cNvPr id="100202" name="Element-32"/>
          <p:cNvSpPr/>
          <p:nvPr/>
        </p:nvSpPr>
        <p:spPr>
          <a:xfrm xmlns:a="http://schemas.openxmlformats.org/drawingml/2006/main">
            <a:off x="792000" y="4564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3" name="Fixed-33"/>
          <p:cNvSpPr/>
          <p:nvPr/>
        </p:nvSpPr>
        <p:spPr>
          <a:xfrm xmlns:a="http://schemas.openxmlformats.org/drawingml/2006/main">
            <a:off x="792000" y="4608000"/>
            <a:ext cx="612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B60036"/>
                </a:solidFill>
                <a:latin typeface="Arial"/>
                <a:ea typeface="Arial"/>
              </a:rPr>
              <a:t>H6</a:t>
            </a:r>
          </a:p>
        </p:txBody>
      </p:sp>
      <p:sp>
        <p:nvSpPr>
          <p:cNvPr id="100204" name="Fixed-34"/>
          <p:cNvSpPr/>
          <p:nvPr/>
        </p:nvSpPr>
        <p:spPr>
          <a:xfrm xmlns:a="http://schemas.openxmlformats.org/drawingml/2006/main">
            <a:off x="1512000" y="4608000"/>
            <a:ext cx="3204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800" b="1" i="0">
                <a:solidFill>
                  <a:srgbClr val="B60036"/>
                </a:solidFill>
                <a:latin typeface="Arial"/>
                <a:ea typeface="Arial"/>
              </a:rPr>
              <a:t>Hostile content</a:t>
            </a:r>
          </a:p>
        </p:txBody>
      </p:sp>
      <p:sp>
        <p:nvSpPr>
          <p:cNvPr id="100205" name="Fixed-35"/>
          <p:cNvSpPr/>
          <p:nvPr/>
        </p:nvSpPr>
        <p:spPr>
          <a:xfrm xmlns:a="http://schemas.openxmlformats.org/drawingml/2006/main">
            <a:off x="4824000" y="4608000"/>
            <a:ext cx="6576000" cy="43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600" b="0" i="0">
                <a:solidFill>
                  <a:srgbClr val="5C626C"/>
                </a:solidFill>
                <a:latin typeface="Arial"/>
                <a:ea typeface="Arial"/>
              </a:rPr>
              <a:t>an instruction obeyed from observed content</a:t>
            </a:r>
          </a:p>
        </p:txBody>
      </p:sp>
      <p:sp>
        <p:nvSpPr>
          <p:cNvPr id="100206" name="Element-36"/>
          <p:cNvSpPr/>
          <p:nvPr/>
        </p:nvSpPr>
        <p:spPr>
          <a:xfrm xmlns:a="http://schemas.openxmlformats.org/drawingml/2006/main">
            <a:off x="792000" y="50688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7" name="Element-37"/>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08" name="Caption-8"/>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H1–H5 quantify a possible gain. H6 quantifies a risk.</a:t>
            </a:r>
          </a:p>
        </p:txBody>
      </p:sp>
      <p:sp>
        <p:nvSpPr>
          <p:cNvPr id="100209" name="Fixed-39"/>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10" name="Fixed-40"/>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8</a:t>
            </a:r>
          </a:p>
        </p:txBody>
      </p:sp>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11"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c43f346d199e4aa3"/>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12"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13"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214"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215"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216"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Next steps</a:t>
            </a:r>
          </a:p>
        </p:txBody>
      </p:sp>
      <p:sp>
        <p:nvSpPr>
          <p:cNvPr id="100217"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18"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Next steps</a:t>
            </a:r>
          </a:p>
        </p:txBody>
      </p:sp>
      <p:sp>
        <p:nvSpPr>
          <p:cNvPr id="100219"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20" name="Fixed-12"/>
          <p:cNvSpPr/>
          <p:nvPr/>
        </p:nvSpPr>
        <p:spPr>
          <a:xfrm xmlns:a="http://schemas.openxmlformats.org/drawingml/2006/main">
            <a:off x="792000" y="1782000"/>
            <a:ext cx="4320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1</a:t>
            </a:r>
          </a:p>
        </p:txBody>
      </p:sp>
      <p:sp>
        <p:nvSpPr>
          <p:cNvPr id="100221" name="Fixed-13"/>
          <p:cNvSpPr/>
          <p:nvPr/>
        </p:nvSpPr>
        <p:spPr>
          <a:xfrm xmlns:a="http://schemas.openxmlformats.org/drawingml/2006/main">
            <a:off x="1494000" y="1782000"/>
            <a:ext cx="6252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Execute V0 on a held-out instance</a:t>
            </a:r>
          </a:p>
        </p:txBody>
      </p:sp>
      <p:sp>
        <p:nvSpPr>
          <p:cNvPr id="100222" name="Fixed-14"/>
          <p:cNvSpPr/>
          <p:nvPr/>
        </p:nvSpPr>
        <p:spPr>
          <a:xfrm xmlns:a="http://schemas.openxmlformats.org/drawingml/2006/main">
            <a:off x="792000" y="2646000"/>
            <a:ext cx="4320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2</a:t>
            </a:r>
          </a:p>
        </p:txBody>
      </p:sp>
      <p:sp>
        <p:nvSpPr>
          <p:cNvPr id="100223" name="Fixed-15"/>
          <p:cNvSpPr/>
          <p:nvPr/>
        </p:nvSpPr>
        <p:spPr>
          <a:xfrm xmlns:a="http://schemas.openxmlformats.org/drawingml/2006/main">
            <a:off x="1494000" y="2646000"/>
            <a:ext cx="6252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Develop a parameterisable test harness</a:t>
            </a:r>
          </a:p>
        </p:txBody>
      </p:sp>
      <p:sp>
        <p:nvSpPr>
          <p:cNvPr id="100224" name="Fixed-16"/>
          <p:cNvSpPr/>
          <p:nvPr/>
        </p:nvSpPr>
        <p:spPr>
          <a:xfrm xmlns:a="http://schemas.openxmlformats.org/drawingml/2006/main">
            <a:off x="792000" y="3510000"/>
            <a:ext cx="4320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3</a:t>
            </a:r>
          </a:p>
        </p:txBody>
      </p:sp>
      <p:sp>
        <p:nvSpPr>
          <p:cNvPr id="100225" name="Fixed-17"/>
          <p:cNvSpPr/>
          <p:nvPr/>
        </p:nvSpPr>
        <p:spPr>
          <a:xfrm xmlns:a="http://schemas.openxmlformats.org/drawingml/2006/main">
            <a:off x="1494000" y="3510000"/>
            <a:ext cx="6252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Build the scenario families for H2, H3 and H4</a:t>
            </a:r>
          </a:p>
        </p:txBody>
      </p:sp>
      <p:sp>
        <p:nvSpPr>
          <p:cNvPr id="100226" name="Fixed-18"/>
          <p:cNvSpPr/>
          <p:nvPr/>
        </p:nvSpPr>
        <p:spPr>
          <a:xfrm xmlns:a="http://schemas.openxmlformats.org/drawingml/2006/main">
            <a:off x="792000" y="4374000"/>
            <a:ext cx="432000" cy="50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200" b="1" i="0">
                <a:solidFill>
                  <a:srgbClr val="B60036"/>
                </a:solidFill>
                <a:latin typeface="Arial"/>
                <a:ea typeface="Arial"/>
              </a:rPr>
              <a:t>4</a:t>
            </a:r>
          </a:p>
        </p:txBody>
      </p:sp>
      <p:sp>
        <p:nvSpPr>
          <p:cNvPr id="100227" name="Fixed-19"/>
          <p:cNvSpPr/>
          <p:nvPr/>
        </p:nvSpPr>
        <p:spPr>
          <a:xfrm xmlns:a="http://schemas.openxmlformats.org/drawingml/2006/main">
            <a:off x="1494000" y="4374000"/>
            <a:ext cx="6252400" cy="61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000" b="0" i="0">
                <a:solidFill>
                  <a:srgbClr val="20252D"/>
                </a:solidFill>
                <a:latin typeface="Arial"/>
                <a:ea typeface="Arial"/>
              </a:rPr>
              <a:t>Deploy a reproducible platform</a:t>
            </a:r>
          </a:p>
        </p:txBody>
      </p:sp>
      <p:sp>
        <p:nvSpPr>
          <p:cNvPr id="100228" name="Element-20"/>
          <p:cNvSpPr/>
          <p:nvPr/>
        </p:nvSpPr>
        <p:spPr>
          <a:xfrm xmlns:a="http://schemas.openxmlformats.org/drawingml/2006/main">
            <a:off x="7998400" y="1782000"/>
            <a:ext cx="3401600" cy="2322000"/>
          </a:xfrm>
          <a:prstGeom xmlns:a="http://schemas.openxmlformats.org/drawingml/2006/main" prst="rect">
            <a:avLst/>
          </a:prstGeom>
          <a:solidFill xmlns:a="http://schemas.openxmlformats.org/drawingml/2006/main">
            <a:srgbClr val="FCF0F4"/>
          </a:solidFill>
          <a:ln xmlns:a="http://schemas.openxmlformats.org/drawingml/2006/main" w="12700">
            <a:solidFill>
              <a:srgbClr val="FCF0F4"/>
            </a:solid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29" name="Element-21"/>
          <p:cNvSpPr/>
          <p:nvPr/>
        </p:nvSpPr>
        <p:spPr>
          <a:xfrm xmlns:a="http://schemas.openxmlformats.org/drawingml/2006/main">
            <a:off x="7998400" y="1782000"/>
            <a:ext cx="50400" cy="23220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0" name="Fixed-22"/>
          <p:cNvSpPr/>
          <p:nvPr/>
        </p:nvSpPr>
        <p:spPr>
          <a:xfrm xmlns:a="http://schemas.openxmlformats.org/drawingml/2006/main">
            <a:off x="8304400" y="1879200"/>
            <a:ext cx="2789600" cy="34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700" b="1" i="0">
                <a:solidFill>
                  <a:srgbClr val="B60036"/>
                </a:solidFill>
                <a:latin typeface="Arial"/>
                <a:ea typeface="Arial"/>
              </a:rPr>
              <a:t>Support requested</a:t>
            </a:r>
          </a:p>
        </p:txBody>
      </p:sp>
      <p:sp>
        <p:nvSpPr>
          <p:cNvPr id="100231" name="Element-23"/>
          <p:cNvSpPr/>
          <p:nvPr/>
        </p:nvSpPr>
        <p:spPr>
          <a:xfrm xmlns:a="http://schemas.openxmlformats.org/drawingml/2006/main">
            <a:off x="8304400" y="2466000"/>
            <a:ext cx="162000" cy="396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2" name="Fixed-24"/>
          <p:cNvSpPr/>
          <p:nvPr/>
        </p:nvSpPr>
        <p:spPr>
          <a:xfrm xmlns:a="http://schemas.openxmlformats.org/drawingml/2006/main">
            <a:off x="8574400" y="2322000"/>
            <a:ext cx="271760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Access to real vendor artifacts</a:t>
            </a:r>
          </a:p>
        </p:txBody>
      </p:sp>
      <p:sp>
        <p:nvSpPr>
          <p:cNvPr id="100233" name="Element-25"/>
          <p:cNvSpPr/>
          <p:nvPr/>
        </p:nvSpPr>
        <p:spPr>
          <a:xfrm xmlns:a="http://schemas.openxmlformats.org/drawingml/2006/main">
            <a:off x="8304400" y="3348000"/>
            <a:ext cx="162000" cy="396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4" name="Fixed-26"/>
          <p:cNvSpPr/>
          <p:nvPr/>
        </p:nvSpPr>
        <p:spPr>
          <a:xfrm xmlns:a="http://schemas.openxmlformats.org/drawingml/2006/main">
            <a:off x="8574400" y="3204000"/>
            <a:ext cx="2717600" cy="75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An adversarial review of the register</a:t>
            </a:r>
          </a:p>
        </p:txBody>
      </p:sp>
      <p:sp>
        <p:nvSpPr>
          <p:cNvPr id="100235" name="Element-27"/>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36" name="Caption-9"/>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Order follows conditions, not dates.</a:t>
            </a:r>
          </a:p>
        </p:txBody>
      </p:sp>
      <p:sp>
        <p:nvSpPr>
          <p:cNvPr id="100237" name="Fixed-29"/>
          <p:cNvSpPr/>
          <p:nvPr/>
        </p:nvSpPr>
        <p:spPr>
          <a:xfrm xmlns:a="http://schemas.openxmlformats.org/drawingml/2006/main">
            <a:off x="792000" y="5781600"/>
            <a:ext cx="1060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350" b="0" i="0">
                <a:solidFill>
                  <a:srgbClr val="5C626C"/>
                </a:solidFill>
                <a:latin typeface="Arial"/>
                <a:ea typeface="Arial"/>
              </a:rPr>
              <a:t>AsiaCCS 2027 submission deadline: 11 December 2026, anywhere on Earth.</a:t>
            </a:r>
          </a:p>
        </p:txBody>
      </p:sp>
      <p:sp>
        <p:nvSpPr>
          <p:cNvPr id="100238" name="Fixed-30"/>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39" name="Fixed-31"/>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9</a:t>
            </a:r>
          </a:p>
        </p:txBody>
      </p:sp>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pic>
        <p:nvPicPr>
          <p:cNvPr id="100240" name="Picture 1" descr="SMart ILIA — UMONS"/>
          <p:cNvPicPr>
            <a:picLocks xmlns:a="http://schemas.openxmlformats.org/drawingml/2006/main" noChangeAspect="1"/>
          </p:cNvPicPr>
          <p:nvPr/>
        </p:nvPicPr>
        <p:blipFill>
          <a:blip xmlns:r="http://schemas.openxmlformats.org/officeDocument/2006/relationships" xmlns:a="http://schemas.openxmlformats.org/drawingml/2006/main" r:embed="R32bc4958de6749ec"/>
          <a:stretch xmlns:a="http://schemas.openxmlformats.org/drawingml/2006/main">
            <a:fillRect/>
          </a:stretch>
        </p:blipFill>
        <p:spPr>
          <a:xfrm xmlns:a="http://schemas.openxmlformats.org/drawingml/2006/main">
            <a:off x="9702000" y="216000"/>
            <a:ext cx="1699200" cy="582331"/>
          </a:xfrm>
          <a:prstGeom xmlns:a="http://schemas.openxmlformats.org/drawingml/2006/main" prst="rect">
            <a:avLst/>
          </a:prstGeom>
        </p:spPr>
      </p:pic>
      <p:sp>
        <p:nvSpPr>
          <p:cNvPr id="100241" name="Fixed-4"/>
          <p:cNvSpPr/>
          <p:nvPr/>
        </p:nvSpPr>
        <p:spPr>
          <a:xfrm xmlns:a="http://schemas.openxmlformats.org/drawingml/2006/main">
            <a:off x="7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Objective</a:t>
            </a:r>
          </a:p>
        </p:txBody>
      </p:sp>
      <p:sp>
        <p:nvSpPr>
          <p:cNvPr id="100242" name="Fixed-5"/>
          <p:cNvSpPr/>
          <p:nvPr/>
        </p:nvSpPr>
        <p:spPr>
          <a:xfrm xmlns:a="http://schemas.openxmlformats.org/drawingml/2006/main">
            <a:off x="25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Method</a:t>
            </a:r>
          </a:p>
        </p:txBody>
      </p:sp>
      <p:sp>
        <p:nvSpPr>
          <p:cNvPr id="100243" name="Fixed-6"/>
          <p:cNvSpPr/>
          <p:nvPr/>
        </p:nvSpPr>
        <p:spPr>
          <a:xfrm xmlns:a="http://schemas.openxmlformats.org/drawingml/2006/main">
            <a:off x="43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Control</a:t>
            </a:r>
          </a:p>
        </p:txBody>
      </p:sp>
      <p:sp>
        <p:nvSpPr>
          <p:cNvPr id="100244" name="Fixed-7"/>
          <p:cNvSpPr/>
          <p:nvPr/>
        </p:nvSpPr>
        <p:spPr>
          <a:xfrm xmlns:a="http://schemas.openxmlformats.org/drawingml/2006/main">
            <a:off x="61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5C626C"/>
                </a:solidFill>
                <a:latin typeface="Arial"/>
                <a:ea typeface="Arial"/>
              </a:rPr>
              <a:t>Hypotheses</a:t>
            </a:r>
          </a:p>
        </p:txBody>
      </p:sp>
      <p:sp>
        <p:nvSpPr>
          <p:cNvPr id="100245" name="Fixed-8"/>
          <p:cNvSpPr/>
          <p:nvPr/>
        </p:nvSpPr>
        <p:spPr>
          <a:xfrm xmlns:a="http://schemas.openxmlformats.org/drawingml/2006/main">
            <a:off x="7992000" y="288000"/>
            <a:ext cx="1656000" cy="27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200" b="0" i="0">
                <a:solidFill>
                  <a:srgbClr val="B60036"/>
                </a:solidFill>
                <a:latin typeface="Arial"/>
                <a:ea typeface="Arial"/>
              </a:rPr>
              <a:t>Next steps</a:t>
            </a:r>
          </a:p>
        </p:txBody>
      </p:sp>
      <p:sp>
        <p:nvSpPr>
          <p:cNvPr id="100246" name="Element-9"/>
          <p:cNvSpPr/>
          <p:nvPr/>
        </p:nvSpPr>
        <p:spPr>
          <a:xfrm xmlns:a="http://schemas.openxmlformats.org/drawingml/2006/main">
            <a:off x="7992000" y="529200"/>
            <a:ext cx="1656000" cy="16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47" name="Title"/>
          <p:cNvSpPr/>
          <p:nvPr/>
        </p:nvSpPr>
        <p:spPr>
          <a:xfrm xmlns:a="http://schemas.openxmlformats.org/drawingml/2006/main">
            <a:off x="792000" y="612000"/>
            <a:ext cx="8748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2900" b="1" i="0">
                <a:solidFill>
                  <a:srgbClr val="20252D"/>
                </a:solidFill>
                <a:latin typeface="Arial"/>
                <a:ea typeface="Arial"/>
              </a:rPr>
              <a:t>Reserve — declared coverage gaps</a:t>
            </a:r>
          </a:p>
        </p:txBody>
      </p:sp>
      <p:sp>
        <p:nvSpPr>
          <p:cNvPr id="100248" name="Element-11"/>
          <p:cNvSpPr/>
          <p:nvPr/>
        </p:nvSpPr>
        <p:spPr>
          <a:xfrm xmlns:a="http://schemas.openxmlformats.org/drawingml/2006/main">
            <a:off x="792000" y="1303200"/>
            <a:ext cx="1224000" cy="25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49" name="Element-12"/>
          <p:cNvSpPr/>
          <p:nvPr/>
        </p:nvSpPr>
        <p:spPr>
          <a:xfrm xmlns:a="http://schemas.openxmlformats.org/drawingml/2006/main">
            <a:off x="792000" y="1926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0" name="Fixed-13"/>
          <p:cNvSpPr/>
          <p:nvPr/>
        </p:nvSpPr>
        <p:spPr>
          <a:xfrm xmlns:a="http://schemas.openxmlformats.org/drawingml/2006/main">
            <a:off x="1170000" y="1818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Physical impact and functional safety</a:t>
            </a:r>
          </a:p>
        </p:txBody>
      </p:sp>
      <p:sp>
        <p:nvSpPr>
          <p:cNvPr id="100251" name="Element-14"/>
          <p:cNvSpPr/>
          <p:nvPr/>
        </p:nvSpPr>
        <p:spPr>
          <a:xfrm xmlns:a="http://schemas.openxmlformats.org/drawingml/2006/main">
            <a:off x="792000" y="2520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2" name="Element-15"/>
          <p:cNvSpPr/>
          <p:nvPr/>
        </p:nvSpPr>
        <p:spPr>
          <a:xfrm xmlns:a="http://schemas.openxmlformats.org/drawingml/2006/main">
            <a:off x="792000" y="2808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3" name="Fixed-16"/>
          <p:cNvSpPr/>
          <p:nvPr/>
        </p:nvSpPr>
        <p:spPr>
          <a:xfrm xmlns:a="http://schemas.openxmlformats.org/drawingml/2006/main">
            <a:off x="1170000" y="2700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Device fragility under probing</a:t>
            </a:r>
          </a:p>
        </p:txBody>
      </p:sp>
      <p:sp>
        <p:nvSpPr>
          <p:cNvPr id="100254" name="Element-17"/>
          <p:cNvSpPr/>
          <p:nvPr/>
        </p:nvSpPr>
        <p:spPr>
          <a:xfrm xmlns:a="http://schemas.openxmlformats.org/drawingml/2006/main">
            <a:off x="792000" y="3402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5" name="Element-18"/>
          <p:cNvSpPr/>
          <p:nvPr/>
        </p:nvSpPr>
        <p:spPr>
          <a:xfrm xmlns:a="http://schemas.openxmlformats.org/drawingml/2006/main">
            <a:off x="792000" y="3690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6" name="Fixed-19"/>
          <p:cNvSpPr/>
          <p:nvPr/>
        </p:nvSpPr>
        <p:spPr>
          <a:xfrm xmlns:a="http://schemas.openxmlformats.org/drawingml/2006/main">
            <a:off x="1170000" y="3582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Real fleet scale</a:t>
            </a:r>
          </a:p>
        </p:txBody>
      </p:sp>
      <p:sp>
        <p:nvSpPr>
          <p:cNvPr id="100257" name="Element-20"/>
          <p:cNvSpPr/>
          <p:nvPr/>
        </p:nvSpPr>
        <p:spPr>
          <a:xfrm xmlns:a="http://schemas.openxmlformats.org/drawingml/2006/main">
            <a:off x="792000" y="4284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8" name="Element-21"/>
          <p:cNvSpPr/>
          <p:nvPr/>
        </p:nvSpPr>
        <p:spPr>
          <a:xfrm xmlns:a="http://schemas.openxmlformats.org/drawingml/2006/main">
            <a:off x="792000" y="4572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59" name="Fixed-22"/>
          <p:cNvSpPr/>
          <p:nvPr/>
        </p:nvSpPr>
        <p:spPr>
          <a:xfrm xmlns:a="http://schemas.openxmlformats.org/drawingml/2006/main">
            <a:off x="1170000" y="4464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Proprietary industrial protocols that are not simulated</a:t>
            </a:r>
          </a:p>
        </p:txBody>
      </p:sp>
      <p:sp>
        <p:nvSpPr>
          <p:cNvPr id="100260" name="Element-23"/>
          <p:cNvSpPr/>
          <p:nvPr/>
        </p:nvSpPr>
        <p:spPr>
          <a:xfrm xmlns:a="http://schemas.openxmlformats.org/drawingml/2006/main">
            <a:off x="6384000" y="1926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1" name="Fixed-24"/>
          <p:cNvSpPr/>
          <p:nvPr/>
        </p:nvSpPr>
        <p:spPr>
          <a:xfrm xmlns:a="http://schemas.openxmlformats.org/drawingml/2006/main">
            <a:off x="6762000" y="1818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Complete multi-step exploitation chains</a:t>
            </a:r>
          </a:p>
        </p:txBody>
      </p:sp>
      <p:sp>
        <p:nvSpPr>
          <p:cNvPr id="100262" name="Element-25"/>
          <p:cNvSpPr/>
          <p:nvPr/>
        </p:nvSpPr>
        <p:spPr>
          <a:xfrm xmlns:a="http://schemas.openxmlformats.org/drawingml/2006/main">
            <a:off x="6384000" y="2520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3" name="Element-26"/>
          <p:cNvSpPr/>
          <p:nvPr/>
        </p:nvSpPr>
        <p:spPr>
          <a:xfrm xmlns:a="http://schemas.openxmlformats.org/drawingml/2006/main">
            <a:off x="6384000" y="3249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4" name="Fixed-27"/>
          <p:cNvSpPr/>
          <p:nvPr/>
        </p:nvSpPr>
        <p:spPr>
          <a:xfrm xmlns:a="http://schemas.openxmlformats.org/drawingml/2006/main">
            <a:off x="6762000" y="3141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Abstention and calibration</a:t>
            </a:r>
          </a:p>
        </p:txBody>
      </p:sp>
      <p:sp>
        <p:nvSpPr>
          <p:cNvPr id="100265" name="Element-28"/>
          <p:cNvSpPr/>
          <p:nvPr/>
        </p:nvSpPr>
        <p:spPr>
          <a:xfrm xmlns:a="http://schemas.openxmlformats.org/drawingml/2006/main">
            <a:off x="6384000" y="3843000"/>
            <a:ext cx="5016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6" name="Element-29"/>
          <p:cNvSpPr/>
          <p:nvPr/>
        </p:nvSpPr>
        <p:spPr>
          <a:xfrm xmlns:a="http://schemas.openxmlformats.org/drawingml/2006/main">
            <a:off x="6384000" y="4572000"/>
            <a:ext cx="198000" cy="43200"/>
          </a:xfrm>
          <a:prstGeom xmlns:a="http://schemas.openxmlformats.org/drawingml/2006/main" prst="rect">
            <a:avLst/>
          </a:prstGeom>
          <a:solidFill xmlns:a="http://schemas.openxmlformats.org/drawingml/2006/main">
            <a:srgbClr val="B60036"/>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7" name="Fixed-30"/>
          <p:cNvSpPr/>
          <p:nvPr/>
        </p:nvSpPr>
        <p:spPr>
          <a:xfrm xmlns:a="http://schemas.openxmlformats.org/drawingml/2006/main">
            <a:off x="6762000" y="4464000"/>
            <a:ext cx="46380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1600" b="0" i="0">
                <a:solidFill>
                  <a:srgbClr val="20252D"/>
                </a:solidFill>
                <a:latin typeface="Arial"/>
                <a:ea typeface="Arial"/>
              </a:rPr>
              <a:t>Generic IT scenarios, deliberately excluded</a:t>
            </a:r>
          </a:p>
        </p:txBody>
      </p:sp>
      <p:sp>
        <p:nvSpPr>
          <p:cNvPr id="100268" name="Element-31"/>
          <p:cNvSpPr/>
          <p:nvPr/>
        </p:nvSpPr>
        <p:spPr>
          <a:xfrm xmlns:a="http://schemas.openxmlformats.org/drawingml/2006/main">
            <a:off x="792000" y="5335200"/>
            <a:ext cx="10608000" cy="10800"/>
          </a:xfrm>
          <a:prstGeom xmlns:a="http://schemas.openxmlformats.org/drawingml/2006/main" prst="rect">
            <a:avLst/>
          </a:prstGeom>
          <a:solidFill xmlns:a="http://schemas.openxmlformats.org/drawingml/2006/main">
            <a:srgbClr val="D9DEE5"/>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endParaRPr lang="en-US" sz="1800" b="0" i="0">
              <a:solidFill>
                <a:srgbClr val="20252D"/>
              </a:solidFill>
              <a:latin typeface="Arial"/>
              <a:ea typeface="Arial"/>
            </a:endParaRPr>
          </a:p>
        </p:txBody>
      </p:sp>
      <p:sp>
        <p:nvSpPr>
          <p:cNvPr id="100269" name="Caption-10"/>
          <p:cNvSpPr/>
          <p:nvPr/>
        </p:nvSpPr>
        <p:spPr>
          <a:xfrm xmlns:a="http://schemas.openxmlformats.org/drawingml/2006/main">
            <a:off x="792000" y="5356800"/>
            <a:ext cx="10608000" cy="86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t">
            <a:noAutofit/>
          </a:bodyPr>
          <a:lstStyle xmlns:a="http://schemas.openxmlformats.org/drawingml/2006/main"/>
          <a:p xmlns:a="http://schemas.openxmlformats.org/drawingml/2006/main">
            <a:pPr algn="l"/>
            <a:r>
              <a:rPr lang="en-US" sz="2100" b="1">
                <a:solidFill>
                  <a:srgbClr val="B60036"/>
                </a:solidFill>
                <a:latin typeface="Arial"/>
                <a:ea typeface="Arial"/>
              </a:rPr>
              <a:t>A benchmark that states its gaps is stronger than one that claims full coverage.</a:t>
            </a:r>
          </a:p>
        </p:txBody>
      </p:sp>
      <p:sp>
        <p:nvSpPr>
          <p:cNvPr id="100270" name="Fixed-33"/>
          <p:cNvSpPr/>
          <p:nvPr/>
        </p:nvSpPr>
        <p:spPr>
          <a:xfrm xmlns:a="http://schemas.openxmlformats.org/drawingml/2006/main">
            <a:off x="792000" y="6444000"/>
            <a:ext cx="5040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l"/>
            <a:r>
              <a:rPr lang="en-US" sz="1050" b="0" i="0">
                <a:solidFill>
                  <a:srgbClr val="5C626C"/>
                </a:solidFill>
                <a:latin typeface="Arial"/>
                <a:ea typeface="Arial"/>
              </a:rPr>
              <a:t>Project LANCE — NATO SPS G6259</a:t>
            </a:r>
          </a:p>
        </p:txBody>
      </p:sp>
      <p:sp>
        <p:nvSpPr>
          <p:cNvPr id="100271" name="Fixed-34"/>
          <p:cNvSpPr/>
          <p:nvPr/>
        </p:nvSpPr>
        <p:spPr>
          <a:xfrm xmlns:a="http://schemas.openxmlformats.org/drawingml/2006/main">
            <a:off x="10752000" y="6444000"/>
            <a:ext cx="648000" cy="19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r"/>
            <a:r>
              <a:rPr lang="en-US" sz="1050" b="0" i="0">
                <a:solidFill>
                  <a:srgbClr val="5C626C"/>
                </a:solidFill>
                <a:latin typeface="Arial"/>
                <a:ea typeface="Arial"/>
              </a:rPr>
              <a:t>10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OfficeCLI/1.0.158</ap:Application>
</ap:Properties>
</file>

<file path=docProps/core.xml><?xml version="1.0" encoding="utf-8"?>
<coreProperties xmlns:dc="http://purl.org/dc/elements/1.1/" xmlns:dcterms="http://purl.org/dc/terms/" xmlns:xsi="http://www.w3.org/2001/XMLSchema-instance" xmlns="http://schemas.openxmlformats.org/package/2006/metadata/core-properties">
  <dc:creator>Project LANCE</dc:creator>
  <dcterms:created xsi:type="dcterms:W3CDTF">2026-10-22T10:03:35.0000000Z</dcterms:created>
  <lastModifiedBy>OfficeCLI</lastModifiedBy>
  <dcterms:modified xsi:type="dcterms:W3CDTF">2026-10-22T10:03:36.2782150Z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1.0.158</vt:lpwstr>
  </op:property>
  <op:property fmtid="{D5CDD505-2E9C-101B-9397-08002B2CF9AE}" pid="3" name="OfficeCLI.LastModified">
    <vt:lpwstr xmlns:vt="http://schemas.openxmlformats.org/officeDocument/2006/docPropsVTypes">2026-10-22T10:03:43Z</vt:lpwstr>
  </op:property>
</op:Properties>
</file>