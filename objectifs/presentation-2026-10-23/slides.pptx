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Default Extension="jpg" ContentType="image/jpe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officeDocument/2006/relationships/officeDocument" Target="/ppt/presentation.xml" Id="R912afad120cf41e4" /><Relationship Type="http://schemas.openxmlformats.org/package/2006/relationships/metadata/core-properties" Target="/docProps/core.xml" Id="R07a4b1766ebe4c7e" /><Relationship Type="http://schemas.openxmlformats.org/officeDocument/2006/relationships/extended-properties" Target="/docProps/app.xml" Id="R980c311f21f94cc7" /><Relationship Type="http://schemas.openxmlformats.org/officeDocument/2006/relationships/custom-properties" Target="/docProps/custom.xml" Id="R7856065d7ef84c1b"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2edf6f93ace845a8"/>
  </p:notesMasterIdLst>
  <p:sldIdLst>
    <p:sldId id="256" r:id="R2f5ba9c603924d41"/>
    <p:sldId id="257" r:id="R055d8308230b41e0"/>
    <p:sldId id="258" r:id="R4171784fbc334d40"/>
    <p:sldId id="259" r:id="R53a288a4ce39401a"/>
    <p:sldId id="260" r:id="R42d79c8c49064ebd"/>
    <p:sldId id="261" r:id="R2df40763709a4116"/>
    <p:sldId id="262" r:id="R70434e66082f40c4"/>
    <p:sldId id="263" r:id="Rc296c27bed7f4af1"/>
    <p:sldId id="264" r:id="R7e7d04c0154a470d"/>
    <p:sldId id="265" r:id="R15a1f93a562c4bb4"/>
    <p:sldId id="266" r:id="R5358b48532954b43"/>
    <p:sldId id="267" r:id="R67d378f2e94e4ff8"/>
    <p:sldId id="268" r:id="R26a06433c9174aa4"/>
  </p:sldIdLst>
  <p:sldSz cx="12192000" cy="6858000" type="custom"/>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2f5ba9c603924d41" /><Relationship Type="http://schemas.openxmlformats.org/officeDocument/2006/relationships/notesMaster" Target="/ppt/notesMasters/notesMaster1.xml" Id="R2edf6f93ace845a8" /><Relationship Type="http://schemas.openxmlformats.org/officeDocument/2006/relationships/slide" Target="/ppt/slides/slide2.xml" Id="R055d8308230b41e0" /><Relationship Type="http://schemas.openxmlformats.org/officeDocument/2006/relationships/slide" Target="/ppt/slides/slide3.xml" Id="R4171784fbc334d40" /><Relationship Type="http://schemas.openxmlformats.org/officeDocument/2006/relationships/slide" Target="/ppt/slides/slide4.xml" Id="R53a288a4ce39401a" /><Relationship Type="http://schemas.openxmlformats.org/officeDocument/2006/relationships/slide" Target="/ppt/slides/slide5.xml" Id="R42d79c8c49064ebd" /><Relationship Type="http://schemas.openxmlformats.org/officeDocument/2006/relationships/slide" Target="/ppt/slides/slide6.xml" Id="R2df40763709a4116" /><Relationship Type="http://schemas.openxmlformats.org/officeDocument/2006/relationships/slide" Target="/ppt/slides/slide7.xml" Id="R70434e66082f40c4" /><Relationship Type="http://schemas.openxmlformats.org/officeDocument/2006/relationships/slide" Target="/ppt/slides/slide8.xml" Id="Rc296c27bed7f4af1" /><Relationship Type="http://schemas.openxmlformats.org/officeDocument/2006/relationships/slide" Target="/ppt/slides/slide9.xml" Id="R7e7d04c0154a470d" /><Relationship Type="http://schemas.openxmlformats.org/officeDocument/2006/relationships/slide" Target="/ppt/slides/slide10.xml" Id="R15a1f93a562c4bb4" /><Relationship Type="http://schemas.openxmlformats.org/officeDocument/2006/relationships/slide" Target="/ppt/slides/slide11.xml" Id="R5358b48532954b43" /><Relationship Type="http://schemas.openxmlformats.org/officeDocument/2006/relationships/slide" Target="/ppt/slides/slide12.xml" Id="R67d378f2e94e4ff8" /><Relationship Type="http://schemas.openxmlformats.org/officeDocument/2006/relationships/slide" Target="/ppt/slides/slide13.xml" Id="R26a06433c9174aa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7eeea18062d044e8"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4c66f0e9857b46f6" /><Relationship Type="http://schemas.openxmlformats.org/officeDocument/2006/relationships/slide" Target="/ppt/slides/slide1.xml" Id="Rfa5124214d834208" /></Relationships>
</file>

<file path=ppt/notesSlides/_rels/notesSlide2.xml.rels>&#65279;<?xml version="1.0" encoding="utf-8"?><Relationships xmlns="http://schemas.openxmlformats.org/package/2006/relationships"><Relationship Type="http://schemas.openxmlformats.org/officeDocument/2006/relationships/notesMaster" Target="/ppt/notesMasters/notesMaster1.xml" Id="Rfd47dc17c7a94e7f" /><Relationship Type="http://schemas.openxmlformats.org/officeDocument/2006/relationships/slide" Target="/ppt/slides/slide2.xml" Id="R4ab61916c2b04a8e" /></Relationships>
</file>

<file path=ppt/notesSlides/_rels/notesSlide3.xml.rels>&#65279;<?xml version="1.0" encoding="utf-8"?><Relationships xmlns="http://schemas.openxmlformats.org/package/2006/relationships"><Relationship Type="http://schemas.openxmlformats.org/officeDocument/2006/relationships/notesMaster" Target="/ppt/notesMasters/notesMaster1.xml" Id="Ra17bc27b95504b34" /><Relationship Type="http://schemas.openxmlformats.org/officeDocument/2006/relationships/slide" Target="/ppt/slides/slide3.xml" Id="R40ab9165ab57444e" /></Relationships>
</file>

<file path=ppt/notesSlides/_rels/notesSlide4.xml.rels>&#65279;<?xml version="1.0" encoding="utf-8"?><Relationships xmlns="http://schemas.openxmlformats.org/package/2006/relationships"><Relationship Type="http://schemas.openxmlformats.org/officeDocument/2006/relationships/notesMaster" Target="/ppt/notesMasters/notesMaster1.xml" Id="Re38d3966d85548c7" /><Relationship Type="http://schemas.openxmlformats.org/officeDocument/2006/relationships/slide" Target="/ppt/slides/slide4.xml" Id="Rfedc40bee6004b70" /></Relationships>
</file>

<file path=ppt/notesSlides/_rels/notesSlide5.xml.rels>&#65279;<?xml version="1.0" encoding="utf-8"?><Relationships xmlns="http://schemas.openxmlformats.org/package/2006/relationships"><Relationship Type="http://schemas.openxmlformats.org/officeDocument/2006/relationships/notesMaster" Target="/ppt/notesMasters/notesMaster1.xml" Id="Rb9b08d06766c48ed" /><Relationship Type="http://schemas.openxmlformats.org/officeDocument/2006/relationships/slide" Target="/ppt/slides/slide5.xml" Id="R6e9f78109dbd41e7" /></Relationships>
</file>

<file path=ppt/notesSlides/_rels/notesSlide6.xml.rels>&#65279;<?xml version="1.0" encoding="utf-8"?><Relationships xmlns="http://schemas.openxmlformats.org/package/2006/relationships"><Relationship Type="http://schemas.openxmlformats.org/officeDocument/2006/relationships/notesMaster" Target="/ppt/notesMasters/notesMaster1.xml" Id="Rd0af715332f647f3" /><Relationship Type="http://schemas.openxmlformats.org/officeDocument/2006/relationships/slide" Target="/ppt/slides/slide6.xml" Id="R4e4645e75833471c" /></Relationships>
</file>

<file path=ppt/notesSlides/_rels/notesSlide7.xml.rels>&#65279;<?xml version="1.0" encoding="utf-8"?><Relationships xmlns="http://schemas.openxmlformats.org/package/2006/relationships"><Relationship Type="http://schemas.openxmlformats.org/officeDocument/2006/relationships/notesMaster" Target="/ppt/notesMasters/notesMaster1.xml" Id="Rf4a78406e32d4004" /><Relationship Type="http://schemas.openxmlformats.org/officeDocument/2006/relationships/slide" Target="/ppt/slides/slide7.xml" Id="R91fb1c7f67014f46" /></Relationships>
</file>

<file path=ppt/notesSlides/_rels/notesSlide8.xml.rels>&#65279;<?xml version="1.0" encoding="utf-8"?><Relationships xmlns="http://schemas.openxmlformats.org/package/2006/relationships"><Relationship Type="http://schemas.openxmlformats.org/officeDocument/2006/relationships/notesMaster" Target="/ppt/notesMasters/notesMaster1.xml" Id="R711a17fe1c5d4ba0" /><Relationship Type="http://schemas.openxmlformats.org/officeDocument/2006/relationships/slide" Target="/ppt/slides/slide8.xml" Id="R57e33ce68dce445c" /></Relationships>
</file>

<file path=ppt/notesSlides/_rels/notesSlide9.xml.rels>&#65279;<?xml version="1.0" encoding="utf-8"?><Relationships xmlns="http://schemas.openxmlformats.org/package/2006/relationships"><Relationship Type="http://schemas.openxmlformats.org/officeDocument/2006/relationships/notesMaster" Target="/ppt/notesMasters/notesMaster1.xml" Id="R9c3c6cf98b9e4ec3" /><Relationship Type="http://schemas.openxmlformats.org/officeDocument/2006/relationships/slide" Target="/ppt/slides/slide9.xml" Id="R421f6f035dce4434" /></Relationships>
</file>

<file path=ppt/notesSlides/_rels/notesSlide10.xml.rels>&#65279;<?xml version="1.0" encoding="utf-8"?><Relationships xmlns="http://schemas.openxmlformats.org/package/2006/relationships"><Relationship Type="http://schemas.openxmlformats.org/officeDocument/2006/relationships/notesMaster" Target="/ppt/notesMasters/notesMaster1.xml" Id="Redab0c61c5a1476b" /><Relationship Type="http://schemas.openxmlformats.org/officeDocument/2006/relationships/slide" Target="/ppt/slides/slide10.xml" Id="R71d4d04b666c4fa1" /></Relationships>
</file>

<file path=ppt/notesSlides/_rels/notesSlide11.xml.rels>&#65279;<?xml version="1.0" encoding="utf-8"?><Relationships xmlns="http://schemas.openxmlformats.org/package/2006/relationships"><Relationship Type="http://schemas.openxmlformats.org/officeDocument/2006/relationships/notesMaster" Target="/ppt/notesMasters/notesMaster1.xml" Id="Rf62fc267efe44a63" /><Relationship Type="http://schemas.openxmlformats.org/officeDocument/2006/relationships/slide" Target="/ppt/slides/slide11.xml" Id="R83f03a0c20b8467f" /></Relationships>
</file>

<file path=ppt/notesSlides/_rels/notesSlide12.xml.rels>&#65279;<?xml version="1.0" encoding="utf-8"?><Relationships xmlns="http://schemas.openxmlformats.org/package/2006/relationships"><Relationship Type="http://schemas.openxmlformats.org/officeDocument/2006/relationships/notesMaster" Target="/ppt/notesMasters/notesMaster1.xml" Id="R004d2cb1944846be" /><Relationship Type="http://schemas.openxmlformats.org/officeDocument/2006/relationships/slide" Target="/ppt/slides/slide12.xml" Id="R53ff29c3262f4017" /></Relationships>
</file>

<file path=ppt/notesSlides/_rels/notesSlide13.xml.rels>&#65279;<?xml version="1.0" encoding="utf-8"?><Relationships xmlns="http://schemas.openxmlformats.org/package/2006/relationships"><Relationship Type="http://schemas.openxmlformats.org/officeDocument/2006/relationships/notesMaster" Target="/ppt/notesMasters/notesMaster1.xml" Id="R11e75c09381d4656" /><Relationship Type="http://schemas.openxmlformats.org/officeDocument/2006/relationships/slide" Target="/ppt/slides/slide13.xml" Id="Rc66fc9a907f0438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20 seconds.</a:t>
            </a:r>
          </a:p>
          <a:p xmlns:a="http://schemas.openxmlformats.org/drawingml/2006/main">
            <a:r>
              <a:rPr lang="en-US"/>
              <a:t>Cover. Say: this is a progress report, not a results talk.</a:t>
            </a:r>
          </a:p>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60 seconds.</a:t>
            </a:r>
          </a:p>
          <a:p xmlns:a="http://schemas.openxmlformats.org/drawingml/2006/main">
            <a:r>
              <a:rPr lang="en-US"/>
              <a:t>One sentence on the left, three commitments on the right. Do not read the three rows aloud; they qualify the sentence, they do not repeat it. Close on the last line.</a:t>
            </a:r>
          </a:p>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60 seconds.</a:t>
            </a:r>
          </a:p>
          <a:p xmlns:a="http://schemas.openxmlformats.org/drawingml/2006/main">
            <a:r>
              <a:rPr lang="en-US"/>
              <a:t>The platform conducts the audit. Left: what it does. Right: the dashboard of a running instance. The platform is one component; the next slides say what its results mean.</a:t>
            </a:r>
          </a:p>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50 seconds.</a:t>
            </a:r>
          </a:p>
          <a:p xmlns:a="http://schemas.openxmlformats.org/drawingml/2006/main">
            <a:r>
              <a:rPr lang="en-US"/>
              <a:t>Three pieces, three roles. The model is one piece among them. The last line is the methodological point: a run means nothing without a network whose truth is known.</a:t>
            </a:r>
          </a:p>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60 seconds.</a:t>
            </a:r>
          </a:p>
          <a:p xmlns:a="http://schemas.openxmlformats.org/drawingml/2006/main">
            <a:r>
              <a:rPr lang="en-US"/>
              <a:t>Three things, kept apart. The script is a fixed procedure. The LLM agent chooses its next step from the tool results. The harness holds the tools, the budget, the log and the scoring fixed. Only the decision-maker varies.</a:t>
            </a:r>
          </a:p>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60 seconds.</a:t>
            </a:r>
          </a:p>
          <a:p xmlns:a="http://schemas.openxmlformats.org/drawingml/2006/main">
            <a:r>
              <a:rPr lang="en-US"/>
              <a:t>Read left to right. The goal is set before the run. The scenario carries its own answer key. The benchmark compares what the platform reports with that key, never with the model's own conclusion.</a:t>
            </a:r>
          </a:p>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80 seconds.</a:t>
            </a:r>
          </a:p>
          <a:p xmlns:a="http://schemas.openxmlformats.org/drawingml/2006/main">
            <a:r>
              <a:rPr lang="en-US"/>
              <a:t>Two halves. Left: we recompute from the log, never from the conclusion. Right: the same trial runs on both configurations, so a false positive is visible. The bottom band is the second half of the rule.</a:t>
            </a:r>
          </a:p>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70 seconds.</a:t>
            </a:r>
          </a:p>
          <a:p xmlns:a="http://schemas.openxmlformats.org/drawingml/2006/main">
            <a:r>
              <a:rPr lang="en-US"/>
              <a:t>The gate is the condition of interpretation for everything else, and it binds both arms. Read the matrix by cells: the only cell that opens the hypotheses is the one where both arms pass — script check and model check.</a:t>
            </a:r>
          </a:p>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50 seconds.</a:t>
            </a:r>
          </a:p>
          <a:p xmlns:a="http://schemas.openxmlformats.org/drawingml/2006/main">
            <a:r>
              <a:rPr lang="en-US"/>
              <a:t>Both approaches succeed everywhere. That is a property of the instrument, not a verdict on the model: the scale is saturated, so the bars carry no difference.</a:t>
            </a:r>
          </a:p>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75 seconds.</a:t>
            </a:r>
          </a:p>
          <a:p xmlns:a="http://schemas.openxmlformats.org/drawingml/2006/main">
            <a:r>
              <a:rPr lang="en-US"/>
              <a:t>The objective does not change, its form does. Six network properties, six tests. H6 is detached on purpose: it is a risk, not a gain.</a:t>
            </a:r>
          </a:p>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60 seconds.</a:t>
            </a:r>
          </a:p>
          <a:p xmlns:a="http://schemas.openxmlformats.org/drawingml/2006/main">
            <a:r>
              <a:rPr lang="en-US"/>
              <a:t>Be explicit. This is the slide that buys credibility. Three limits, each stated as a claim we are not making, then the reason.</a:t>
            </a:r>
          </a:p>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70 seconds.</a:t>
            </a:r>
          </a:p>
          <a:p xmlns:a="http://schemas.openxmlformats.org/drawingml/2006/main">
            <a:r>
              <a:rPr lang="en-US"/>
              <a:t>Order follows conditions, not dates. Then the ask: vendor artifacts and an adversarial review of the register. Close on the deadline.</a:t>
            </a:r>
          </a:p>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0 seconds.</a:t>
            </a:r>
          </a:p>
          <a:p xmlns:a="http://schemas.openxmlformats.org/drawingml/2006/main">
            <a:r>
              <a:rPr lang="en-US"/>
              <a:t>A benchmark that states its gaps is stronger than one that claims full coverage. One line each, no discussion unless asked.</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5b5fb5ea067477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628b9373c17477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235293207304f6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9195cffa202415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9487fd081ef4e84"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c16a0bcd62e84f5f"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82d41ece764e4be0" /><Relationship Type="http://schemas.openxmlformats.org/officeDocument/2006/relationships/notesSlide" Target="/ppt/notesSlides/notesSlide1.xml" Id="R6106433d41e64575" /><Relationship Type="http://schemas.openxmlformats.org/officeDocument/2006/relationships/image" Target="/ppt/media/image.png" Id="R309e0c4846184a6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013dc3e624d4fab" /><Relationship Type="http://schemas.openxmlformats.org/officeDocument/2006/relationships/notesSlide" Target="/ppt/notesSlides/notesSlide2.xml" Id="R77bd621c71b74705" /><Relationship Type="http://schemas.openxmlformats.org/officeDocument/2006/relationships/image" Target="/ppt/media/image2.png" Id="Rc4db58707b834ba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c169bde0c0e4147" /><Relationship Type="http://schemas.openxmlformats.org/officeDocument/2006/relationships/notesSlide" Target="/ppt/notesSlides/notesSlide3.xml" Id="R281bab21e71f49cc" /><Relationship Type="http://schemas.openxmlformats.org/officeDocument/2006/relationships/image" Target="/ppt/media/image3.png" Id="R7239139de6374442" /><Relationship Type="http://schemas.openxmlformats.org/officeDocument/2006/relationships/image" Target="/ppt/media/image.jpg" Id="Rccf629835b444b7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97586788d3d46c9" /><Relationship Type="http://schemas.openxmlformats.org/officeDocument/2006/relationships/notesSlide" Target="/ppt/notesSlides/notesSlide4.xml" Id="R99228cc0ad4e4edf" /><Relationship Type="http://schemas.openxmlformats.org/officeDocument/2006/relationships/image" Target="/ppt/media/image4.png" Id="R00a45ce6deb1459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30c969c029b473c" /><Relationship Type="http://schemas.openxmlformats.org/officeDocument/2006/relationships/notesSlide" Target="/ppt/notesSlides/notesSlide5.xml" Id="R4fe34ce7692f469d" /><Relationship Type="http://schemas.openxmlformats.org/officeDocument/2006/relationships/image" Target="/ppt/media/image5.png" Id="R1c4dca6f2e8a4cc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bba97998f754cfa" /><Relationship Type="http://schemas.openxmlformats.org/officeDocument/2006/relationships/notesSlide" Target="/ppt/notesSlides/notesSlide6.xml" Id="Raa80e6e0f389424b" /><Relationship Type="http://schemas.openxmlformats.org/officeDocument/2006/relationships/image" Target="/ppt/media/image6.png" Id="Rba2a78b9ddb3436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71eba7c3a574cba" /><Relationship Type="http://schemas.openxmlformats.org/officeDocument/2006/relationships/notesSlide" Target="/ppt/notesSlides/notesSlide7.xml" Id="R93b5e94f5bc34a0d" /><Relationship Type="http://schemas.openxmlformats.org/officeDocument/2006/relationships/image" Target="/ppt/media/image7.png" Id="Rb852b7da142f4d3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1df58068e3f4791" /><Relationship Type="http://schemas.openxmlformats.org/officeDocument/2006/relationships/notesSlide" Target="/ppt/notesSlides/notesSlide8.xml" Id="R99290f1b330f4386" /><Relationship Type="http://schemas.openxmlformats.org/officeDocument/2006/relationships/image" Target="/ppt/media/image8.png" Id="R50391b6a49c543b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94f3d89d8134908" /><Relationship Type="http://schemas.openxmlformats.org/officeDocument/2006/relationships/notesSlide" Target="/ppt/notesSlides/notesSlide9.xml" Id="Rfbdc0b51a0374e35" /><Relationship Type="http://schemas.openxmlformats.org/officeDocument/2006/relationships/image" Target="/ppt/media/image9.png" Id="R93b3daba7c5043f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7877c19f68b4e6a" /><Relationship Type="http://schemas.openxmlformats.org/officeDocument/2006/relationships/notesSlide" Target="/ppt/notesSlides/notesSlide10.xml" Id="Rb35f3e28542b4703" /><Relationship Type="http://schemas.openxmlformats.org/officeDocument/2006/relationships/image" Target="/ppt/media/image10.png" Id="R6543bcb9de50400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571ba0b52e54f60" /><Relationship Type="http://schemas.openxmlformats.org/officeDocument/2006/relationships/notesSlide" Target="/ppt/notesSlides/notesSlide11.xml" Id="R3bd6391f1e3b4cca" /><Relationship Type="http://schemas.openxmlformats.org/officeDocument/2006/relationships/image" Target="/ppt/media/image11.png" Id="R70ba940686eb45f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9b0cd6e0b514739" /><Relationship Type="http://schemas.openxmlformats.org/officeDocument/2006/relationships/notesSlide" Target="/ppt/notesSlides/notesSlide12.xml" Id="R5e0ec9da6d254a4d" /><Relationship Type="http://schemas.openxmlformats.org/officeDocument/2006/relationships/image" Target="/ppt/media/image12.png" Id="R53678815104c43c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e5ef275d32e4896" /><Relationship Type="http://schemas.openxmlformats.org/officeDocument/2006/relationships/notesSlide" Target="/ppt/notesSlides/notesSlide13.xml" Id="R430709dd82dd4bb0" /><Relationship Type="http://schemas.openxmlformats.org/officeDocument/2006/relationships/image" Target="/ppt/media/image13.png" Id="R6ecc2dd8a41f4ed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00" name="Element-3"/>
          <p:cNvSpPr/>
          <p:nvPr/>
        </p:nvSpPr>
        <p:spPr>
          <a:xfrm xmlns:a="http://schemas.openxmlformats.org/drawingml/2006/main">
            <a:off x="792000" y="990000"/>
            <a:ext cx="50400" cy="2196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01" name="Fixed-4"/>
          <p:cNvSpPr/>
          <p:nvPr/>
        </p:nvSpPr>
        <p:spPr>
          <a:xfrm xmlns:a="http://schemas.openxmlformats.org/drawingml/2006/main">
            <a:off x="1206000" y="918000"/>
            <a:ext cx="7920000" cy="99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4600" b="1" i="0">
                <a:solidFill>
                  <a:srgbClr val="20252D"/>
                </a:solidFill>
                <a:latin typeface="Arial"/>
                <a:ea typeface="Arial"/>
              </a:rPr>
              <a:t>LANCE</a:t>
            </a:r>
          </a:p>
        </p:txBody>
      </p:sp>
      <p:sp>
        <p:nvSpPr>
          <p:cNvPr id="100002" name="Fixed-5"/>
          <p:cNvSpPr/>
          <p:nvPr/>
        </p:nvSpPr>
        <p:spPr>
          <a:xfrm xmlns:a="http://schemas.openxmlformats.org/drawingml/2006/main">
            <a:off x="1206000" y="1926000"/>
            <a:ext cx="7020000" cy="82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500" b="0" i="0">
                <a:solidFill>
                  <a:srgbClr val="5C626C"/>
                </a:solidFill>
                <a:latin typeface="Arial"/>
                <a:ea typeface="Arial"/>
              </a:rPr>
              <a:t>An autonomous and verifiable auditor</a:t>
            </a:r>
          </a:p>
          <a:p xmlns:a="http://schemas.openxmlformats.org/drawingml/2006/main">
            <a:pPr algn="l"/>
            <a:r>
              <a:rPr lang="en-US" sz="2500" b="0" i="0">
                <a:solidFill>
                  <a:srgbClr val="5C626C"/>
                </a:solidFill>
                <a:latin typeface="Arial"/>
                <a:ea typeface="Arial"/>
              </a:rPr>
              <a:t>for IoT/IIoT networks</a:t>
            </a:r>
          </a:p>
        </p:txBody>
      </p:sp>
      <p:sp>
        <p:nvSpPr>
          <p:cNvPr id="100003" name="Element-6"/>
          <p:cNvSpPr/>
          <p:nvPr/>
        </p:nvSpPr>
        <p:spPr>
          <a:xfrm xmlns:a="http://schemas.openxmlformats.org/drawingml/2006/main">
            <a:off x="792000" y="33300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04" name="Fixed-7"/>
          <p:cNvSpPr/>
          <p:nvPr/>
        </p:nvSpPr>
        <p:spPr>
          <a:xfrm xmlns:a="http://schemas.openxmlformats.org/drawingml/2006/main">
            <a:off x="1206000" y="3474000"/>
            <a:ext cx="720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B60036"/>
                </a:solidFill>
                <a:latin typeface="Arial"/>
                <a:ea typeface="Arial"/>
              </a:rPr>
              <a:t>Progress report — NATO SPS G6259</a:t>
            </a:r>
          </a:p>
        </p:txBody>
      </p:sp>
      <p:sp>
        <p:nvSpPr>
          <p:cNvPr id="100005" name="Fixed-8"/>
          <p:cNvSpPr/>
          <p:nvPr/>
        </p:nvSpPr>
        <p:spPr>
          <a:xfrm xmlns:a="http://schemas.openxmlformats.org/drawingml/2006/main">
            <a:off x="1206000" y="3870000"/>
            <a:ext cx="7200000" cy="30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500" b="0" i="0">
                <a:solidFill>
                  <a:srgbClr val="5C626C"/>
                </a:solidFill>
                <a:latin typeface="Arial"/>
                <a:ea typeface="Arial"/>
              </a:rPr>
              <a:t>23 October 2026  ·  Université de Mons, ILIA</a:t>
            </a:r>
          </a:p>
        </p:txBody>
      </p:sp>
      <p:sp>
        <p:nvSpPr>
          <p:cNvPr id="100006" name="Element-9"/>
          <p:cNvSpPr/>
          <p:nvPr/>
        </p:nvSpPr>
        <p:spPr>
          <a:xfrm xmlns:a="http://schemas.openxmlformats.org/drawingml/2006/main">
            <a:off x="792000" y="4788000"/>
            <a:ext cx="4536000" cy="576000"/>
          </a:xfrm>
          <a:prstGeom xmlns:a="http://schemas.openxmlformats.org/drawingml/2006/main" prst="rect">
            <a:avLst/>
          </a:prstGeom>
          <a:solidFill xmlns:a="http://schemas.openxmlformats.org/drawingml/2006/main">
            <a:srgbClr val="FCF0F4"/>
          </a:solidFill>
          <a:ln xmlns:a="http://schemas.openxmlformats.org/drawingml/2006/main" w="12700">
            <a:solidFill>
              <a:srgbClr val="FCF0F4"/>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07" name="Element-10"/>
          <p:cNvSpPr/>
          <p:nvPr/>
        </p:nvSpPr>
        <p:spPr>
          <a:xfrm xmlns:a="http://schemas.openxmlformats.org/drawingml/2006/main">
            <a:off x="792000" y="4788000"/>
            <a:ext cx="50400" cy="576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08" name="Fixed-11"/>
          <p:cNvSpPr/>
          <p:nvPr/>
        </p:nvSpPr>
        <p:spPr>
          <a:xfrm xmlns:a="http://schemas.openxmlformats.org/drawingml/2006/main">
            <a:off x="1134000" y="4788000"/>
            <a:ext cx="4032000" cy="5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0" i="1">
                <a:solidFill>
                  <a:srgbClr val="5C626C"/>
                </a:solidFill>
                <a:latin typeface="Arial"/>
                <a:ea typeface="Arial"/>
              </a:rPr>
              <a:t>Status: work in progress.</a:t>
            </a:r>
          </a:p>
        </p:txBody>
      </p:sp>
      <p:pic>
        <p:nvPicPr>
          <p:cNvPr id="100009"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309e0c4846184a64"/>
          <a:stretch xmlns:a="http://schemas.openxmlformats.org/drawingml/2006/main">
            <a:fillRect/>
          </a:stretch>
        </p:blipFill>
        <p:spPr>
          <a:xfrm xmlns:a="http://schemas.openxmlformats.org/drawingml/2006/main">
            <a:off x="9702000" y="504000"/>
            <a:ext cx="1872000" cy="641551"/>
          </a:xfrm>
          <a:prstGeom xmlns:a="http://schemas.openxmlformats.org/drawingml/2006/main" prst="rect">
            <a:avLst/>
          </a:prstGeom>
        </p:spPr>
      </p:pic>
    </p:spTree>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010"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c4db58707b834ba9"/>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011"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Objective</a:t>
            </a:r>
          </a:p>
        </p:txBody>
      </p:sp>
      <p:sp>
        <p:nvSpPr>
          <p:cNvPr id="100012" name="Element-5"/>
          <p:cNvSpPr/>
          <p:nvPr/>
        </p:nvSpPr>
        <p:spPr>
          <a:xfrm xmlns:a="http://schemas.openxmlformats.org/drawingml/2006/main">
            <a:off x="7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13" name="Fixed-6"/>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Instrument</a:t>
            </a:r>
          </a:p>
        </p:txBody>
      </p:sp>
      <p:sp>
        <p:nvSpPr>
          <p:cNvPr id="100014" name="Fixed-7"/>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015"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016"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Outlook</a:t>
            </a:r>
          </a:p>
        </p:txBody>
      </p:sp>
      <p:sp>
        <p:nvSpPr>
          <p:cNvPr id="100017"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The objective</a:t>
            </a:r>
          </a:p>
        </p:txBody>
      </p:sp>
      <p:sp>
        <p:nvSpPr>
          <p:cNvPr id="100018"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19" name="Fixed-12"/>
          <p:cNvSpPr/>
          <p:nvPr/>
        </p:nvSpPr>
        <p:spPr>
          <a:xfrm xmlns:a="http://schemas.openxmlformats.org/drawingml/2006/main">
            <a:off x="792000" y="1944000"/>
            <a:ext cx="4302400" cy="16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500" b="1" i="0">
                <a:solidFill>
                  <a:srgbClr val="20252D"/>
                </a:solidFill>
                <a:latin typeface="Arial"/>
                <a:ea typeface="Arial"/>
              </a:rPr>
              <a:t>An auditor that explores, identifies, verifies and reports.</a:t>
            </a:r>
          </a:p>
        </p:txBody>
      </p:sp>
      <p:sp>
        <p:nvSpPr>
          <p:cNvPr id="100020" name="Element-13"/>
          <p:cNvSpPr/>
          <p:nvPr/>
        </p:nvSpPr>
        <p:spPr>
          <a:xfrm xmlns:a="http://schemas.openxmlformats.org/drawingml/2006/main">
            <a:off x="5296000" y="1764000"/>
            <a:ext cx="6104000" cy="918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21" name="Element-14"/>
          <p:cNvSpPr/>
          <p:nvPr/>
        </p:nvSpPr>
        <p:spPr>
          <a:xfrm xmlns:a="http://schemas.openxmlformats.org/drawingml/2006/main">
            <a:off x="5296000" y="1962000"/>
            <a:ext cx="57600" cy="52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22" name="Fixed-15"/>
          <p:cNvSpPr/>
          <p:nvPr/>
        </p:nvSpPr>
        <p:spPr>
          <a:xfrm xmlns:a="http://schemas.openxmlformats.org/drawingml/2006/main">
            <a:off x="5602000" y="1900800"/>
            <a:ext cx="5564000" cy="37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Under which conditions</a:t>
            </a:r>
          </a:p>
        </p:txBody>
      </p:sp>
      <p:sp>
        <p:nvSpPr>
          <p:cNvPr id="100023" name="Fixed-16"/>
          <p:cNvSpPr/>
          <p:nvPr/>
        </p:nvSpPr>
        <p:spPr>
          <a:xfrm xmlns:a="http://schemas.openxmlformats.org/drawingml/2006/main">
            <a:off x="5602000" y="2296800"/>
            <a:ext cx="5564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0" i="0">
                <a:solidFill>
                  <a:srgbClr val="5C626C"/>
                </a:solidFill>
                <a:latin typeface="Arial"/>
                <a:ea typeface="Arial"/>
              </a:rPr>
              <a:t>rather than which model prevails</a:t>
            </a:r>
          </a:p>
        </p:txBody>
      </p:sp>
      <p:sp>
        <p:nvSpPr>
          <p:cNvPr id="100024" name="Element-17"/>
          <p:cNvSpPr/>
          <p:nvPr/>
        </p:nvSpPr>
        <p:spPr>
          <a:xfrm xmlns:a="http://schemas.openxmlformats.org/drawingml/2006/main">
            <a:off x="5296000" y="2862000"/>
            <a:ext cx="6104000" cy="918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25" name="Element-18"/>
          <p:cNvSpPr/>
          <p:nvPr/>
        </p:nvSpPr>
        <p:spPr>
          <a:xfrm xmlns:a="http://schemas.openxmlformats.org/drawingml/2006/main">
            <a:off x="5296000" y="3060000"/>
            <a:ext cx="57600" cy="52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26" name="Fixed-19"/>
          <p:cNvSpPr/>
          <p:nvPr/>
        </p:nvSpPr>
        <p:spPr>
          <a:xfrm xmlns:a="http://schemas.openxmlformats.org/drawingml/2006/main">
            <a:off x="5602000" y="2998800"/>
            <a:ext cx="5564000" cy="37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Identical tools and budget</a:t>
            </a:r>
          </a:p>
        </p:txBody>
      </p:sp>
      <p:sp>
        <p:nvSpPr>
          <p:cNvPr id="100027" name="Fixed-20"/>
          <p:cNvSpPr/>
          <p:nvPr/>
        </p:nvSpPr>
        <p:spPr>
          <a:xfrm xmlns:a="http://schemas.openxmlformats.org/drawingml/2006/main">
            <a:off x="5602000" y="3394800"/>
            <a:ext cx="5564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0" i="0">
                <a:solidFill>
                  <a:srgbClr val="5C626C"/>
                </a:solidFill>
                <a:latin typeface="Arial"/>
                <a:ea typeface="Arial"/>
              </a:rPr>
              <a:t>for both approaches</a:t>
            </a:r>
          </a:p>
        </p:txBody>
      </p:sp>
      <p:sp>
        <p:nvSpPr>
          <p:cNvPr id="100028" name="Element-21"/>
          <p:cNvSpPr/>
          <p:nvPr/>
        </p:nvSpPr>
        <p:spPr>
          <a:xfrm xmlns:a="http://schemas.openxmlformats.org/drawingml/2006/main">
            <a:off x="5296000" y="3960000"/>
            <a:ext cx="6104000" cy="918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29" name="Element-22"/>
          <p:cNvSpPr/>
          <p:nvPr/>
        </p:nvSpPr>
        <p:spPr>
          <a:xfrm xmlns:a="http://schemas.openxmlformats.org/drawingml/2006/main">
            <a:off x="5296000" y="4158000"/>
            <a:ext cx="57600" cy="52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30" name="Fixed-23"/>
          <p:cNvSpPr/>
          <p:nvPr/>
        </p:nvSpPr>
        <p:spPr>
          <a:xfrm xmlns:a="http://schemas.openxmlformats.org/drawingml/2006/main">
            <a:off x="5602000" y="4096800"/>
            <a:ext cx="5564000" cy="37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Evidence, not assertion</a:t>
            </a:r>
          </a:p>
        </p:txBody>
      </p:sp>
      <p:sp>
        <p:nvSpPr>
          <p:cNvPr id="100031" name="Fixed-24"/>
          <p:cNvSpPr/>
          <p:nvPr/>
        </p:nvSpPr>
        <p:spPr>
          <a:xfrm xmlns:a="http://schemas.openxmlformats.org/drawingml/2006/main">
            <a:off x="5602000" y="4492800"/>
            <a:ext cx="5564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0" i="0">
                <a:solidFill>
                  <a:srgbClr val="5C626C"/>
                </a:solidFill>
                <a:latin typeface="Arial"/>
                <a:ea typeface="Arial"/>
              </a:rPr>
              <a:t>recomputed from the log</a:t>
            </a:r>
          </a:p>
        </p:txBody>
      </p:sp>
      <p:sp>
        <p:nvSpPr>
          <p:cNvPr id="100032" name="Element-25"/>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33" name="Caption-2"/>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Model training is not a current priority.</a:t>
            </a:r>
          </a:p>
        </p:txBody>
      </p:sp>
      <p:sp>
        <p:nvSpPr>
          <p:cNvPr id="100034" name="Fixed-27"/>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035" name="Fixed-28"/>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2</a:t>
            </a:r>
          </a:p>
        </p:txBody>
      </p:sp>
    </p:spTree>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036"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7239139de6374442"/>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037"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Objective</a:t>
            </a:r>
          </a:p>
        </p:txBody>
      </p:sp>
      <p:sp>
        <p:nvSpPr>
          <p:cNvPr id="100038" name="Element-5"/>
          <p:cNvSpPr/>
          <p:nvPr/>
        </p:nvSpPr>
        <p:spPr>
          <a:xfrm xmlns:a="http://schemas.openxmlformats.org/drawingml/2006/main">
            <a:off x="7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39" name="Fixed-6"/>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Instrument</a:t>
            </a:r>
          </a:p>
        </p:txBody>
      </p:sp>
      <p:sp>
        <p:nvSpPr>
          <p:cNvPr id="100040" name="Fixed-7"/>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041"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042"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Outlook</a:t>
            </a:r>
          </a:p>
        </p:txBody>
      </p:sp>
      <p:sp>
        <p:nvSpPr>
          <p:cNvPr id="100043"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The platform in brief</a:t>
            </a:r>
          </a:p>
        </p:txBody>
      </p:sp>
      <p:sp>
        <p:nvSpPr>
          <p:cNvPr id="100044"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45" name="Fixed-12"/>
          <p:cNvSpPr/>
          <p:nvPr/>
        </p:nvSpPr>
        <p:spPr>
          <a:xfrm xmlns:a="http://schemas.openxmlformats.org/drawingml/2006/main">
            <a:off x="792000" y="1944000"/>
            <a:ext cx="430240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i="0">
                <a:solidFill>
                  <a:srgbClr val="20252D"/>
                </a:solidFill>
                <a:latin typeface="Arial"/>
                <a:ea typeface="Arial"/>
              </a:rPr>
              <a:t>A platform that runs the audit and keeps every run.</a:t>
            </a:r>
          </a:p>
        </p:txBody>
      </p:sp>
      <p:sp>
        <p:nvSpPr>
          <p:cNvPr id="100046" name="Element-13"/>
          <p:cNvSpPr/>
          <p:nvPr/>
        </p:nvSpPr>
        <p:spPr>
          <a:xfrm xmlns:a="http://schemas.openxmlformats.org/drawingml/2006/main">
            <a:off x="792000" y="2779200"/>
            <a:ext cx="50400" cy="43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47" name="Fixed-14"/>
          <p:cNvSpPr/>
          <p:nvPr/>
        </p:nvSpPr>
        <p:spPr>
          <a:xfrm xmlns:a="http://schemas.openxmlformats.org/drawingml/2006/main">
            <a:off x="990000" y="2736000"/>
            <a:ext cx="4104400" cy="52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500" b="0" i="0">
                <a:solidFill>
                  <a:srgbClr val="20252D"/>
                </a:solidFill>
                <a:latin typeface="Arial"/>
                <a:ea typeface="Arial"/>
              </a:rPr>
              <a:t>Six phases per run, from graph analysis to report.</a:t>
            </a:r>
          </a:p>
        </p:txBody>
      </p:sp>
      <p:sp>
        <p:nvSpPr>
          <p:cNvPr id="100048" name="Element-15"/>
          <p:cNvSpPr/>
          <p:nvPr/>
        </p:nvSpPr>
        <p:spPr>
          <a:xfrm xmlns:a="http://schemas.openxmlformats.org/drawingml/2006/main">
            <a:off x="792000" y="3398400"/>
            <a:ext cx="50400" cy="43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49" name="Fixed-16"/>
          <p:cNvSpPr/>
          <p:nvPr/>
        </p:nvSpPr>
        <p:spPr>
          <a:xfrm xmlns:a="http://schemas.openxmlformats.org/drawingml/2006/main">
            <a:off x="990000" y="3355200"/>
            <a:ext cx="4104400" cy="52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500" b="0" i="0">
                <a:solidFill>
                  <a:srgbClr val="20252D"/>
                </a:solidFill>
                <a:latin typeface="Arial"/>
                <a:ea typeface="Arial"/>
              </a:rPr>
              <a:t>Four execution modes: LANCE pipeline, rule-based audit, agent, script.</a:t>
            </a:r>
          </a:p>
        </p:txBody>
      </p:sp>
      <p:sp>
        <p:nvSpPr>
          <p:cNvPr id="100050" name="Element-17"/>
          <p:cNvSpPr/>
          <p:nvPr/>
        </p:nvSpPr>
        <p:spPr>
          <a:xfrm xmlns:a="http://schemas.openxmlformats.org/drawingml/2006/main">
            <a:off x="792000" y="4017600"/>
            <a:ext cx="50400" cy="43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51" name="Fixed-18"/>
          <p:cNvSpPr/>
          <p:nvPr/>
        </p:nvSpPr>
        <p:spPr>
          <a:xfrm xmlns:a="http://schemas.openxmlformats.org/drawingml/2006/main">
            <a:off x="990000" y="3974400"/>
            <a:ext cx="4104400" cy="52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500" b="0" i="0">
                <a:solidFill>
                  <a:srgbClr val="20252D"/>
                </a:solidFill>
                <a:latin typeface="Arial"/>
                <a:ea typeface="Arial"/>
              </a:rPr>
              <a:t>Each run is recorded with its observations, its evidence and its cost.</a:t>
            </a:r>
          </a:p>
        </p:txBody>
      </p:sp>
      <p:sp>
        <p:nvSpPr>
          <p:cNvPr id="100052" name="Element-19"/>
          <p:cNvSpPr/>
          <p:nvPr/>
        </p:nvSpPr>
        <p:spPr>
          <a:xfrm xmlns:a="http://schemas.openxmlformats.org/drawingml/2006/main">
            <a:off x="792000" y="4636800"/>
            <a:ext cx="50400" cy="43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53" name="Fixed-20"/>
          <p:cNvSpPr/>
          <p:nvPr/>
        </p:nvSpPr>
        <p:spPr>
          <a:xfrm xmlns:a="http://schemas.openxmlformats.org/drawingml/2006/main">
            <a:off x="990000" y="4593600"/>
            <a:ext cx="4104400" cy="52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500" b="0" i="0">
                <a:solidFill>
                  <a:srgbClr val="20252D"/>
                </a:solidFill>
                <a:latin typeface="Arial"/>
                <a:ea typeface="Arial"/>
              </a:rPr>
              <a:t>The Benchmark and Scenario Lab tabs sit beside it, on the same instance.</a:t>
            </a:r>
          </a:p>
        </p:txBody>
      </p:sp>
      <p:pic>
        <p:nvPicPr>
          <p:cNvPr id="100054" name="Picture 2" descr="LANCE platform dashboard: network topology and run controls"/>
          <p:cNvPicPr>
            <a:picLocks xmlns:a="http://schemas.openxmlformats.org/drawingml/2006/main" noChangeAspect="1"/>
          </p:cNvPicPr>
          <p:nvPr/>
        </p:nvPicPr>
        <p:blipFill>
          <a:blip xmlns:r="http://schemas.openxmlformats.org/officeDocument/2006/relationships" xmlns:a="http://schemas.openxmlformats.org/drawingml/2006/main" r:embed="Rccf629835b444b75"/>
          <a:stretch xmlns:a="http://schemas.openxmlformats.org/drawingml/2006/main">
            <a:fillRect/>
          </a:stretch>
        </p:blipFill>
        <p:spPr>
          <a:xfrm xmlns:a="http://schemas.openxmlformats.org/drawingml/2006/main">
            <a:off x="5640000" y="1620000"/>
            <a:ext cx="5760000" cy="3600000"/>
          </a:xfrm>
          <a:prstGeom xmlns:a="http://schemas.openxmlformats.org/drawingml/2006/main" prst="rect">
            <a:avLst/>
          </a:prstGeom>
        </p:spPr>
      </p:pic>
      <p:sp>
        <p:nvSpPr>
          <p:cNvPr id="100055" name="Element-22"/>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56" name="Caption-3"/>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The platform runs the audit; the laboratory and the benchmark decide what the result means.</a:t>
            </a:r>
          </a:p>
        </p:txBody>
      </p:sp>
      <p:sp>
        <p:nvSpPr>
          <p:cNvPr id="100057" name="Fixed-24"/>
          <p:cNvSpPr/>
          <p:nvPr/>
        </p:nvSpPr>
        <p:spPr>
          <a:xfrm xmlns:a="http://schemas.openxmlformats.org/drawingml/2006/main">
            <a:off x="792000" y="61128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Captures of the running instance, 22 October 2026.</a:t>
            </a:r>
          </a:p>
        </p:txBody>
      </p:sp>
      <p:sp>
        <p:nvSpPr>
          <p:cNvPr id="100058" name="Fixed-25"/>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059" name="Fixed-26"/>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3</a:t>
            </a:r>
          </a:p>
        </p:txBody>
      </p:sp>
    </p:spTree>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060"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00a45ce6deb1459e"/>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061"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062"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Instrument</a:t>
            </a:r>
          </a:p>
        </p:txBody>
      </p:sp>
      <p:sp>
        <p:nvSpPr>
          <p:cNvPr id="100063" name="Element-6"/>
          <p:cNvSpPr/>
          <p:nvPr/>
        </p:nvSpPr>
        <p:spPr>
          <a:xfrm xmlns:a="http://schemas.openxmlformats.org/drawingml/2006/main">
            <a:off x="25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64" name="Fixed-7"/>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065"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066"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Outlook</a:t>
            </a:r>
          </a:p>
        </p:txBody>
      </p:sp>
      <p:sp>
        <p:nvSpPr>
          <p:cNvPr id="100067"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The instrument</a:t>
            </a:r>
          </a:p>
        </p:txBody>
      </p:sp>
      <p:sp>
        <p:nvSpPr>
          <p:cNvPr id="100068"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69" name="Element-12"/>
          <p:cNvSpPr/>
          <p:nvPr/>
        </p:nvSpPr>
        <p:spPr>
          <a:xfrm xmlns:a="http://schemas.openxmlformats.org/drawingml/2006/main">
            <a:off x="792000" y="1692000"/>
            <a:ext cx="10608000" cy="10368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70" name="Element-13"/>
          <p:cNvSpPr/>
          <p:nvPr/>
        </p:nvSpPr>
        <p:spPr>
          <a:xfrm xmlns:a="http://schemas.openxmlformats.org/drawingml/2006/main">
            <a:off x="792000" y="1692000"/>
            <a:ext cx="151200" cy="10368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71" name="Fixed-14"/>
          <p:cNvSpPr/>
          <p:nvPr/>
        </p:nvSpPr>
        <p:spPr>
          <a:xfrm xmlns:a="http://schemas.openxmlformats.org/drawingml/2006/main">
            <a:off x="1206000" y="1692000"/>
            <a:ext cx="2160000" cy="103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300" b="1" i="0">
                <a:solidFill>
                  <a:srgbClr val="20252D"/>
                </a:solidFill>
                <a:latin typeface="Arial"/>
                <a:ea typeface="Arial"/>
              </a:rPr>
              <a:t>Laboratory</a:t>
            </a:r>
          </a:p>
        </p:txBody>
      </p:sp>
      <p:sp>
        <p:nvSpPr>
          <p:cNvPr id="100072" name="Fixed-15"/>
          <p:cNvSpPr/>
          <p:nvPr/>
        </p:nvSpPr>
        <p:spPr>
          <a:xfrm xmlns:a="http://schemas.openxmlformats.org/drawingml/2006/main">
            <a:off x="3510000" y="1692000"/>
            <a:ext cx="7602000" cy="103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500" b="0" i="0">
                <a:solidFill>
                  <a:srgbClr val="5C626C"/>
                </a:solidFill>
                <a:latin typeface="Arial"/>
                <a:ea typeface="Arial"/>
              </a:rPr>
              <a:t>networks with known ground truth</a:t>
            </a:r>
          </a:p>
        </p:txBody>
      </p:sp>
      <p:sp>
        <p:nvSpPr>
          <p:cNvPr id="100073" name="Element-16"/>
          <p:cNvSpPr/>
          <p:nvPr/>
        </p:nvSpPr>
        <p:spPr>
          <a:xfrm xmlns:a="http://schemas.openxmlformats.org/drawingml/2006/main">
            <a:off x="855000" y="2728800"/>
            <a:ext cx="25200" cy="792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74" name="Element-17"/>
          <p:cNvSpPr/>
          <p:nvPr/>
        </p:nvSpPr>
        <p:spPr>
          <a:xfrm xmlns:a="http://schemas.openxmlformats.org/drawingml/2006/main">
            <a:off x="792000" y="2808000"/>
            <a:ext cx="10608000" cy="1036800"/>
          </a:xfrm>
          <a:prstGeom xmlns:a="http://schemas.openxmlformats.org/drawingml/2006/main" prst="rect">
            <a:avLst/>
          </a:prstGeom>
          <a:solidFill xmlns:a="http://schemas.openxmlformats.org/drawingml/2006/main">
            <a:srgbClr val="EFF6FC"/>
          </a:solidFill>
          <a:ln xmlns:a="http://schemas.openxmlformats.org/drawingml/2006/main" w="12700">
            <a:solidFill>
              <a:srgbClr val="1D5C9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75" name="Element-18"/>
          <p:cNvSpPr/>
          <p:nvPr/>
        </p:nvSpPr>
        <p:spPr>
          <a:xfrm xmlns:a="http://schemas.openxmlformats.org/drawingml/2006/main">
            <a:off x="792000" y="2808000"/>
            <a:ext cx="151200" cy="1036800"/>
          </a:xfrm>
          <a:prstGeom xmlns:a="http://schemas.openxmlformats.org/drawingml/2006/main" prst="rect">
            <a:avLst/>
          </a:prstGeom>
          <a:solidFill xmlns:a="http://schemas.openxmlformats.org/drawingml/2006/main">
            <a:srgbClr val="1D5C9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76" name="Fixed-19"/>
          <p:cNvSpPr/>
          <p:nvPr/>
        </p:nvSpPr>
        <p:spPr>
          <a:xfrm xmlns:a="http://schemas.openxmlformats.org/drawingml/2006/main">
            <a:off x="1206000" y="2808000"/>
            <a:ext cx="2160000" cy="103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300" b="1" i="0">
                <a:solidFill>
                  <a:srgbClr val="1D5C96"/>
                </a:solidFill>
                <a:latin typeface="Arial"/>
                <a:ea typeface="Arial"/>
              </a:rPr>
              <a:t>Platform</a:t>
            </a:r>
          </a:p>
        </p:txBody>
      </p:sp>
      <p:sp>
        <p:nvSpPr>
          <p:cNvPr id="100077" name="Fixed-20"/>
          <p:cNvSpPr/>
          <p:nvPr/>
        </p:nvSpPr>
        <p:spPr>
          <a:xfrm xmlns:a="http://schemas.openxmlformats.org/drawingml/2006/main">
            <a:off x="3510000" y="2808000"/>
            <a:ext cx="7602000" cy="103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500" b="0" i="0">
                <a:solidFill>
                  <a:srgbClr val="5C626C"/>
                </a:solidFill>
                <a:latin typeface="Arial"/>
                <a:ea typeface="Arial"/>
              </a:rPr>
              <a:t>conducts the audit</a:t>
            </a:r>
          </a:p>
        </p:txBody>
      </p:sp>
      <p:sp>
        <p:nvSpPr>
          <p:cNvPr id="100078" name="Element-21"/>
          <p:cNvSpPr/>
          <p:nvPr/>
        </p:nvSpPr>
        <p:spPr>
          <a:xfrm xmlns:a="http://schemas.openxmlformats.org/drawingml/2006/main">
            <a:off x="855000" y="3844800"/>
            <a:ext cx="25200" cy="79200"/>
          </a:xfrm>
          <a:prstGeom xmlns:a="http://schemas.openxmlformats.org/drawingml/2006/main" prst="rect">
            <a:avLst/>
          </a:prstGeom>
          <a:solidFill xmlns:a="http://schemas.openxmlformats.org/drawingml/2006/main">
            <a:srgbClr val="1D5C9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79" name="Element-22"/>
          <p:cNvSpPr/>
          <p:nvPr/>
        </p:nvSpPr>
        <p:spPr>
          <a:xfrm xmlns:a="http://schemas.openxmlformats.org/drawingml/2006/main">
            <a:off x="792000" y="3924000"/>
            <a:ext cx="10608000" cy="1036800"/>
          </a:xfrm>
          <a:prstGeom xmlns:a="http://schemas.openxmlformats.org/drawingml/2006/main" prst="rect">
            <a:avLst/>
          </a:prstGeom>
          <a:solidFill xmlns:a="http://schemas.openxmlformats.org/drawingml/2006/main">
            <a:srgbClr val="FCF0F4"/>
          </a:solidFill>
          <a:ln xmlns:a="http://schemas.openxmlformats.org/drawingml/2006/main" w="12700">
            <a:solidFill>
              <a:srgbClr val="B6003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80" name="Element-23"/>
          <p:cNvSpPr/>
          <p:nvPr/>
        </p:nvSpPr>
        <p:spPr>
          <a:xfrm xmlns:a="http://schemas.openxmlformats.org/drawingml/2006/main">
            <a:off x="792000" y="3924000"/>
            <a:ext cx="151200" cy="10368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81" name="Fixed-24"/>
          <p:cNvSpPr/>
          <p:nvPr/>
        </p:nvSpPr>
        <p:spPr>
          <a:xfrm xmlns:a="http://schemas.openxmlformats.org/drawingml/2006/main">
            <a:off x="1206000" y="3924000"/>
            <a:ext cx="2160000" cy="103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300" b="1" i="0">
                <a:solidFill>
                  <a:srgbClr val="B60036"/>
                </a:solidFill>
                <a:latin typeface="Arial"/>
                <a:ea typeface="Arial"/>
              </a:rPr>
              <a:t>Benchmark</a:t>
            </a:r>
          </a:p>
        </p:txBody>
      </p:sp>
      <p:sp>
        <p:nvSpPr>
          <p:cNvPr id="100082" name="Fixed-25"/>
          <p:cNvSpPr/>
          <p:nvPr/>
        </p:nvSpPr>
        <p:spPr>
          <a:xfrm xmlns:a="http://schemas.openxmlformats.org/drawingml/2006/main">
            <a:off x="3510000" y="3924000"/>
            <a:ext cx="7602000" cy="103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500" b="0" i="0">
                <a:solidFill>
                  <a:srgbClr val="5C626C"/>
                </a:solidFill>
                <a:latin typeface="Arial"/>
                <a:ea typeface="Arial"/>
              </a:rPr>
              <a:t>assesses the result</a:t>
            </a:r>
          </a:p>
        </p:txBody>
      </p:sp>
      <p:sp>
        <p:nvSpPr>
          <p:cNvPr id="100083" name="Element-26"/>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84" name="Caption-4"/>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The model is one component among them.</a:t>
            </a:r>
          </a:p>
        </p:txBody>
      </p:sp>
      <p:sp>
        <p:nvSpPr>
          <p:cNvPr id="100085" name="Fixed-28"/>
          <p:cNvSpPr/>
          <p:nvPr/>
        </p:nvSpPr>
        <p:spPr>
          <a:xfrm xmlns:a="http://schemas.openxmlformats.org/drawingml/2006/main">
            <a:off x="792000" y="57816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A run constitutes a measurement only against known ground truth.</a:t>
            </a:r>
          </a:p>
        </p:txBody>
      </p:sp>
      <p:sp>
        <p:nvSpPr>
          <p:cNvPr id="100086" name="Fixed-29"/>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087" name="Fixed-30"/>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4</a:t>
            </a:r>
          </a:p>
        </p:txBody>
      </p:sp>
    </p:spTree>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088"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1c4dca6f2e8a4cc1"/>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089"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090"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Instrument</a:t>
            </a:r>
          </a:p>
        </p:txBody>
      </p:sp>
      <p:sp>
        <p:nvSpPr>
          <p:cNvPr id="100091" name="Element-6"/>
          <p:cNvSpPr/>
          <p:nvPr/>
        </p:nvSpPr>
        <p:spPr>
          <a:xfrm xmlns:a="http://schemas.openxmlformats.org/drawingml/2006/main">
            <a:off x="25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92" name="Fixed-7"/>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093"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094"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Outlook</a:t>
            </a:r>
          </a:p>
        </p:txBody>
      </p:sp>
      <p:sp>
        <p:nvSpPr>
          <p:cNvPr id="100095"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Script, LLM agent and harness</a:t>
            </a:r>
          </a:p>
        </p:txBody>
      </p:sp>
      <p:sp>
        <p:nvSpPr>
          <p:cNvPr id="100096"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97" name="Element-12"/>
          <p:cNvSpPr/>
          <p:nvPr/>
        </p:nvSpPr>
        <p:spPr>
          <a:xfrm xmlns:a="http://schemas.openxmlformats.org/drawingml/2006/main">
            <a:off x="792000" y="1656000"/>
            <a:ext cx="10608000" cy="3492000"/>
          </a:xfrm>
          <a:prstGeom xmlns:a="http://schemas.openxmlformats.org/drawingml/2006/main" prst="rect">
            <a:avLst/>
          </a:prstGeom>
          <a:solidFill xmlns:a="http://schemas.openxmlformats.org/drawingml/2006/main">
            <a:srgbClr val="EFF6FC"/>
          </a:solidFill>
          <a:ln xmlns:a="http://schemas.openxmlformats.org/drawingml/2006/main" w="12700">
            <a:solidFill>
              <a:srgbClr val="1D5C9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98" name="Fixed-13"/>
          <p:cNvSpPr/>
          <p:nvPr/>
        </p:nvSpPr>
        <p:spPr>
          <a:xfrm xmlns:a="http://schemas.openxmlformats.org/drawingml/2006/main">
            <a:off x="1008000" y="1782000"/>
            <a:ext cx="10176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500" b="1" i="0">
                <a:solidFill>
                  <a:srgbClr val="1D5C96"/>
                </a:solidFill>
                <a:latin typeface="Arial"/>
                <a:ea typeface="Arial"/>
              </a:rPr>
              <a:t>HARNESS  ·  fixed for both approaches: tools, budget, log, scoring</a:t>
            </a:r>
          </a:p>
        </p:txBody>
      </p:sp>
      <p:sp>
        <p:nvSpPr>
          <p:cNvPr id="100099" name="Element-14"/>
          <p:cNvSpPr/>
          <p:nvPr/>
        </p:nvSpPr>
        <p:spPr>
          <a:xfrm xmlns:a="http://schemas.openxmlformats.org/drawingml/2006/main">
            <a:off x="1008000" y="2232000"/>
            <a:ext cx="4980000" cy="1188000"/>
          </a:xfrm>
          <a:prstGeom xmlns:a="http://schemas.openxmlformats.org/drawingml/2006/main" prst="rect">
            <a:avLst/>
          </a:prstGeom>
          <a:solidFill xmlns:a="http://schemas.openxmlformats.org/drawingml/2006/main">
            <a:srgbClr val="FFFFFF"/>
          </a:solidFill>
          <a:ln xmlns:a="http://schemas.openxmlformats.org/drawingml/2006/main" w="12700">
            <a:solidFill>
              <a:srgbClr val="5C626C"/>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00" name="Element-15"/>
          <p:cNvSpPr/>
          <p:nvPr/>
        </p:nvSpPr>
        <p:spPr>
          <a:xfrm xmlns:a="http://schemas.openxmlformats.org/drawingml/2006/main">
            <a:off x="1008000" y="2232000"/>
            <a:ext cx="4980000" cy="504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01" name="Fixed-16"/>
          <p:cNvSpPr/>
          <p:nvPr/>
        </p:nvSpPr>
        <p:spPr>
          <a:xfrm xmlns:a="http://schemas.openxmlformats.org/drawingml/2006/main">
            <a:off x="1224000" y="2376000"/>
            <a:ext cx="4548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Script</a:t>
            </a:r>
          </a:p>
        </p:txBody>
      </p:sp>
      <p:sp>
        <p:nvSpPr>
          <p:cNvPr id="100102" name="Fixed-17"/>
          <p:cNvSpPr/>
          <p:nvPr/>
        </p:nvSpPr>
        <p:spPr>
          <a:xfrm xmlns:a="http://schemas.openxmlformats.org/drawingml/2006/main">
            <a:off x="1224000" y="2736000"/>
            <a:ext cx="454800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500" b="0" i="0">
                <a:solidFill>
                  <a:srgbClr val="20252D"/>
                </a:solidFill>
                <a:latin typeface="Arial"/>
                <a:ea typeface="Arial"/>
              </a:rPr>
              <a:t>A fixed procedure. The same steps run on every configuration. No model is involved.</a:t>
            </a:r>
          </a:p>
        </p:txBody>
      </p:sp>
      <p:sp>
        <p:nvSpPr>
          <p:cNvPr id="100103" name="Element-18"/>
          <p:cNvSpPr/>
          <p:nvPr/>
        </p:nvSpPr>
        <p:spPr>
          <a:xfrm xmlns:a="http://schemas.openxmlformats.org/drawingml/2006/main">
            <a:off x="3489000" y="3420000"/>
            <a:ext cx="18000" cy="3240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04" name="Element-19"/>
          <p:cNvSpPr/>
          <p:nvPr/>
        </p:nvSpPr>
        <p:spPr>
          <a:xfrm xmlns:a="http://schemas.openxmlformats.org/drawingml/2006/main">
            <a:off x="6204000" y="2232000"/>
            <a:ext cx="4980000" cy="1188000"/>
          </a:xfrm>
          <a:prstGeom xmlns:a="http://schemas.openxmlformats.org/drawingml/2006/main" prst="rect">
            <a:avLst/>
          </a:prstGeom>
          <a:solidFill xmlns:a="http://schemas.openxmlformats.org/drawingml/2006/main">
            <a:srgbClr val="FFFFFF"/>
          </a:solidFill>
          <a:ln xmlns:a="http://schemas.openxmlformats.org/drawingml/2006/main" w="12700">
            <a:solidFill>
              <a:srgbClr val="B6003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05" name="Element-20"/>
          <p:cNvSpPr/>
          <p:nvPr/>
        </p:nvSpPr>
        <p:spPr>
          <a:xfrm xmlns:a="http://schemas.openxmlformats.org/drawingml/2006/main">
            <a:off x="6204000" y="2232000"/>
            <a:ext cx="4980000" cy="504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06" name="Fixed-21"/>
          <p:cNvSpPr/>
          <p:nvPr/>
        </p:nvSpPr>
        <p:spPr>
          <a:xfrm xmlns:a="http://schemas.openxmlformats.org/drawingml/2006/main">
            <a:off x="6420000" y="2376000"/>
            <a:ext cx="4548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B60036"/>
                </a:solidFill>
                <a:latin typeface="Arial"/>
                <a:ea typeface="Arial"/>
              </a:rPr>
              <a:t>LLM agent</a:t>
            </a:r>
          </a:p>
        </p:txBody>
      </p:sp>
      <p:sp>
        <p:nvSpPr>
          <p:cNvPr id="100107" name="Fixed-22"/>
          <p:cNvSpPr/>
          <p:nvPr/>
        </p:nvSpPr>
        <p:spPr>
          <a:xfrm xmlns:a="http://schemas.openxmlformats.org/drawingml/2006/main">
            <a:off x="6420000" y="2736000"/>
            <a:ext cx="454800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500" b="0" i="0">
                <a:solidFill>
                  <a:srgbClr val="20252D"/>
                </a:solidFill>
                <a:latin typeface="Arial"/>
                <a:ea typeface="Arial"/>
              </a:rPr>
              <a:t>A model reads each tool result and chooses the next step, within the same budget.</a:t>
            </a:r>
          </a:p>
        </p:txBody>
      </p:sp>
      <p:sp>
        <p:nvSpPr>
          <p:cNvPr id="100108" name="Element-23"/>
          <p:cNvSpPr/>
          <p:nvPr/>
        </p:nvSpPr>
        <p:spPr>
          <a:xfrm xmlns:a="http://schemas.openxmlformats.org/drawingml/2006/main">
            <a:off x="8685000" y="3420000"/>
            <a:ext cx="18000" cy="324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09" name="Element-24"/>
          <p:cNvSpPr/>
          <p:nvPr/>
        </p:nvSpPr>
        <p:spPr>
          <a:xfrm xmlns:a="http://schemas.openxmlformats.org/drawingml/2006/main">
            <a:off x="1008000" y="3744000"/>
            <a:ext cx="10176000" cy="432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10" name="Fixed-25"/>
          <p:cNvSpPr/>
          <p:nvPr/>
        </p:nvSpPr>
        <p:spPr>
          <a:xfrm xmlns:a="http://schemas.openxmlformats.org/drawingml/2006/main">
            <a:off x="1152000" y="3744000"/>
            <a:ext cx="9888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600" b="0" i="0">
                <a:solidFill>
                  <a:srgbClr val="20252D"/>
                </a:solidFill>
                <a:latin typeface="Arial"/>
                <a:ea typeface="Arial"/>
              </a:rPr>
              <a:t>Tools: one shared set for both (scans, service probes, credential tests, file reads)</a:t>
            </a:r>
          </a:p>
        </p:txBody>
      </p:sp>
      <p:sp>
        <p:nvSpPr>
          <p:cNvPr id="100111" name="Element-26"/>
          <p:cNvSpPr/>
          <p:nvPr/>
        </p:nvSpPr>
        <p:spPr>
          <a:xfrm xmlns:a="http://schemas.openxmlformats.org/drawingml/2006/main">
            <a:off x="6087000" y="4176000"/>
            <a:ext cx="18000" cy="144000"/>
          </a:xfrm>
          <a:prstGeom xmlns:a="http://schemas.openxmlformats.org/drawingml/2006/main" prst="rect">
            <a:avLst/>
          </a:prstGeom>
          <a:solidFill xmlns:a="http://schemas.openxmlformats.org/drawingml/2006/main">
            <a:srgbClr val="1D5C9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12" name="Element-27"/>
          <p:cNvSpPr/>
          <p:nvPr/>
        </p:nvSpPr>
        <p:spPr>
          <a:xfrm xmlns:a="http://schemas.openxmlformats.org/drawingml/2006/main">
            <a:off x="1008000" y="4320000"/>
            <a:ext cx="10176000" cy="432000"/>
          </a:xfrm>
          <a:prstGeom xmlns:a="http://schemas.openxmlformats.org/drawingml/2006/main" prst="rect">
            <a:avLst/>
          </a:prstGeom>
          <a:solidFill xmlns:a="http://schemas.openxmlformats.org/drawingml/2006/main">
            <a:srgbClr val="FFFFFF"/>
          </a:solidFill>
          <a:ln xmlns:a="http://schemas.openxmlformats.org/drawingml/2006/main" w="12700">
            <a:solidFill>
              <a:srgbClr val="1D5C9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13" name="Fixed-28"/>
          <p:cNvSpPr/>
          <p:nvPr/>
        </p:nvSpPr>
        <p:spPr>
          <a:xfrm xmlns:a="http://schemas.openxmlformats.org/drawingml/2006/main">
            <a:off x="1152000" y="4320000"/>
            <a:ext cx="9888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600" b="0" i="0">
                <a:solidFill>
                  <a:srgbClr val="20252D"/>
                </a:solidFill>
                <a:latin typeface="Arial"/>
                <a:ea typeface="Arial"/>
              </a:rPr>
              <a:t>Log of every call, then scoring recomputed from that log</a:t>
            </a:r>
          </a:p>
        </p:txBody>
      </p:sp>
      <p:sp>
        <p:nvSpPr>
          <p:cNvPr id="100114" name="Element-29"/>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15" name="Caption-5"/>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The harness is what makes the two approaches comparable: only the decision-maker changes.</a:t>
            </a:r>
          </a:p>
        </p:txBody>
      </p:sp>
      <p:sp>
        <p:nvSpPr>
          <p:cNvPr id="100116" name="Fixed-31"/>
          <p:cNvSpPr/>
          <p:nvPr/>
        </p:nvSpPr>
        <p:spPr>
          <a:xfrm xmlns:a="http://schemas.openxmlformats.org/drawingml/2006/main">
            <a:off x="792000" y="61128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Without LLM: Script and rule-based audit. With LLM: Agent simple and the LANCE pipeline.</a:t>
            </a:r>
          </a:p>
        </p:txBody>
      </p:sp>
      <p:sp>
        <p:nvSpPr>
          <p:cNvPr id="100117" name="Fixed-32"/>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118" name="Fixed-33"/>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5</a:t>
            </a:r>
          </a:p>
        </p:txBody>
      </p:sp>
    </p:spTree>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119"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ba2a78b9ddb34367"/>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120"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121"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Instrument</a:t>
            </a:r>
          </a:p>
        </p:txBody>
      </p:sp>
      <p:sp>
        <p:nvSpPr>
          <p:cNvPr id="100122" name="Element-6"/>
          <p:cNvSpPr/>
          <p:nvPr/>
        </p:nvSpPr>
        <p:spPr>
          <a:xfrm xmlns:a="http://schemas.openxmlformats.org/drawingml/2006/main">
            <a:off x="25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23" name="Fixed-7"/>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124"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125"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Outlook</a:t>
            </a:r>
          </a:p>
        </p:txBody>
      </p:sp>
      <p:sp>
        <p:nvSpPr>
          <p:cNvPr id="100126"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How a run is judged against the goal</a:t>
            </a:r>
          </a:p>
        </p:txBody>
      </p:sp>
      <p:sp>
        <p:nvSpPr>
          <p:cNvPr id="100127"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28" name="Element-12"/>
          <p:cNvSpPr/>
          <p:nvPr/>
        </p:nvSpPr>
        <p:spPr>
          <a:xfrm xmlns:a="http://schemas.openxmlformats.org/drawingml/2006/main">
            <a:off x="792000" y="1908000"/>
            <a:ext cx="1862400" cy="1800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29" name="Element-13"/>
          <p:cNvSpPr/>
          <p:nvPr/>
        </p:nvSpPr>
        <p:spPr>
          <a:xfrm xmlns:a="http://schemas.openxmlformats.org/drawingml/2006/main">
            <a:off x="792000" y="1908000"/>
            <a:ext cx="1862400" cy="504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30" name="Fixed-14"/>
          <p:cNvSpPr/>
          <p:nvPr/>
        </p:nvSpPr>
        <p:spPr>
          <a:xfrm xmlns:a="http://schemas.openxmlformats.org/drawingml/2006/main">
            <a:off x="972000" y="2106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5C626C"/>
                </a:solidFill>
                <a:latin typeface="Arial"/>
                <a:ea typeface="Arial"/>
              </a:rPr>
              <a:t>1</a:t>
            </a:r>
          </a:p>
        </p:txBody>
      </p:sp>
      <p:sp>
        <p:nvSpPr>
          <p:cNvPr id="100131" name="Fixed-15"/>
          <p:cNvSpPr/>
          <p:nvPr/>
        </p:nvSpPr>
        <p:spPr>
          <a:xfrm xmlns:a="http://schemas.openxmlformats.org/drawingml/2006/main">
            <a:off x="972000" y="2394000"/>
            <a:ext cx="15024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Goal</a:t>
            </a:r>
          </a:p>
        </p:txBody>
      </p:sp>
      <p:sp>
        <p:nvSpPr>
          <p:cNvPr id="100132" name="Fixed-16"/>
          <p:cNvSpPr/>
          <p:nvPr/>
        </p:nvSpPr>
        <p:spPr>
          <a:xfrm xmlns:a="http://schemas.openxmlformats.org/drawingml/2006/main">
            <a:off x="972000" y="2700000"/>
            <a:ext cx="1502400" cy="93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i="0">
                <a:solidFill>
                  <a:srgbClr val="5C626C"/>
                </a:solidFill>
                <a:latin typeface="Arial"/>
                <a:ea typeface="Arial"/>
              </a:rPr>
              <a:t>Find the weaknesses of a network, and only those</a:t>
            </a:r>
          </a:p>
        </p:txBody>
      </p:sp>
      <p:sp>
        <p:nvSpPr>
          <p:cNvPr id="100133" name="Element-17"/>
          <p:cNvSpPr/>
          <p:nvPr/>
        </p:nvSpPr>
        <p:spPr>
          <a:xfrm xmlns:a="http://schemas.openxmlformats.org/drawingml/2006/main">
            <a:off x="2683200" y="2797200"/>
            <a:ext cx="266400" cy="216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34" name="Element-18"/>
          <p:cNvSpPr/>
          <p:nvPr/>
        </p:nvSpPr>
        <p:spPr>
          <a:xfrm xmlns:a="http://schemas.openxmlformats.org/drawingml/2006/main">
            <a:off x="2978400" y="1908000"/>
            <a:ext cx="1862400" cy="1800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35" name="Element-19"/>
          <p:cNvSpPr/>
          <p:nvPr/>
        </p:nvSpPr>
        <p:spPr>
          <a:xfrm xmlns:a="http://schemas.openxmlformats.org/drawingml/2006/main">
            <a:off x="2978400" y="1908000"/>
            <a:ext cx="1862400" cy="504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36" name="Fixed-20"/>
          <p:cNvSpPr/>
          <p:nvPr/>
        </p:nvSpPr>
        <p:spPr>
          <a:xfrm xmlns:a="http://schemas.openxmlformats.org/drawingml/2006/main">
            <a:off x="3158400" y="2106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5C626C"/>
                </a:solidFill>
                <a:latin typeface="Arial"/>
                <a:ea typeface="Arial"/>
              </a:rPr>
              <a:t>2</a:t>
            </a:r>
          </a:p>
        </p:txBody>
      </p:sp>
      <p:sp>
        <p:nvSpPr>
          <p:cNvPr id="100137" name="Fixed-21"/>
          <p:cNvSpPr/>
          <p:nvPr/>
        </p:nvSpPr>
        <p:spPr>
          <a:xfrm xmlns:a="http://schemas.openxmlformats.org/drawingml/2006/main">
            <a:off x="3158400" y="2394000"/>
            <a:ext cx="15024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Laboratory</a:t>
            </a:r>
          </a:p>
        </p:txBody>
      </p:sp>
      <p:sp>
        <p:nvSpPr>
          <p:cNvPr id="100138" name="Fixed-22"/>
          <p:cNvSpPr/>
          <p:nvPr/>
        </p:nvSpPr>
        <p:spPr>
          <a:xfrm xmlns:a="http://schemas.openxmlformats.org/drawingml/2006/main">
            <a:off x="3158400" y="2700000"/>
            <a:ext cx="1502400" cy="93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i="0">
                <a:solidFill>
                  <a:srgbClr val="5C626C"/>
                </a:solidFill>
                <a:latin typeface="Arial"/>
                <a:ea typeface="Arial"/>
              </a:rPr>
              <a:t>A scenario with planted weaknesses, listed in a ground-truth file</a:t>
            </a:r>
          </a:p>
        </p:txBody>
      </p:sp>
      <p:sp>
        <p:nvSpPr>
          <p:cNvPr id="100139" name="Element-23"/>
          <p:cNvSpPr/>
          <p:nvPr/>
        </p:nvSpPr>
        <p:spPr>
          <a:xfrm xmlns:a="http://schemas.openxmlformats.org/drawingml/2006/main">
            <a:off x="4869600" y="2797200"/>
            <a:ext cx="266400" cy="216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40" name="Element-24"/>
          <p:cNvSpPr/>
          <p:nvPr/>
        </p:nvSpPr>
        <p:spPr>
          <a:xfrm xmlns:a="http://schemas.openxmlformats.org/drawingml/2006/main">
            <a:off x="5164800" y="1908000"/>
            <a:ext cx="1862400" cy="1800000"/>
          </a:xfrm>
          <a:prstGeom xmlns:a="http://schemas.openxmlformats.org/drawingml/2006/main" prst="rect">
            <a:avLst/>
          </a:prstGeom>
          <a:solidFill xmlns:a="http://schemas.openxmlformats.org/drawingml/2006/main">
            <a:srgbClr val="EFF6FC"/>
          </a:solidFill>
          <a:ln xmlns:a="http://schemas.openxmlformats.org/drawingml/2006/main" w="12700">
            <a:solidFill>
              <a:srgbClr val="1D5C9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41" name="Element-25"/>
          <p:cNvSpPr/>
          <p:nvPr/>
        </p:nvSpPr>
        <p:spPr>
          <a:xfrm xmlns:a="http://schemas.openxmlformats.org/drawingml/2006/main">
            <a:off x="5164800" y="1908000"/>
            <a:ext cx="1862400" cy="50400"/>
          </a:xfrm>
          <a:prstGeom xmlns:a="http://schemas.openxmlformats.org/drawingml/2006/main" prst="rect">
            <a:avLst/>
          </a:prstGeom>
          <a:solidFill xmlns:a="http://schemas.openxmlformats.org/drawingml/2006/main">
            <a:srgbClr val="1D5C9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42" name="Fixed-26"/>
          <p:cNvSpPr/>
          <p:nvPr/>
        </p:nvSpPr>
        <p:spPr>
          <a:xfrm xmlns:a="http://schemas.openxmlformats.org/drawingml/2006/main">
            <a:off x="5344800" y="2106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1D5C96"/>
                </a:solidFill>
                <a:latin typeface="Arial"/>
                <a:ea typeface="Arial"/>
              </a:rPr>
              <a:t>3</a:t>
            </a:r>
          </a:p>
        </p:txBody>
      </p:sp>
      <p:sp>
        <p:nvSpPr>
          <p:cNvPr id="100143" name="Fixed-27"/>
          <p:cNvSpPr/>
          <p:nvPr/>
        </p:nvSpPr>
        <p:spPr>
          <a:xfrm xmlns:a="http://schemas.openxmlformats.org/drawingml/2006/main">
            <a:off x="5344800" y="2394000"/>
            <a:ext cx="15024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1D5C96"/>
                </a:solidFill>
                <a:latin typeface="Arial"/>
                <a:ea typeface="Arial"/>
              </a:rPr>
              <a:t>Platform</a:t>
            </a:r>
          </a:p>
        </p:txBody>
      </p:sp>
      <p:sp>
        <p:nvSpPr>
          <p:cNvPr id="100144" name="Fixed-28"/>
          <p:cNvSpPr/>
          <p:nvPr/>
        </p:nvSpPr>
        <p:spPr>
          <a:xfrm xmlns:a="http://schemas.openxmlformats.org/drawingml/2006/main">
            <a:off x="5344800" y="2700000"/>
            <a:ext cx="1502400" cy="93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i="0">
                <a:solidFill>
                  <a:srgbClr val="5C626C"/>
                </a:solidFill>
                <a:latin typeface="Arial"/>
                <a:ea typeface="Arial"/>
              </a:rPr>
              <a:t>Audits the scenario: six phases, one log per run</a:t>
            </a:r>
          </a:p>
        </p:txBody>
      </p:sp>
      <p:sp>
        <p:nvSpPr>
          <p:cNvPr id="100145" name="Element-29"/>
          <p:cNvSpPr/>
          <p:nvPr/>
        </p:nvSpPr>
        <p:spPr>
          <a:xfrm xmlns:a="http://schemas.openxmlformats.org/drawingml/2006/main">
            <a:off x="7056000" y="2797200"/>
            <a:ext cx="266400" cy="21600"/>
          </a:xfrm>
          <a:prstGeom xmlns:a="http://schemas.openxmlformats.org/drawingml/2006/main" prst="rect">
            <a:avLst/>
          </a:prstGeom>
          <a:solidFill xmlns:a="http://schemas.openxmlformats.org/drawingml/2006/main">
            <a:srgbClr val="1D5C9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46" name="Element-30"/>
          <p:cNvSpPr/>
          <p:nvPr/>
        </p:nvSpPr>
        <p:spPr>
          <a:xfrm xmlns:a="http://schemas.openxmlformats.org/drawingml/2006/main">
            <a:off x="7351200" y="1908000"/>
            <a:ext cx="1862400" cy="1800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47" name="Element-31"/>
          <p:cNvSpPr/>
          <p:nvPr/>
        </p:nvSpPr>
        <p:spPr>
          <a:xfrm xmlns:a="http://schemas.openxmlformats.org/drawingml/2006/main">
            <a:off x="7351200" y="1908000"/>
            <a:ext cx="1862400" cy="504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48" name="Fixed-32"/>
          <p:cNvSpPr/>
          <p:nvPr/>
        </p:nvSpPr>
        <p:spPr>
          <a:xfrm xmlns:a="http://schemas.openxmlformats.org/drawingml/2006/main">
            <a:off x="7531200" y="2106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5C626C"/>
                </a:solidFill>
                <a:latin typeface="Arial"/>
                <a:ea typeface="Arial"/>
              </a:rPr>
              <a:t>4</a:t>
            </a:r>
          </a:p>
        </p:txBody>
      </p:sp>
      <p:sp>
        <p:nvSpPr>
          <p:cNvPr id="100149" name="Fixed-33"/>
          <p:cNvSpPr/>
          <p:nvPr/>
        </p:nvSpPr>
        <p:spPr>
          <a:xfrm xmlns:a="http://schemas.openxmlformats.org/drawingml/2006/main">
            <a:off x="7531200" y="2394000"/>
            <a:ext cx="15024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Evidence</a:t>
            </a:r>
          </a:p>
        </p:txBody>
      </p:sp>
      <p:sp>
        <p:nvSpPr>
          <p:cNvPr id="100150" name="Fixed-34"/>
          <p:cNvSpPr/>
          <p:nvPr/>
        </p:nvSpPr>
        <p:spPr>
          <a:xfrm xmlns:a="http://schemas.openxmlformats.org/drawingml/2006/main">
            <a:off x="7531200" y="2700000"/>
            <a:ext cx="1502400" cy="93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i="0">
                <a:solidFill>
                  <a:srgbClr val="5C626C"/>
                </a:solidFill>
                <a:latin typeface="Arial"/>
                <a:ea typeface="Arial"/>
              </a:rPr>
              <a:t>Observations and proofs saved as files for each run</a:t>
            </a:r>
          </a:p>
        </p:txBody>
      </p:sp>
      <p:sp>
        <p:nvSpPr>
          <p:cNvPr id="100151" name="Element-35"/>
          <p:cNvSpPr/>
          <p:nvPr/>
        </p:nvSpPr>
        <p:spPr>
          <a:xfrm xmlns:a="http://schemas.openxmlformats.org/drawingml/2006/main">
            <a:off x="9242400" y="2797200"/>
            <a:ext cx="266400" cy="216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52" name="Element-36"/>
          <p:cNvSpPr/>
          <p:nvPr/>
        </p:nvSpPr>
        <p:spPr>
          <a:xfrm xmlns:a="http://schemas.openxmlformats.org/drawingml/2006/main">
            <a:off x="9537600" y="1908000"/>
            <a:ext cx="1862400" cy="1800000"/>
          </a:xfrm>
          <a:prstGeom xmlns:a="http://schemas.openxmlformats.org/drawingml/2006/main" prst="rect">
            <a:avLst/>
          </a:prstGeom>
          <a:solidFill xmlns:a="http://schemas.openxmlformats.org/drawingml/2006/main">
            <a:srgbClr val="FCF0F4"/>
          </a:solidFill>
          <a:ln xmlns:a="http://schemas.openxmlformats.org/drawingml/2006/main" w="12700">
            <a:solidFill>
              <a:srgbClr val="B6003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53" name="Element-37"/>
          <p:cNvSpPr/>
          <p:nvPr/>
        </p:nvSpPr>
        <p:spPr>
          <a:xfrm xmlns:a="http://schemas.openxmlformats.org/drawingml/2006/main">
            <a:off x="9537600" y="1908000"/>
            <a:ext cx="1862400" cy="504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54" name="Fixed-38"/>
          <p:cNvSpPr/>
          <p:nvPr/>
        </p:nvSpPr>
        <p:spPr>
          <a:xfrm xmlns:a="http://schemas.openxmlformats.org/drawingml/2006/main">
            <a:off x="9717600" y="2106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B60036"/>
                </a:solidFill>
                <a:latin typeface="Arial"/>
                <a:ea typeface="Arial"/>
              </a:rPr>
              <a:t>5</a:t>
            </a:r>
          </a:p>
        </p:txBody>
      </p:sp>
      <p:sp>
        <p:nvSpPr>
          <p:cNvPr id="100155" name="Fixed-39"/>
          <p:cNvSpPr/>
          <p:nvPr/>
        </p:nvSpPr>
        <p:spPr>
          <a:xfrm xmlns:a="http://schemas.openxmlformats.org/drawingml/2006/main">
            <a:off x="9717600" y="2394000"/>
            <a:ext cx="15024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B60036"/>
                </a:solidFill>
                <a:latin typeface="Arial"/>
                <a:ea typeface="Arial"/>
              </a:rPr>
              <a:t>Benchmark</a:t>
            </a:r>
          </a:p>
        </p:txBody>
      </p:sp>
      <p:sp>
        <p:nvSpPr>
          <p:cNvPr id="100156" name="Fixed-40"/>
          <p:cNvSpPr/>
          <p:nvPr/>
        </p:nvSpPr>
        <p:spPr>
          <a:xfrm xmlns:a="http://schemas.openxmlformats.org/drawingml/2006/main">
            <a:off x="9717600" y="2700000"/>
            <a:ext cx="1502400" cy="93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i="0">
                <a:solidFill>
                  <a:srgbClr val="5C626C"/>
                </a:solidFill>
                <a:latin typeface="Arial"/>
                <a:ea typeface="Arial"/>
              </a:rPr>
              <a:t>Compares findings with the truth: precision, recall, F1</a:t>
            </a:r>
          </a:p>
        </p:txBody>
      </p:sp>
      <p:sp>
        <p:nvSpPr>
          <p:cNvPr id="100157" name="Element-41"/>
          <p:cNvSpPr/>
          <p:nvPr/>
        </p:nvSpPr>
        <p:spPr>
          <a:xfrm xmlns:a="http://schemas.openxmlformats.org/drawingml/2006/main">
            <a:off x="1714200" y="3726000"/>
            <a:ext cx="18000" cy="288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58" name="Element-42"/>
          <p:cNvSpPr/>
          <p:nvPr/>
        </p:nvSpPr>
        <p:spPr>
          <a:xfrm xmlns:a="http://schemas.openxmlformats.org/drawingml/2006/main">
            <a:off x="10459800" y="3726000"/>
            <a:ext cx="18000" cy="288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59" name="Element-43"/>
          <p:cNvSpPr/>
          <p:nvPr/>
        </p:nvSpPr>
        <p:spPr>
          <a:xfrm xmlns:a="http://schemas.openxmlformats.org/drawingml/2006/main">
            <a:off x="1723200" y="4014000"/>
            <a:ext cx="8745600" cy="18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60" name="Fixed-44"/>
          <p:cNvSpPr/>
          <p:nvPr/>
        </p:nvSpPr>
        <p:spPr>
          <a:xfrm xmlns:a="http://schemas.openxmlformats.org/drawingml/2006/main">
            <a:off x="792000" y="4104000"/>
            <a:ext cx="10608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600" b="1" i="0">
                <a:solidFill>
                  <a:srgbClr val="B60036"/>
                </a:solidFill>
                <a:latin typeface="Arial"/>
                <a:ea typeface="Arial"/>
              </a:rPr>
              <a:t>A result counts only against the planted truth; it never confirms the model's own conclusion.</a:t>
            </a:r>
          </a:p>
        </p:txBody>
      </p:sp>
      <p:sp>
        <p:nvSpPr>
          <p:cNvPr id="100161" name="Element-45"/>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62" name="Caption-6"/>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The score is computed against the planted truth, not against the platform's own conclusion.</a:t>
            </a:r>
          </a:p>
        </p:txBody>
      </p:sp>
      <p:sp>
        <p:nvSpPr>
          <p:cNvPr id="100163" name="Fixed-47"/>
          <p:cNvSpPr/>
          <p:nvPr/>
        </p:nvSpPr>
        <p:spPr>
          <a:xfrm xmlns:a="http://schemas.openxmlformats.org/drawingml/2006/main">
            <a:off x="792000" y="61128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Precision, recall and F1 are recomputed from each run's log.</a:t>
            </a:r>
          </a:p>
        </p:txBody>
      </p:sp>
      <p:sp>
        <p:nvSpPr>
          <p:cNvPr id="100164" name="Fixed-48"/>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165" name="Fixed-49"/>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6</a:t>
            </a:r>
          </a:p>
        </p:txBody>
      </p:sp>
    </p:spTree>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166"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b852b7da142f4d3d"/>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167"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168"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Instrument</a:t>
            </a:r>
          </a:p>
        </p:txBody>
      </p:sp>
      <p:sp>
        <p:nvSpPr>
          <p:cNvPr id="100169" name="Element-6"/>
          <p:cNvSpPr/>
          <p:nvPr/>
        </p:nvSpPr>
        <p:spPr>
          <a:xfrm xmlns:a="http://schemas.openxmlformats.org/drawingml/2006/main">
            <a:off x="25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70" name="Fixed-7"/>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171"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172"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Outlook</a:t>
            </a:r>
          </a:p>
        </p:txBody>
      </p:sp>
      <p:sp>
        <p:nvSpPr>
          <p:cNvPr id="100173"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What constitutes a finding</a:t>
            </a:r>
          </a:p>
        </p:txBody>
      </p:sp>
      <p:sp>
        <p:nvSpPr>
          <p:cNvPr id="100174"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75" name="Element-12"/>
          <p:cNvSpPr/>
          <p:nvPr/>
        </p:nvSpPr>
        <p:spPr>
          <a:xfrm xmlns:a="http://schemas.openxmlformats.org/drawingml/2006/main">
            <a:off x="792000" y="1710000"/>
            <a:ext cx="5203200" cy="2178000"/>
          </a:xfrm>
          <a:prstGeom xmlns:a="http://schemas.openxmlformats.org/drawingml/2006/main" prst="round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76" name="Fixed-13"/>
          <p:cNvSpPr/>
          <p:nvPr/>
        </p:nvSpPr>
        <p:spPr>
          <a:xfrm xmlns:a="http://schemas.openxmlformats.org/drawingml/2006/main">
            <a:off x="1044000" y="1879200"/>
            <a:ext cx="469920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600" b="0" i="1">
                <a:solidFill>
                  <a:srgbClr val="5C626C"/>
                </a:solidFill>
                <a:latin typeface="Arial"/>
                <a:ea typeface="Arial"/>
              </a:rPr>
              <a:t>“I have read another organisation's data.”</a:t>
            </a:r>
          </a:p>
        </p:txBody>
      </p:sp>
      <p:sp>
        <p:nvSpPr>
          <p:cNvPr id="100177" name="Element-14"/>
          <p:cNvSpPr/>
          <p:nvPr/>
        </p:nvSpPr>
        <p:spPr>
          <a:xfrm xmlns:a="http://schemas.openxmlformats.org/drawingml/2006/main">
            <a:off x="3123600" y="2772000"/>
            <a:ext cx="540000" cy="180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78" name="Fixed-15"/>
          <p:cNvSpPr/>
          <p:nvPr/>
        </p:nvSpPr>
        <p:spPr>
          <a:xfrm xmlns:a="http://schemas.openxmlformats.org/drawingml/2006/main">
            <a:off x="1044000" y="2844000"/>
            <a:ext cx="4699200" cy="5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2600" b="1" i="0">
                <a:solidFill>
                  <a:srgbClr val="B60036"/>
                </a:solidFill>
                <a:latin typeface="Arial"/>
                <a:ea typeface="Arial"/>
              </a:rPr>
              <a:t>✕   Not admitted</a:t>
            </a:r>
          </a:p>
        </p:txBody>
      </p:sp>
      <p:sp>
        <p:nvSpPr>
          <p:cNvPr id="100179" name="Element-16"/>
          <p:cNvSpPr/>
          <p:nvPr/>
        </p:nvSpPr>
        <p:spPr>
          <a:xfrm xmlns:a="http://schemas.openxmlformats.org/drawingml/2006/main">
            <a:off x="6196800" y="1710000"/>
            <a:ext cx="5203200" cy="2178000"/>
          </a:xfrm>
          <a:prstGeom xmlns:a="http://schemas.openxmlformats.org/drawingml/2006/main" prst="roundRect">
            <a:avLst/>
          </a:prstGeom>
          <a:solidFill xmlns:a="http://schemas.openxmlformats.org/drawingml/2006/main">
            <a:srgbClr val="FCF0F4"/>
          </a:solidFill>
          <a:ln xmlns:a="http://schemas.openxmlformats.org/drawingml/2006/main" w="12700">
            <a:solidFill>
              <a:srgbClr val="B6003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80" name="Fixed-17"/>
          <p:cNvSpPr/>
          <p:nvPr/>
        </p:nvSpPr>
        <p:spPr>
          <a:xfrm xmlns:a="http://schemas.openxmlformats.org/drawingml/2006/main">
            <a:off x="6448800" y="1879200"/>
            <a:ext cx="469920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600" b="0" i="0">
                <a:solidFill>
                  <a:srgbClr val="20252D"/>
                </a:solidFill>
                <a:latin typeface="Arial"/>
                <a:ea typeface="Arial"/>
              </a:rPr>
              <a:t>The request and its response</a:t>
            </a:r>
          </a:p>
          <a:p xmlns:a="http://schemas.openxmlformats.org/drawingml/2006/main">
            <a:pPr algn="ctr"/>
            <a:r>
              <a:rPr lang="en-US" sz="1600" b="0" i="0">
                <a:solidFill>
                  <a:srgbClr val="20252D"/>
                </a:solidFill>
                <a:latin typeface="Arial"/>
                <a:ea typeface="Arial"/>
              </a:rPr>
              <a:t>contain the data.</a:t>
            </a:r>
          </a:p>
        </p:txBody>
      </p:sp>
      <p:sp>
        <p:nvSpPr>
          <p:cNvPr id="100181" name="Element-18"/>
          <p:cNvSpPr/>
          <p:nvPr/>
        </p:nvSpPr>
        <p:spPr>
          <a:xfrm xmlns:a="http://schemas.openxmlformats.org/drawingml/2006/main">
            <a:off x="8528400" y="2772000"/>
            <a:ext cx="540000" cy="18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82" name="Fixed-19"/>
          <p:cNvSpPr/>
          <p:nvPr/>
        </p:nvSpPr>
        <p:spPr>
          <a:xfrm xmlns:a="http://schemas.openxmlformats.org/drawingml/2006/main">
            <a:off x="6448800" y="2844000"/>
            <a:ext cx="4699200" cy="5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2600" b="1" i="0">
                <a:solidFill>
                  <a:srgbClr val="2E7D5B"/>
                </a:solidFill>
                <a:latin typeface="Arial"/>
                <a:ea typeface="Arial"/>
              </a:rPr>
              <a:t>✓   Admitted</a:t>
            </a:r>
          </a:p>
        </p:txBody>
      </p:sp>
      <p:sp>
        <p:nvSpPr>
          <p:cNvPr id="100183" name="Element-20"/>
          <p:cNvSpPr/>
          <p:nvPr/>
        </p:nvSpPr>
        <p:spPr>
          <a:xfrm xmlns:a="http://schemas.openxmlformats.org/drawingml/2006/main">
            <a:off x="792000" y="4158000"/>
            <a:ext cx="10608000" cy="882000"/>
          </a:xfrm>
          <a:prstGeom xmlns:a="http://schemas.openxmlformats.org/drawingml/2006/main" prst="rect">
            <a:avLst/>
          </a:prstGeom>
          <a:solidFill xmlns:a="http://schemas.openxmlformats.org/drawingml/2006/main">
            <a:srgbClr val="EFF6FC"/>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84" name="Element-21"/>
          <p:cNvSpPr/>
          <p:nvPr/>
        </p:nvSpPr>
        <p:spPr>
          <a:xfrm xmlns:a="http://schemas.openxmlformats.org/drawingml/2006/main">
            <a:off x="792000" y="4158000"/>
            <a:ext cx="50400" cy="882000"/>
          </a:xfrm>
          <a:prstGeom xmlns:a="http://schemas.openxmlformats.org/drawingml/2006/main" prst="rect">
            <a:avLst/>
          </a:prstGeom>
          <a:solidFill xmlns:a="http://schemas.openxmlformats.org/drawingml/2006/main">
            <a:srgbClr val="1D5C9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85" name="Fixed-22"/>
          <p:cNvSpPr/>
          <p:nvPr/>
        </p:nvSpPr>
        <p:spPr>
          <a:xfrm xmlns:a="http://schemas.openxmlformats.org/drawingml/2006/main">
            <a:off x="1152000" y="4158000"/>
            <a:ext cx="10032000" cy="88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500" b="0" i="0">
                <a:solidFill>
                  <a:srgbClr val="20252D"/>
                </a:solidFill>
                <a:latin typeface="Arial"/>
                <a:ea typeface="Arial"/>
              </a:rPr>
              <a:t>The same trial is conducted on a healthy and on a vulnerable network.   A finding reported on the healthy one is recorded as an error.</a:t>
            </a:r>
          </a:p>
        </p:txBody>
      </p:sp>
      <p:sp>
        <p:nvSpPr>
          <p:cNvPr id="100186" name="Element-23"/>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87" name="Caption-7"/>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The finding is recomputed from the log; the conclusion is never taken on trust.</a:t>
            </a:r>
          </a:p>
        </p:txBody>
      </p:sp>
      <p:sp>
        <p:nvSpPr>
          <p:cNvPr id="100188" name="Fixed-25"/>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189" name="Fixed-26"/>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7</a:t>
            </a:r>
          </a:p>
        </p:txBody>
      </p:sp>
    </p:spTree>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190"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50391b6a49c543b9"/>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191"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192"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Instrument</a:t>
            </a:r>
          </a:p>
        </p:txBody>
      </p:sp>
      <p:sp>
        <p:nvSpPr>
          <p:cNvPr id="100193" name="Fixed-6"/>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Control</a:t>
            </a:r>
          </a:p>
        </p:txBody>
      </p:sp>
      <p:sp>
        <p:nvSpPr>
          <p:cNvPr id="100194" name="Element-7"/>
          <p:cNvSpPr/>
          <p:nvPr/>
        </p:nvSpPr>
        <p:spPr>
          <a:xfrm xmlns:a="http://schemas.openxmlformats.org/drawingml/2006/main">
            <a:off x="43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95"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196"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Outlook</a:t>
            </a:r>
          </a:p>
        </p:txBody>
      </p:sp>
      <p:sp>
        <p:nvSpPr>
          <p:cNvPr id="100197"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A control task before testing the model</a:t>
            </a:r>
          </a:p>
        </p:txBody>
      </p:sp>
      <p:sp>
        <p:nvSpPr>
          <p:cNvPr id="100198"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99" name="Fixed-12"/>
          <p:cNvSpPr/>
          <p:nvPr/>
        </p:nvSpPr>
        <p:spPr>
          <a:xfrm xmlns:a="http://schemas.openxmlformats.org/drawingml/2006/main">
            <a:off x="792000" y="1602000"/>
            <a:ext cx="10608000" cy="52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700" b="0" i="0">
                <a:solidFill>
                  <a:srgbClr val="5C626C"/>
                </a:solidFill>
                <a:latin typeface="Arial"/>
                <a:ea typeface="Arial"/>
              </a:rPr>
              <a:t>V0 is a control task, simple enough to be solved without inference. Both approaches are required to pass.</a:t>
            </a:r>
          </a:p>
        </p:txBody>
      </p:sp>
      <p:sp>
        <p:nvSpPr>
          <p:cNvPr id="100200" name="Fixed-13"/>
          <p:cNvSpPr/>
          <p:nvPr/>
        </p:nvSpPr>
        <p:spPr>
          <a:xfrm xmlns:a="http://schemas.openxmlformats.org/drawingml/2006/main">
            <a:off x="2718000" y="2152800"/>
            <a:ext cx="424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400" b="1" i="0">
                <a:solidFill>
                  <a:srgbClr val="5C626C"/>
                </a:solidFill>
                <a:latin typeface="Arial"/>
                <a:ea typeface="Arial"/>
              </a:rPr>
              <a:t>model ✗</a:t>
            </a:r>
          </a:p>
        </p:txBody>
      </p:sp>
      <p:sp>
        <p:nvSpPr>
          <p:cNvPr id="100201" name="Fixed-14"/>
          <p:cNvSpPr/>
          <p:nvPr/>
        </p:nvSpPr>
        <p:spPr>
          <a:xfrm xmlns:a="http://schemas.openxmlformats.org/drawingml/2006/main">
            <a:off x="7158000" y="2152800"/>
            <a:ext cx="424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400" b="1" i="0">
                <a:solidFill>
                  <a:srgbClr val="5C626C"/>
                </a:solidFill>
                <a:latin typeface="Arial"/>
                <a:ea typeface="Arial"/>
              </a:rPr>
              <a:t>model ✓</a:t>
            </a:r>
          </a:p>
        </p:txBody>
      </p:sp>
      <p:sp>
        <p:nvSpPr>
          <p:cNvPr id="100202" name="Element-15"/>
          <p:cNvSpPr/>
          <p:nvPr/>
        </p:nvSpPr>
        <p:spPr>
          <a:xfrm xmlns:a="http://schemas.openxmlformats.org/drawingml/2006/main">
            <a:off x="2718000" y="2484000"/>
            <a:ext cx="4242000" cy="1278000"/>
          </a:xfrm>
          <a:prstGeom xmlns:a="http://schemas.openxmlformats.org/drawingml/2006/main" prst="rect">
            <a:avLst/>
          </a:prstGeom>
          <a:solidFill xmlns:a="http://schemas.openxmlformats.org/drawingml/2006/main">
            <a:srgbClr val="FCF0F4"/>
          </a:solidFill>
          <a:ln xmlns:a="http://schemas.openxmlformats.org/drawingml/2006/main" w="12700">
            <a:solidFill>
              <a:srgbClr val="B6003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03" name="Element-16"/>
          <p:cNvSpPr/>
          <p:nvPr/>
        </p:nvSpPr>
        <p:spPr>
          <a:xfrm xmlns:a="http://schemas.openxmlformats.org/drawingml/2006/main">
            <a:off x="2718000" y="2484000"/>
            <a:ext cx="50400" cy="1278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04" name="Element-17"/>
          <p:cNvSpPr/>
          <p:nvPr/>
        </p:nvSpPr>
        <p:spPr>
          <a:xfrm xmlns:a="http://schemas.openxmlformats.org/drawingml/2006/main">
            <a:off x="2988000" y="2484000"/>
            <a:ext cx="3756000" cy="127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900" b="1" i="0">
                <a:solidFill>
                  <a:srgbClr val="B60036"/>
                </a:solidFill>
                <a:latin typeface="Arial"/>
                <a:ea typeface="Arial"/>
              </a:rPr>
              <a:t>a defect in the instrument</a:t>
            </a:r>
          </a:p>
        </p:txBody>
      </p:sp>
      <p:sp>
        <p:nvSpPr>
          <p:cNvPr id="100205" name="Element-18"/>
          <p:cNvSpPr/>
          <p:nvPr/>
        </p:nvSpPr>
        <p:spPr>
          <a:xfrm xmlns:a="http://schemas.openxmlformats.org/drawingml/2006/main">
            <a:off x="7158000" y="2484000"/>
            <a:ext cx="4242000" cy="1278000"/>
          </a:xfrm>
          <a:prstGeom xmlns:a="http://schemas.openxmlformats.org/drawingml/2006/main" prst="rect">
            <a:avLst/>
          </a:prstGeom>
          <a:solidFill xmlns:a="http://schemas.openxmlformats.org/drawingml/2006/main">
            <a:srgbClr val="EFF6FC"/>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06" name="Element-19"/>
          <p:cNvSpPr/>
          <p:nvPr/>
        </p:nvSpPr>
        <p:spPr>
          <a:xfrm xmlns:a="http://schemas.openxmlformats.org/drawingml/2006/main">
            <a:off x="7158000" y="2484000"/>
            <a:ext cx="50400" cy="1278000"/>
          </a:xfrm>
          <a:prstGeom xmlns:a="http://schemas.openxmlformats.org/drawingml/2006/main" prst="rect">
            <a:avLst/>
          </a:prstGeom>
          <a:solidFill xmlns:a="http://schemas.openxmlformats.org/drawingml/2006/main">
            <a:srgbClr val="2E7D5B"/>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07" name="Element-20"/>
          <p:cNvSpPr/>
          <p:nvPr/>
        </p:nvSpPr>
        <p:spPr>
          <a:xfrm xmlns:a="http://schemas.openxmlformats.org/drawingml/2006/main">
            <a:off x="7428000" y="2484000"/>
            <a:ext cx="3756000" cy="127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900" b="1" i="0">
                <a:solidFill>
                  <a:srgbClr val="2E7D5B"/>
                </a:solidFill>
                <a:latin typeface="Arial"/>
                <a:ea typeface="Arial"/>
              </a:rPr>
              <a:t>valid — the hypotheses may be read</a:t>
            </a:r>
          </a:p>
        </p:txBody>
      </p:sp>
      <p:sp>
        <p:nvSpPr>
          <p:cNvPr id="100208" name="Element-21"/>
          <p:cNvSpPr/>
          <p:nvPr/>
        </p:nvSpPr>
        <p:spPr>
          <a:xfrm xmlns:a="http://schemas.openxmlformats.org/drawingml/2006/main">
            <a:off x="2718000" y="3870000"/>
            <a:ext cx="4242000" cy="1278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09" name="Element-22"/>
          <p:cNvSpPr/>
          <p:nvPr/>
        </p:nvSpPr>
        <p:spPr>
          <a:xfrm xmlns:a="http://schemas.openxmlformats.org/drawingml/2006/main">
            <a:off x="2718000" y="3870000"/>
            <a:ext cx="50400" cy="12780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10" name="Element-23"/>
          <p:cNvSpPr/>
          <p:nvPr/>
        </p:nvSpPr>
        <p:spPr>
          <a:xfrm xmlns:a="http://schemas.openxmlformats.org/drawingml/2006/main">
            <a:off x="2988000" y="3870000"/>
            <a:ext cx="3756000" cy="127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900" b="0" i="0">
                <a:solidFill>
                  <a:srgbClr val="5C626C"/>
                </a:solidFill>
                <a:latin typeface="Arial"/>
                <a:ea typeface="Arial"/>
              </a:rPr>
              <a:t>beyond the reach of this instrument</a:t>
            </a:r>
          </a:p>
        </p:txBody>
      </p:sp>
      <p:sp>
        <p:nvSpPr>
          <p:cNvPr id="100211" name="Element-24"/>
          <p:cNvSpPr/>
          <p:nvPr/>
        </p:nvSpPr>
        <p:spPr>
          <a:xfrm xmlns:a="http://schemas.openxmlformats.org/drawingml/2006/main">
            <a:off x="7158000" y="3870000"/>
            <a:ext cx="4242000" cy="1278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12" name="Element-25"/>
          <p:cNvSpPr/>
          <p:nvPr/>
        </p:nvSpPr>
        <p:spPr>
          <a:xfrm xmlns:a="http://schemas.openxmlformats.org/drawingml/2006/main">
            <a:off x="7158000" y="3870000"/>
            <a:ext cx="50400" cy="12780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13" name="Element-26"/>
          <p:cNvSpPr/>
          <p:nvPr/>
        </p:nvSpPr>
        <p:spPr>
          <a:xfrm xmlns:a="http://schemas.openxmlformats.org/drawingml/2006/main">
            <a:off x="7428000" y="3870000"/>
            <a:ext cx="3756000" cy="127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900" b="1" i="0">
                <a:solidFill>
                  <a:srgbClr val="20252D"/>
                </a:solidFill>
                <a:latin typeface="Arial"/>
                <a:ea typeface="Arial"/>
              </a:rPr>
              <a:t>a gain, or a coverage gap</a:t>
            </a:r>
          </a:p>
        </p:txBody>
      </p:sp>
      <p:sp>
        <p:nvSpPr>
          <p:cNvPr id="100214" name="Element-27"/>
          <p:cNvSpPr/>
          <p:nvPr/>
        </p:nvSpPr>
        <p:spPr>
          <a:xfrm xmlns:a="http://schemas.openxmlformats.org/drawingml/2006/main">
            <a:off x="792000" y="2484000"/>
            <a:ext cx="1746000" cy="127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700" b="1" i="0">
                <a:solidFill>
                  <a:srgbClr val="5C626C"/>
                </a:solidFill>
                <a:latin typeface="Arial"/>
                <a:ea typeface="Arial"/>
              </a:rPr>
              <a:t>script ✓</a:t>
            </a:r>
          </a:p>
        </p:txBody>
      </p:sp>
      <p:sp>
        <p:nvSpPr>
          <p:cNvPr id="100215" name="Element-28"/>
          <p:cNvSpPr/>
          <p:nvPr/>
        </p:nvSpPr>
        <p:spPr>
          <a:xfrm xmlns:a="http://schemas.openxmlformats.org/drawingml/2006/main">
            <a:off x="792000" y="3870000"/>
            <a:ext cx="1746000" cy="127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700" b="1" i="0">
                <a:solidFill>
                  <a:srgbClr val="5C626C"/>
                </a:solidFill>
                <a:latin typeface="Arial"/>
                <a:ea typeface="Arial"/>
              </a:rPr>
              <a:t>script ✗</a:t>
            </a:r>
          </a:p>
        </p:txBody>
      </p:sp>
      <p:sp>
        <p:nvSpPr>
          <p:cNvPr id="100216" name="Element-29"/>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17" name="Caption-8"/>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Only a control that the script and the model both pass permits the hypotheses to be read.</a:t>
            </a:r>
          </a:p>
        </p:txBody>
      </p:sp>
      <p:sp>
        <p:nvSpPr>
          <p:cNvPr id="100218" name="Fixed-31"/>
          <p:cNvSpPr/>
          <p:nvPr/>
        </p:nvSpPr>
        <p:spPr>
          <a:xfrm xmlns:a="http://schemas.openxmlformats.org/drawingml/2006/main">
            <a:off x="792000" y="61128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Implemented and tested offline. The laboratory run remains outstanding.</a:t>
            </a:r>
          </a:p>
        </p:txBody>
      </p:sp>
      <p:sp>
        <p:nvSpPr>
          <p:cNvPr id="100219" name="Fixed-32"/>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220" name="Fixed-33"/>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8</a:t>
            </a:r>
          </a:p>
        </p:txBody>
      </p:sp>
    </p:spTree>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221"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93b3daba7c5043f5"/>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222"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223"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Instrument</a:t>
            </a:r>
          </a:p>
        </p:txBody>
      </p:sp>
      <p:sp>
        <p:nvSpPr>
          <p:cNvPr id="100224" name="Fixed-6"/>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Control</a:t>
            </a:r>
          </a:p>
        </p:txBody>
      </p:sp>
      <p:sp>
        <p:nvSpPr>
          <p:cNvPr id="100225" name="Element-7"/>
          <p:cNvSpPr/>
          <p:nvPr/>
        </p:nvSpPr>
        <p:spPr>
          <a:xfrm xmlns:a="http://schemas.openxmlformats.org/drawingml/2006/main">
            <a:off x="43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26"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227"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Outlook</a:t>
            </a:r>
          </a:p>
        </p:txBody>
      </p:sp>
      <p:sp>
        <p:nvSpPr>
          <p:cNvPr id="100228"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Current status</a:t>
            </a:r>
          </a:p>
        </p:txBody>
      </p:sp>
      <p:sp>
        <p:nvSpPr>
          <p:cNvPr id="100229"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30" name="Fixed-12"/>
          <p:cNvSpPr/>
          <p:nvPr/>
        </p:nvSpPr>
        <p:spPr>
          <a:xfrm xmlns:a="http://schemas.openxmlformats.org/drawingml/2006/main">
            <a:off x="792000" y="1602000"/>
            <a:ext cx="9576000" cy="46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600" b="1" i="0">
                <a:solidFill>
                  <a:srgbClr val="20252D"/>
                </a:solidFill>
                <a:latin typeface="Arial"/>
                <a:ea typeface="Arial"/>
              </a:rPr>
              <a:t>Both approaches succeed on every configuration.</a:t>
            </a:r>
          </a:p>
        </p:txBody>
      </p:sp>
      <p:sp>
        <p:nvSpPr>
          <p:cNvPr id="100231" name="Element-13"/>
          <p:cNvSpPr/>
          <p:nvPr/>
        </p:nvSpPr>
        <p:spPr>
          <a:xfrm xmlns:a="http://schemas.openxmlformats.org/drawingml/2006/main">
            <a:off x="792000" y="2167200"/>
            <a:ext cx="936000" cy="36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32" name="Fixed-14"/>
          <p:cNvSpPr/>
          <p:nvPr/>
        </p:nvSpPr>
        <p:spPr>
          <a:xfrm xmlns:a="http://schemas.openxmlformats.org/drawingml/2006/main">
            <a:off x="792000" y="2538000"/>
            <a:ext cx="5040000" cy="39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900" b="1" i="0">
                <a:solidFill>
                  <a:srgbClr val="20252D"/>
                </a:solidFill>
                <a:latin typeface="Arial"/>
                <a:ea typeface="Arial"/>
              </a:rPr>
              <a:t>Rule-based</a:t>
            </a:r>
          </a:p>
        </p:txBody>
      </p:sp>
      <p:sp>
        <p:nvSpPr>
          <p:cNvPr id="100233" name="Fixed-15"/>
          <p:cNvSpPr/>
          <p:nvPr/>
        </p:nvSpPr>
        <p:spPr>
          <a:xfrm xmlns:a="http://schemas.openxmlformats.org/drawingml/2006/main">
            <a:off x="9600000" y="2502000"/>
            <a:ext cx="1800000" cy="46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2400" b="1" i="0">
                <a:solidFill>
                  <a:srgbClr val="5C626C"/>
                </a:solidFill>
                <a:latin typeface="Arial"/>
                <a:ea typeface="Arial"/>
              </a:rPr>
              <a:t>6 / 6</a:t>
            </a:r>
          </a:p>
        </p:txBody>
      </p:sp>
      <p:sp>
        <p:nvSpPr>
          <p:cNvPr id="100234" name="Element-16"/>
          <p:cNvSpPr/>
          <p:nvPr/>
        </p:nvSpPr>
        <p:spPr>
          <a:xfrm xmlns:a="http://schemas.openxmlformats.org/drawingml/2006/main">
            <a:off x="792000" y="2916000"/>
            <a:ext cx="10608000" cy="5940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35" name="Element-17"/>
          <p:cNvSpPr/>
          <p:nvPr/>
        </p:nvSpPr>
        <p:spPr>
          <a:xfrm xmlns:a="http://schemas.openxmlformats.org/drawingml/2006/main">
            <a:off x="792000" y="35100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36" name="Fixed-18"/>
          <p:cNvSpPr/>
          <p:nvPr/>
        </p:nvSpPr>
        <p:spPr>
          <a:xfrm xmlns:a="http://schemas.openxmlformats.org/drawingml/2006/main">
            <a:off x="792000" y="3816000"/>
            <a:ext cx="5040000" cy="39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900" b="1" i="0">
                <a:solidFill>
                  <a:srgbClr val="20252D"/>
                </a:solidFill>
                <a:latin typeface="Arial"/>
                <a:ea typeface="Arial"/>
              </a:rPr>
              <a:t>Model-based</a:t>
            </a:r>
          </a:p>
        </p:txBody>
      </p:sp>
      <p:sp>
        <p:nvSpPr>
          <p:cNvPr id="100237" name="Fixed-19"/>
          <p:cNvSpPr/>
          <p:nvPr/>
        </p:nvSpPr>
        <p:spPr>
          <a:xfrm xmlns:a="http://schemas.openxmlformats.org/drawingml/2006/main">
            <a:off x="9600000" y="3780000"/>
            <a:ext cx="1800000" cy="46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2400" b="1" i="0">
                <a:solidFill>
                  <a:srgbClr val="B60036"/>
                </a:solidFill>
                <a:latin typeface="Arial"/>
                <a:ea typeface="Arial"/>
              </a:rPr>
              <a:t>6 / 6</a:t>
            </a:r>
          </a:p>
        </p:txBody>
      </p:sp>
      <p:sp>
        <p:nvSpPr>
          <p:cNvPr id="100238" name="Element-20"/>
          <p:cNvSpPr/>
          <p:nvPr/>
        </p:nvSpPr>
        <p:spPr>
          <a:xfrm xmlns:a="http://schemas.openxmlformats.org/drawingml/2006/main">
            <a:off x="792000" y="4194000"/>
            <a:ext cx="10608000" cy="594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39" name="Element-21"/>
          <p:cNvSpPr/>
          <p:nvPr/>
        </p:nvSpPr>
        <p:spPr>
          <a:xfrm xmlns:a="http://schemas.openxmlformats.org/drawingml/2006/main">
            <a:off x="792000" y="47880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40" name="Element-22"/>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41" name="Caption-9"/>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The instrument does not discriminate between them.</a:t>
            </a:r>
          </a:p>
        </p:txBody>
      </p:sp>
      <p:sp>
        <p:nvSpPr>
          <p:cNvPr id="100242" name="Fixed-24"/>
          <p:cNvSpPr/>
          <p:nvPr/>
        </p:nvSpPr>
        <p:spPr>
          <a:xfrm xmlns:a="http://schemas.openxmlformats.org/drawingml/2006/main">
            <a:off x="792000" y="57816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This is a limitation of the instrument, not of the model.</a:t>
            </a:r>
          </a:p>
        </p:txBody>
      </p:sp>
      <p:sp>
        <p:nvSpPr>
          <p:cNvPr id="100243" name="Fixed-25"/>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244" name="Fixed-26"/>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9</a:t>
            </a:r>
          </a:p>
        </p:txBody>
      </p:sp>
    </p:spTree>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245"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6543bcb9de504003"/>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246"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247"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Instrument</a:t>
            </a:r>
          </a:p>
        </p:txBody>
      </p:sp>
      <p:sp>
        <p:nvSpPr>
          <p:cNvPr id="100248" name="Fixed-6"/>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249" name="Fixed-7"/>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Hypotheses</a:t>
            </a:r>
          </a:p>
        </p:txBody>
      </p:sp>
      <p:sp>
        <p:nvSpPr>
          <p:cNvPr id="100250" name="Element-8"/>
          <p:cNvSpPr/>
          <p:nvPr/>
        </p:nvSpPr>
        <p:spPr>
          <a:xfrm xmlns:a="http://schemas.openxmlformats.org/drawingml/2006/main">
            <a:off x="61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51"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Outlook</a:t>
            </a:r>
          </a:p>
        </p:txBody>
      </p:sp>
      <p:sp>
        <p:nvSpPr>
          <p:cNvPr id="100252"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The objective restated as hypotheses</a:t>
            </a:r>
          </a:p>
        </p:txBody>
      </p:sp>
      <p:sp>
        <p:nvSpPr>
          <p:cNvPr id="100253"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54" name="Element-12"/>
          <p:cNvSpPr/>
          <p:nvPr/>
        </p:nvSpPr>
        <p:spPr>
          <a:xfrm xmlns:a="http://schemas.openxmlformats.org/drawingml/2006/main">
            <a:off x="792000" y="1710000"/>
            <a:ext cx="3384800" cy="1422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55" name="Fixed-13"/>
          <p:cNvSpPr/>
          <p:nvPr/>
        </p:nvSpPr>
        <p:spPr>
          <a:xfrm xmlns:a="http://schemas.openxmlformats.org/drawingml/2006/main">
            <a:off x="1008000" y="18324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H1</a:t>
            </a:r>
          </a:p>
        </p:txBody>
      </p:sp>
      <p:sp>
        <p:nvSpPr>
          <p:cNvPr id="100256" name="Fixed-14"/>
          <p:cNvSpPr/>
          <p:nvPr/>
        </p:nvSpPr>
        <p:spPr>
          <a:xfrm xmlns:a="http://schemas.openxmlformats.org/drawingml/2006/main">
            <a:off x="1638000" y="1911600"/>
            <a:ext cx="24308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1" i="0">
                <a:solidFill>
                  <a:srgbClr val="20252D"/>
                </a:solidFill>
                <a:latin typeface="Arial"/>
                <a:ea typeface="Arial"/>
              </a:rPr>
              <a:t>Connected devices</a:t>
            </a:r>
          </a:p>
        </p:txBody>
      </p:sp>
      <p:sp>
        <p:nvSpPr>
          <p:cNvPr id="100257" name="Element-15"/>
          <p:cNvSpPr/>
          <p:nvPr/>
        </p:nvSpPr>
        <p:spPr>
          <a:xfrm xmlns:a="http://schemas.openxmlformats.org/drawingml/2006/main">
            <a:off x="1008000" y="2293200"/>
            <a:ext cx="29528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58" name="Fixed-16"/>
          <p:cNvSpPr/>
          <p:nvPr/>
        </p:nvSpPr>
        <p:spPr>
          <a:xfrm xmlns:a="http://schemas.openxmlformats.org/drawingml/2006/main">
            <a:off x="1008000" y="2376000"/>
            <a:ext cx="2952800" cy="66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i="0">
                <a:solidFill>
                  <a:srgbClr val="5C626C"/>
                </a:solidFill>
                <a:latin typeface="Arial"/>
                <a:ea typeface="Arial"/>
              </a:rPr>
              <a:t>a link absent from public inputs</a:t>
            </a:r>
          </a:p>
        </p:txBody>
      </p:sp>
      <p:sp>
        <p:nvSpPr>
          <p:cNvPr id="100259" name="Element-17"/>
          <p:cNvSpPr/>
          <p:nvPr/>
        </p:nvSpPr>
        <p:spPr>
          <a:xfrm xmlns:a="http://schemas.openxmlformats.org/drawingml/2006/main">
            <a:off x="4403600" y="1710000"/>
            <a:ext cx="3384800" cy="1422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60" name="Fixed-18"/>
          <p:cNvSpPr/>
          <p:nvPr/>
        </p:nvSpPr>
        <p:spPr>
          <a:xfrm xmlns:a="http://schemas.openxmlformats.org/drawingml/2006/main">
            <a:off x="4619600" y="18324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H2</a:t>
            </a:r>
          </a:p>
        </p:txBody>
      </p:sp>
      <p:sp>
        <p:nvSpPr>
          <p:cNvPr id="100261" name="Fixed-19"/>
          <p:cNvSpPr/>
          <p:nvPr/>
        </p:nvSpPr>
        <p:spPr>
          <a:xfrm xmlns:a="http://schemas.openxmlformats.org/drawingml/2006/main">
            <a:off x="5249600" y="1911600"/>
            <a:ext cx="24308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1" i="0">
                <a:solidFill>
                  <a:srgbClr val="20252D"/>
                </a:solidFill>
                <a:latin typeface="Arial"/>
                <a:ea typeface="Arial"/>
              </a:rPr>
              <a:t>Heterogeneous formats</a:t>
            </a:r>
          </a:p>
        </p:txBody>
      </p:sp>
      <p:sp>
        <p:nvSpPr>
          <p:cNvPr id="100262" name="Element-20"/>
          <p:cNvSpPr/>
          <p:nvPr/>
        </p:nvSpPr>
        <p:spPr>
          <a:xfrm xmlns:a="http://schemas.openxmlformats.org/drawingml/2006/main">
            <a:off x="4619600" y="2293200"/>
            <a:ext cx="29528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63" name="Fixed-21"/>
          <p:cNvSpPr/>
          <p:nvPr/>
        </p:nvSpPr>
        <p:spPr>
          <a:xfrm xmlns:a="http://schemas.openxmlformats.org/drawingml/2006/main">
            <a:off x="4619600" y="2376000"/>
            <a:ext cx="2952800" cy="66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i="0">
                <a:solidFill>
                  <a:srgbClr val="5C626C"/>
                </a:solidFill>
                <a:latin typeface="Arial"/>
                <a:ea typeface="Arial"/>
              </a:rPr>
              <a:t>a representation no parser covers</a:t>
            </a:r>
          </a:p>
        </p:txBody>
      </p:sp>
      <p:sp>
        <p:nvSpPr>
          <p:cNvPr id="100264" name="Element-22"/>
          <p:cNvSpPr/>
          <p:nvPr/>
        </p:nvSpPr>
        <p:spPr>
          <a:xfrm xmlns:a="http://schemas.openxmlformats.org/drawingml/2006/main">
            <a:off x="8015200" y="1710000"/>
            <a:ext cx="3384800" cy="1422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65" name="Fixed-23"/>
          <p:cNvSpPr/>
          <p:nvPr/>
        </p:nvSpPr>
        <p:spPr>
          <a:xfrm xmlns:a="http://schemas.openxmlformats.org/drawingml/2006/main">
            <a:off x="8231200" y="18324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H3</a:t>
            </a:r>
          </a:p>
        </p:txBody>
      </p:sp>
      <p:sp>
        <p:nvSpPr>
          <p:cNvPr id="100266" name="Fixed-24"/>
          <p:cNvSpPr/>
          <p:nvPr/>
        </p:nvSpPr>
        <p:spPr>
          <a:xfrm xmlns:a="http://schemas.openxmlformats.org/drawingml/2006/main">
            <a:off x="8861200" y="1911600"/>
            <a:ext cx="24308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1" i="0">
                <a:solidFill>
                  <a:srgbClr val="20252D"/>
                </a:solidFill>
                <a:latin typeface="Arial"/>
                <a:ea typeface="Arial"/>
              </a:rPr>
              <a:t>Novel contracts</a:t>
            </a:r>
          </a:p>
        </p:txBody>
      </p:sp>
      <p:sp>
        <p:nvSpPr>
          <p:cNvPr id="100267" name="Element-25"/>
          <p:cNvSpPr/>
          <p:nvPr/>
        </p:nvSpPr>
        <p:spPr>
          <a:xfrm xmlns:a="http://schemas.openxmlformats.org/drawingml/2006/main">
            <a:off x="8231200" y="2293200"/>
            <a:ext cx="29528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68" name="Fixed-26"/>
          <p:cNvSpPr/>
          <p:nvPr/>
        </p:nvSpPr>
        <p:spPr>
          <a:xfrm xmlns:a="http://schemas.openxmlformats.org/drawingml/2006/main">
            <a:off x="8231200" y="2376000"/>
            <a:ext cx="2952800" cy="66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i="0">
                <a:solidFill>
                  <a:srgbClr val="5C626C"/>
                </a:solidFill>
                <a:latin typeface="Arial"/>
                <a:ea typeface="Arial"/>
              </a:rPr>
              <a:t>rights stated in unseen documentation</a:t>
            </a:r>
          </a:p>
        </p:txBody>
      </p:sp>
      <p:sp>
        <p:nvSpPr>
          <p:cNvPr id="100269" name="Element-27"/>
          <p:cNvSpPr/>
          <p:nvPr/>
        </p:nvSpPr>
        <p:spPr>
          <a:xfrm xmlns:a="http://schemas.openxmlformats.org/drawingml/2006/main">
            <a:off x="792000" y="3276000"/>
            <a:ext cx="3384800" cy="1422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70" name="Fixed-28"/>
          <p:cNvSpPr/>
          <p:nvPr/>
        </p:nvSpPr>
        <p:spPr>
          <a:xfrm xmlns:a="http://schemas.openxmlformats.org/drawingml/2006/main">
            <a:off x="1008000" y="33984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H4</a:t>
            </a:r>
          </a:p>
        </p:txBody>
      </p:sp>
      <p:sp>
        <p:nvSpPr>
          <p:cNvPr id="100271" name="Fixed-29"/>
          <p:cNvSpPr/>
          <p:nvPr/>
        </p:nvSpPr>
        <p:spPr>
          <a:xfrm xmlns:a="http://schemas.openxmlformats.org/drawingml/2006/main">
            <a:off x="1638000" y="3477600"/>
            <a:ext cx="24308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1" i="0">
                <a:solidFill>
                  <a:srgbClr val="20252D"/>
                </a:solidFill>
                <a:latin typeface="Arial"/>
                <a:ea typeface="Arial"/>
              </a:rPr>
              <a:t>Vendor semantics</a:t>
            </a:r>
          </a:p>
        </p:txBody>
      </p:sp>
      <p:sp>
        <p:nvSpPr>
          <p:cNvPr id="100272" name="Element-30"/>
          <p:cNvSpPr/>
          <p:nvPr/>
        </p:nvSpPr>
        <p:spPr>
          <a:xfrm xmlns:a="http://schemas.openxmlformats.org/drawingml/2006/main">
            <a:off x="1008000" y="3859200"/>
            <a:ext cx="29528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73" name="Fixed-31"/>
          <p:cNvSpPr/>
          <p:nvPr/>
        </p:nvSpPr>
        <p:spPr>
          <a:xfrm xmlns:a="http://schemas.openxmlformats.org/drawingml/2006/main">
            <a:off x="1008000" y="3942000"/>
            <a:ext cx="2952800" cy="66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i="0">
                <a:solidFill>
                  <a:srgbClr val="5C626C"/>
                </a:solidFill>
                <a:latin typeface="Arial"/>
                <a:ea typeface="Arial"/>
              </a:rPr>
              <a:t>a field whose meaning is only documented</a:t>
            </a:r>
          </a:p>
        </p:txBody>
      </p:sp>
      <p:sp>
        <p:nvSpPr>
          <p:cNvPr id="100274" name="Element-32"/>
          <p:cNvSpPr/>
          <p:nvPr/>
        </p:nvSpPr>
        <p:spPr>
          <a:xfrm xmlns:a="http://schemas.openxmlformats.org/drawingml/2006/main">
            <a:off x="4403600" y="3276000"/>
            <a:ext cx="3384800" cy="1422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75" name="Fixed-33"/>
          <p:cNvSpPr/>
          <p:nvPr/>
        </p:nvSpPr>
        <p:spPr>
          <a:xfrm xmlns:a="http://schemas.openxmlformats.org/drawingml/2006/main">
            <a:off x="4619600" y="33984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H5</a:t>
            </a:r>
          </a:p>
        </p:txBody>
      </p:sp>
      <p:sp>
        <p:nvSpPr>
          <p:cNvPr id="100276" name="Fixed-34"/>
          <p:cNvSpPr/>
          <p:nvPr/>
        </p:nvSpPr>
        <p:spPr>
          <a:xfrm xmlns:a="http://schemas.openxmlformats.org/drawingml/2006/main">
            <a:off x="5249600" y="3477600"/>
            <a:ext cx="24308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1" i="0">
                <a:solidFill>
                  <a:srgbClr val="20252D"/>
                </a:solidFill>
                <a:latin typeface="Arial"/>
                <a:ea typeface="Arial"/>
              </a:rPr>
              <a:t>Ambiguous refusals</a:t>
            </a:r>
          </a:p>
        </p:txBody>
      </p:sp>
      <p:sp>
        <p:nvSpPr>
          <p:cNvPr id="100277" name="Element-35"/>
          <p:cNvSpPr/>
          <p:nvPr/>
        </p:nvSpPr>
        <p:spPr>
          <a:xfrm xmlns:a="http://schemas.openxmlformats.org/drawingml/2006/main">
            <a:off x="4619600" y="3859200"/>
            <a:ext cx="29528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78" name="Fixed-36"/>
          <p:cNvSpPr/>
          <p:nvPr/>
        </p:nvSpPr>
        <p:spPr>
          <a:xfrm xmlns:a="http://schemas.openxmlformats.org/drawingml/2006/main">
            <a:off x="4619600" y="3942000"/>
            <a:ext cx="2952800" cy="66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i="0">
                <a:solidFill>
                  <a:srgbClr val="5C626C"/>
                </a:solidFill>
                <a:latin typeface="Arial"/>
                <a:ea typeface="Arial"/>
              </a:rPr>
              <a:t>resuming the audit after a refusal</a:t>
            </a:r>
          </a:p>
        </p:txBody>
      </p:sp>
      <p:sp>
        <p:nvSpPr>
          <p:cNvPr id="100279" name="Element-37"/>
          <p:cNvSpPr/>
          <p:nvPr/>
        </p:nvSpPr>
        <p:spPr>
          <a:xfrm xmlns:a="http://schemas.openxmlformats.org/drawingml/2006/main">
            <a:off x="8015200" y="3276000"/>
            <a:ext cx="3384800" cy="1422000"/>
          </a:xfrm>
          <a:prstGeom xmlns:a="http://schemas.openxmlformats.org/drawingml/2006/main" prst="rect">
            <a:avLst/>
          </a:prstGeom>
          <a:solidFill xmlns:a="http://schemas.openxmlformats.org/drawingml/2006/main">
            <a:srgbClr val="FCF0F4"/>
          </a:solidFill>
          <a:ln xmlns:a="http://schemas.openxmlformats.org/drawingml/2006/main" w="12700">
            <a:solidFill>
              <a:srgbClr val="B6003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80" name="Fixed-38"/>
          <p:cNvSpPr/>
          <p:nvPr/>
        </p:nvSpPr>
        <p:spPr>
          <a:xfrm xmlns:a="http://schemas.openxmlformats.org/drawingml/2006/main">
            <a:off x="8231200" y="33984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B60036"/>
                </a:solidFill>
                <a:latin typeface="Arial"/>
                <a:ea typeface="Arial"/>
              </a:rPr>
              <a:t>H6</a:t>
            </a:r>
          </a:p>
        </p:txBody>
      </p:sp>
      <p:sp>
        <p:nvSpPr>
          <p:cNvPr id="100281" name="Fixed-39"/>
          <p:cNvSpPr/>
          <p:nvPr/>
        </p:nvSpPr>
        <p:spPr>
          <a:xfrm xmlns:a="http://schemas.openxmlformats.org/drawingml/2006/main">
            <a:off x="8861200" y="3477600"/>
            <a:ext cx="24308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1" i="0">
                <a:solidFill>
                  <a:srgbClr val="B60036"/>
                </a:solidFill>
                <a:latin typeface="Arial"/>
                <a:ea typeface="Arial"/>
              </a:rPr>
              <a:t>Hostile content</a:t>
            </a:r>
          </a:p>
        </p:txBody>
      </p:sp>
      <p:sp>
        <p:nvSpPr>
          <p:cNvPr id="100282" name="Element-40"/>
          <p:cNvSpPr/>
          <p:nvPr/>
        </p:nvSpPr>
        <p:spPr>
          <a:xfrm xmlns:a="http://schemas.openxmlformats.org/drawingml/2006/main">
            <a:off x="8231200" y="3859200"/>
            <a:ext cx="2952800" cy="108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83" name="Fixed-41"/>
          <p:cNvSpPr/>
          <p:nvPr/>
        </p:nvSpPr>
        <p:spPr>
          <a:xfrm xmlns:a="http://schemas.openxmlformats.org/drawingml/2006/main">
            <a:off x="8231200" y="3942000"/>
            <a:ext cx="2952800" cy="66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i="0">
                <a:solidFill>
                  <a:srgbClr val="5C626C"/>
                </a:solidFill>
                <a:latin typeface="Arial"/>
                <a:ea typeface="Arial"/>
              </a:rPr>
              <a:t>an instruction obeyed from observed content</a:t>
            </a:r>
          </a:p>
        </p:txBody>
      </p:sp>
      <p:sp>
        <p:nvSpPr>
          <p:cNvPr id="100284" name="Element-42"/>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85" name="Caption-10"/>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H1–H5 quantify a possible gain.      H6 quantifies a risk.</a:t>
            </a:r>
          </a:p>
        </p:txBody>
      </p:sp>
      <p:sp>
        <p:nvSpPr>
          <p:cNvPr id="100286" name="Fixed-44"/>
          <p:cNvSpPr/>
          <p:nvPr/>
        </p:nvSpPr>
        <p:spPr>
          <a:xfrm xmlns:a="http://schemas.openxmlformats.org/drawingml/2006/main">
            <a:off x="792000" y="57816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The register is this list of hypotheses and the test of each.</a:t>
            </a:r>
          </a:p>
        </p:txBody>
      </p:sp>
      <p:sp>
        <p:nvSpPr>
          <p:cNvPr id="100287" name="Fixed-45"/>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288" name="Fixed-46"/>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10</a:t>
            </a:r>
          </a:p>
        </p:txBody>
      </p:sp>
    </p:spTree>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289"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70ba940686eb45f0"/>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290"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291"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Instrument</a:t>
            </a:r>
          </a:p>
        </p:txBody>
      </p:sp>
      <p:sp>
        <p:nvSpPr>
          <p:cNvPr id="100292" name="Fixed-6"/>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293" name="Fixed-7"/>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294" name="Fixed-8"/>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Outlook</a:t>
            </a:r>
          </a:p>
        </p:txBody>
      </p:sp>
      <p:sp>
        <p:nvSpPr>
          <p:cNvPr id="100295" name="Element-9"/>
          <p:cNvSpPr/>
          <p:nvPr/>
        </p:nvSpPr>
        <p:spPr>
          <a:xfrm xmlns:a="http://schemas.openxmlformats.org/drawingml/2006/main">
            <a:off x="79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96"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What we cannot claim</a:t>
            </a:r>
          </a:p>
        </p:txBody>
      </p:sp>
      <p:sp>
        <p:nvSpPr>
          <p:cNvPr id="100297"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98" name="Element-12"/>
          <p:cNvSpPr/>
          <p:nvPr/>
        </p:nvSpPr>
        <p:spPr>
          <a:xfrm xmlns:a="http://schemas.openxmlformats.org/drawingml/2006/main">
            <a:off x="792000" y="1728000"/>
            <a:ext cx="10608000" cy="918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99" name="Element-13"/>
          <p:cNvSpPr/>
          <p:nvPr/>
        </p:nvSpPr>
        <p:spPr>
          <a:xfrm xmlns:a="http://schemas.openxmlformats.org/drawingml/2006/main">
            <a:off x="792000" y="1728000"/>
            <a:ext cx="50400" cy="918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00" name="Element-14"/>
          <p:cNvSpPr/>
          <p:nvPr/>
        </p:nvSpPr>
        <p:spPr>
          <a:xfrm xmlns:a="http://schemas.openxmlformats.org/drawingml/2006/main">
            <a:off x="1098000" y="1728000"/>
            <a:ext cx="396000" cy="91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a:t>
            </a:r>
          </a:p>
        </p:txBody>
      </p:sp>
      <p:sp>
        <p:nvSpPr>
          <p:cNvPr id="100301" name="Element-15"/>
          <p:cNvSpPr/>
          <p:nvPr/>
        </p:nvSpPr>
        <p:spPr>
          <a:xfrm xmlns:a="http://schemas.openxmlformats.org/drawingml/2006/main">
            <a:off x="1620000" y="1728000"/>
            <a:ext cx="3384000" cy="91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B60036"/>
                </a:solidFill>
                <a:latin typeface="Arial"/>
                <a:ea typeface="Arial"/>
              </a:rPr>
              <a:t>No general advantage</a:t>
            </a:r>
          </a:p>
        </p:txBody>
      </p:sp>
      <p:sp>
        <p:nvSpPr>
          <p:cNvPr id="100302" name="Element-16"/>
          <p:cNvSpPr/>
          <p:nvPr/>
        </p:nvSpPr>
        <p:spPr>
          <a:xfrm xmlns:a="http://schemas.openxmlformats.org/drawingml/2006/main">
            <a:off x="5148000" y="1728000"/>
            <a:ext cx="5928000" cy="91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500" b="0" i="0">
                <a:solidFill>
                  <a:srgbClr val="20252D"/>
                </a:solidFill>
                <a:latin typeface="Arial"/>
                <a:ea typeface="Arial"/>
              </a:rPr>
              <a:t>No hypothesis has yet been executed.</a:t>
            </a:r>
          </a:p>
        </p:txBody>
      </p:sp>
      <p:sp>
        <p:nvSpPr>
          <p:cNvPr id="100303" name="Element-17"/>
          <p:cNvSpPr/>
          <p:nvPr/>
        </p:nvSpPr>
        <p:spPr>
          <a:xfrm xmlns:a="http://schemas.openxmlformats.org/drawingml/2006/main">
            <a:off x="792000" y="2826000"/>
            <a:ext cx="10608000" cy="918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04" name="Element-18"/>
          <p:cNvSpPr/>
          <p:nvPr/>
        </p:nvSpPr>
        <p:spPr>
          <a:xfrm xmlns:a="http://schemas.openxmlformats.org/drawingml/2006/main">
            <a:off x="792000" y="2826000"/>
            <a:ext cx="50400" cy="918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05" name="Element-19"/>
          <p:cNvSpPr/>
          <p:nvPr/>
        </p:nvSpPr>
        <p:spPr>
          <a:xfrm xmlns:a="http://schemas.openxmlformats.org/drawingml/2006/main">
            <a:off x="1098000" y="2826000"/>
            <a:ext cx="396000" cy="91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a:t>
            </a:r>
          </a:p>
        </p:txBody>
      </p:sp>
      <p:sp>
        <p:nvSpPr>
          <p:cNvPr id="100306" name="Element-20"/>
          <p:cNvSpPr/>
          <p:nvPr/>
        </p:nvSpPr>
        <p:spPr>
          <a:xfrm xmlns:a="http://schemas.openxmlformats.org/drawingml/2006/main">
            <a:off x="1620000" y="2826000"/>
            <a:ext cx="3384000" cy="91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B60036"/>
                </a:solidFill>
                <a:latin typeface="Arial"/>
                <a:ea typeface="Arial"/>
              </a:rPr>
              <a:t>No confidence interval</a:t>
            </a:r>
          </a:p>
        </p:txBody>
      </p:sp>
      <p:sp>
        <p:nvSpPr>
          <p:cNvPr id="100307" name="Element-21"/>
          <p:cNvSpPr/>
          <p:nvPr/>
        </p:nvSpPr>
        <p:spPr>
          <a:xfrm xmlns:a="http://schemas.openxmlformats.org/drawingml/2006/main">
            <a:off x="5148000" y="2826000"/>
            <a:ext cx="5928000" cy="91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500" b="0" i="0">
                <a:solidFill>
                  <a:srgbClr val="20252D"/>
                </a:solidFill>
                <a:latin typeface="Arial"/>
                <a:ea typeface="Arial"/>
              </a:rPr>
              <a:t>Three repetitions yield a dispersion, not a sample.</a:t>
            </a:r>
          </a:p>
        </p:txBody>
      </p:sp>
      <p:sp>
        <p:nvSpPr>
          <p:cNvPr id="100308" name="Element-22"/>
          <p:cNvSpPr/>
          <p:nvPr/>
        </p:nvSpPr>
        <p:spPr>
          <a:xfrm xmlns:a="http://schemas.openxmlformats.org/drawingml/2006/main">
            <a:off x="792000" y="3924000"/>
            <a:ext cx="10608000" cy="918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09" name="Element-23"/>
          <p:cNvSpPr/>
          <p:nvPr/>
        </p:nvSpPr>
        <p:spPr>
          <a:xfrm xmlns:a="http://schemas.openxmlformats.org/drawingml/2006/main">
            <a:off x="792000" y="3924000"/>
            <a:ext cx="50400" cy="918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10" name="Element-24"/>
          <p:cNvSpPr/>
          <p:nvPr/>
        </p:nvSpPr>
        <p:spPr>
          <a:xfrm xmlns:a="http://schemas.openxmlformats.org/drawingml/2006/main">
            <a:off x="1098000" y="3924000"/>
            <a:ext cx="396000" cy="91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a:t>
            </a:r>
          </a:p>
        </p:txBody>
      </p:sp>
      <p:sp>
        <p:nvSpPr>
          <p:cNvPr id="100311" name="Element-25"/>
          <p:cNvSpPr/>
          <p:nvPr/>
        </p:nvSpPr>
        <p:spPr>
          <a:xfrm xmlns:a="http://schemas.openxmlformats.org/drawingml/2006/main">
            <a:off x="1620000" y="3924000"/>
            <a:ext cx="3384000" cy="91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B60036"/>
                </a:solidFill>
                <a:latin typeface="Arial"/>
                <a:ea typeface="Arial"/>
              </a:rPr>
              <a:t>No admitted evidence</a:t>
            </a:r>
          </a:p>
        </p:txBody>
      </p:sp>
      <p:sp>
        <p:nvSpPr>
          <p:cNvPr id="100312" name="Element-26"/>
          <p:cNvSpPr/>
          <p:nvPr/>
        </p:nvSpPr>
        <p:spPr>
          <a:xfrm xmlns:a="http://schemas.openxmlformats.org/drawingml/2006/main">
            <a:off x="5148000" y="3924000"/>
            <a:ext cx="5928000" cy="91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500" b="0" i="0">
                <a:solidFill>
                  <a:srgbClr val="20252D"/>
                </a:solidFill>
                <a:latin typeface="Arial"/>
                <a:ea typeface="Arial"/>
              </a:rPr>
              <a:t>The metric definition is not frozen.</a:t>
            </a:r>
          </a:p>
        </p:txBody>
      </p:sp>
      <p:sp>
        <p:nvSpPr>
          <p:cNvPr id="100313" name="Element-27"/>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14" name="Caption-11"/>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A successful run is not a measurement: one early run reported success while every model arm had failed.</a:t>
            </a:r>
          </a:p>
        </p:txBody>
      </p:sp>
      <p:sp>
        <p:nvSpPr>
          <p:cNvPr id="100315" name="Fixed-29"/>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316" name="Fixed-30"/>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11</a:t>
            </a:r>
          </a:p>
        </p:txBody>
      </p:sp>
    </p:spTree>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317"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53678815104c43c9"/>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318"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319"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Instrument</a:t>
            </a:r>
          </a:p>
        </p:txBody>
      </p:sp>
      <p:sp>
        <p:nvSpPr>
          <p:cNvPr id="100320" name="Fixed-6"/>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321" name="Fixed-7"/>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322" name="Fixed-8"/>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Outlook</a:t>
            </a:r>
          </a:p>
        </p:txBody>
      </p:sp>
      <p:sp>
        <p:nvSpPr>
          <p:cNvPr id="100323" name="Element-9"/>
          <p:cNvSpPr/>
          <p:nvPr/>
        </p:nvSpPr>
        <p:spPr>
          <a:xfrm xmlns:a="http://schemas.openxmlformats.org/drawingml/2006/main">
            <a:off x="79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24"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Next steps</a:t>
            </a:r>
          </a:p>
        </p:txBody>
      </p:sp>
      <p:sp>
        <p:nvSpPr>
          <p:cNvPr id="100325"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26" name="Fixed-12"/>
          <p:cNvSpPr/>
          <p:nvPr/>
        </p:nvSpPr>
        <p:spPr>
          <a:xfrm xmlns:a="http://schemas.openxmlformats.org/drawingml/2006/main">
            <a:off x="792000" y="1782000"/>
            <a:ext cx="432000" cy="55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1</a:t>
            </a:r>
          </a:p>
        </p:txBody>
      </p:sp>
      <p:sp>
        <p:nvSpPr>
          <p:cNvPr id="100327" name="Fixed-13"/>
          <p:cNvSpPr/>
          <p:nvPr/>
        </p:nvSpPr>
        <p:spPr>
          <a:xfrm xmlns:a="http://schemas.openxmlformats.org/drawingml/2006/main">
            <a:off x="1494000" y="1782000"/>
            <a:ext cx="6252400" cy="55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0" i="0">
                <a:solidFill>
                  <a:srgbClr val="20252D"/>
                </a:solidFill>
                <a:latin typeface="Arial"/>
                <a:ea typeface="Arial"/>
              </a:rPr>
              <a:t>Execute V0 on a held-out instance</a:t>
            </a:r>
          </a:p>
        </p:txBody>
      </p:sp>
      <p:sp>
        <p:nvSpPr>
          <p:cNvPr id="100328" name="Element-14"/>
          <p:cNvSpPr/>
          <p:nvPr/>
        </p:nvSpPr>
        <p:spPr>
          <a:xfrm xmlns:a="http://schemas.openxmlformats.org/drawingml/2006/main">
            <a:off x="1494000" y="2430000"/>
            <a:ext cx="62524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29" name="Fixed-15"/>
          <p:cNvSpPr/>
          <p:nvPr/>
        </p:nvSpPr>
        <p:spPr>
          <a:xfrm xmlns:a="http://schemas.openxmlformats.org/drawingml/2006/main">
            <a:off x="792000" y="2718000"/>
            <a:ext cx="432000" cy="55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2</a:t>
            </a:r>
          </a:p>
        </p:txBody>
      </p:sp>
      <p:sp>
        <p:nvSpPr>
          <p:cNvPr id="100330" name="Fixed-16"/>
          <p:cNvSpPr/>
          <p:nvPr/>
        </p:nvSpPr>
        <p:spPr>
          <a:xfrm xmlns:a="http://schemas.openxmlformats.org/drawingml/2006/main">
            <a:off x="1494000" y="2718000"/>
            <a:ext cx="6252400" cy="55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0" i="0">
                <a:solidFill>
                  <a:srgbClr val="20252D"/>
                </a:solidFill>
                <a:latin typeface="Arial"/>
                <a:ea typeface="Arial"/>
              </a:rPr>
              <a:t>Develop a parameterisable test harness</a:t>
            </a:r>
          </a:p>
        </p:txBody>
      </p:sp>
      <p:sp>
        <p:nvSpPr>
          <p:cNvPr id="100331" name="Element-17"/>
          <p:cNvSpPr/>
          <p:nvPr/>
        </p:nvSpPr>
        <p:spPr>
          <a:xfrm xmlns:a="http://schemas.openxmlformats.org/drawingml/2006/main">
            <a:off x="1494000" y="3366000"/>
            <a:ext cx="62524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32" name="Fixed-18"/>
          <p:cNvSpPr/>
          <p:nvPr/>
        </p:nvSpPr>
        <p:spPr>
          <a:xfrm xmlns:a="http://schemas.openxmlformats.org/drawingml/2006/main">
            <a:off x="792000" y="3654000"/>
            <a:ext cx="432000" cy="55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3</a:t>
            </a:r>
          </a:p>
        </p:txBody>
      </p:sp>
      <p:sp>
        <p:nvSpPr>
          <p:cNvPr id="100333" name="Fixed-19"/>
          <p:cNvSpPr/>
          <p:nvPr/>
        </p:nvSpPr>
        <p:spPr>
          <a:xfrm xmlns:a="http://schemas.openxmlformats.org/drawingml/2006/main">
            <a:off x="1494000" y="3654000"/>
            <a:ext cx="6252400" cy="55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0" i="0">
                <a:solidFill>
                  <a:srgbClr val="20252D"/>
                </a:solidFill>
                <a:latin typeface="Arial"/>
                <a:ea typeface="Arial"/>
              </a:rPr>
              <a:t>Build the scenario families for H2, H3 and H4</a:t>
            </a:r>
          </a:p>
        </p:txBody>
      </p:sp>
      <p:sp>
        <p:nvSpPr>
          <p:cNvPr id="100334" name="Element-20"/>
          <p:cNvSpPr/>
          <p:nvPr/>
        </p:nvSpPr>
        <p:spPr>
          <a:xfrm xmlns:a="http://schemas.openxmlformats.org/drawingml/2006/main">
            <a:off x="1494000" y="4302000"/>
            <a:ext cx="62524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35" name="Fixed-21"/>
          <p:cNvSpPr/>
          <p:nvPr/>
        </p:nvSpPr>
        <p:spPr>
          <a:xfrm xmlns:a="http://schemas.openxmlformats.org/drawingml/2006/main">
            <a:off x="792000" y="4590000"/>
            <a:ext cx="432000" cy="55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4</a:t>
            </a:r>
          </a:p>
        </p:txBody>
      </p:sp>
      <p:sp>
        <p:nvSpPr>
          <p:cNvPr id="100336" name="Fixed-22"/>
          <p:cNvSpPr/>
          <p:nvPr/>
        </p:nvSpPr>
        <p:spPr>
          <a:xfrm xmlns:a="http://schemas.openxmlformats.org/drawingml/2006/main">
            <a:off x="1494000" y="4590000"/>
            <a:ext cx="6252400" cy="55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0" i="0">
                <a:solidFill>
                  <a:srgbClr val="20252D"/>
                </a:solidFill>
                <a:latin typeface="Arial"/>
                <a:ea typeface="Arial"/>
              </a:rPr>
              <a:t>Deploy a reproducible platform</a:t>
            </a:r>
          </a:p>
        </p:txBody>
      </p:sp>
      <p:sp>
        <p:nvSpPr>
          <p:cNvPr id="100337" name="Element-23"/>
          <p:cNvSpPr/>
          <p:nvPr/>
        </p:nvSpPr>
        <p:spPr>
          <a:xfrm xmlns:a="http://schemas.openxmlformats.org/drawingml/2006/main">
            <a:off x="7998400" y="1782000"/>
            <a:ext cx="3401600" cy="2322000"/>
          </a:xfrm>
          <a:prstGeom xmlns:a="http://schemas.openxmlformats.org/drawingml/2006/main" prst="rect">
            <a:avLst/>
          </a:prstGeom>
          <a:solidFill xmlns:a="http://schemas.openxmlformats.org/drawingml/2006/main">
            <a:srgbClr val="FCF0F4"/>
          </a:solidFill>
          <a:ln xmlns:a="http://schemas.openxmlformats.org/drawingml/2006/main" w="12700">
            <a:solidFill>
              <a:srgbClr val="FCF0F4"/>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38" name="Element-24"/>
          <p:cNvSpPr/>
          <p:nvPr/>
        </p:nvSpPr>
        <p:spPr>
          <a:xfrm xmlns:a="http://schemas.openxmlformats.org/drawingml/2006/main">
            <a:off x="7998400" y="1782000"/>
            <a:ext cx="50400" cy="232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39" name="Fixed-25"/>
          <p:cNvSpPr/>
          <p:nvPr/>
        </p:nvSpPr>
        <p:spPr>
          <a:xfrm xmlns:a="http://schemas.openxmlformats.org/drawingml/2006/main">
            <a:off x="8304400" y="1879200"/>
            <a:ext cx="27896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700" b="1" i="0">
                <a:solidFill>
                  <a:srgbClr val="B60036"/>
                </a:solidFill>
                <a:latin typeface="Arial"/>
                <a:ea typeface="Arial"/>
              </a:rPr>
              <a:t>Support requested</a:t>
            </a:r>
          </a:p>
        </p:txBody>
      </p:sp>
      <p:sp>
        <p:nvSpPr>
          <p:cNvPr id="100340" name="Element-26"/>
          <p:cNvSpPr/>
          <p:nvPr/>
        </p:nvSpPr>
        <p:spPr>
          <a:xfrm xmlns:a="http://schemas.openxmlformats.org/drawingml/2006/main">
            <a:off x="8304400" y="2466000"/>
            <a:ext cx="162000" cy="396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41" name="Fixed-27"/>
          <p:cNvSpPr/>
          <p:nvPr/>
        </p:nvSpPr>
        <p:spPr>
          <a:xfrm xmlns:a="http://schemas.openxmlformats.org/drawingml/2006/main">
            <a:off x="8574400" y="2322000"/>
            <a:ext cx="271760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access to real vendor artifacts</a:t>
            </a:r>
          </a:p>
        </p:txBody>
      </p:sp>
      <p:sp>
        <p:nvSpPr>
          <p:cNvPr id="100342" name="Element-28"/>
          <p:cNvSpPr/>
          <p:nvPr/>
        </p:nvSpPr>
        <p:spPr>
          <a:xfrm xmlns:a="http://schemas.openxmlformats.org/drawingml/2006/main">
            <a:off x="8304400" y="3348000"/>
            <a:ext cx="162000" cy="396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43" name="Fixed-29"/>
          <p:cNvSpPr/>
          <p:nvPr/>
        </p:nvSpPr>
        <p:spPr>
          <a:xfrm xmlns:a="http://schemas.openxmlformats.org/drawingml/2006/main">
            <a:off x="8574400" y="3204000"/>
            <a:ext cx="271760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an adversarial review of the register</a:t>
            </a:r>
          </a:p>
        </p:txBody>
      </p:sp>
      <p:sp>
        <p:nvSpPr>
          <p:cNvPr id="100344" name="Element-30"/>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45" name="Caption-12"/>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Order follows conditions, not dates.</a:t>
            </a:r>
          </a:p>
        </p:txBody>
      </p:sp>
      <p:sp>
        <p:nvSpPr>
          <p:cNvPr id="100346" name="Fixed-32"/>
          <p:cNvSpPr/>
          <p:nvPr/>
        </p:nvSpPr>
        <p:spPr>
          <a:xfrm xmlns:a="http://schemas.openxmlformats.org/drawingml/2006/main">
            <a:off x="792000" y="57816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AsiaCCS 2027 — submission deadline 11 December 2026 (AoE).</a:t>
            </a:r>
          </a:p>
        </p:txBody>
      </p:sp>
      <p:sp>
        <p:nvSpPr>
          <p:cNvPr id="100347" name="Fixed-33"/>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348" name="Fixed-34"/>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12</a:t>
            </a:r>
          </a:p>
        </p:txBody>
      </p:sp>
    </p:spTree>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349"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6ecc2dd8a41f4ed0"/>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350"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351"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Instrument</a:t>
            </a:r>
          </a:p>
        </p:txBody>
      </p:sp>
      <p:sp>
        <p:nvSpPr>
          <p:cNvPr id="100352" name="Fixed-6"/>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353" name="Fixed-7"/>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354" name="Fixed-8"/>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Outlook</a:t>
            </a:r>
          </a:p>
        </p:txBody>
      </p:sp>
      <p:sp>
        <p:nvSpPr>
          <p:cNvPr id="100355" name="Element-9"/>
          <p:cNvSpPr/>
          <p:nvPr/>
        </p:nvSpPr>
        <p:spPr>
          <a:xfrm xmlns:a="http://schemas.openxmlformats.org/drawingml/2006/main">
            <a:off x="79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56"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Reserve — declared coverage gaps</a:t>
            </a:r>
          </a:p>
        </p:txBody>
      </p:sp>
      <p:sp>
        <p:nvSpPr>
          <p:cNvPr id="100357"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58" name="Element-12"/>
          <p:cNvSpPr/>
          <p:nvPr/>
        </p:nvSpPr>
        <p:spPr>
          <a:xfrm xmlns:a="http://schemas.openxmlformats.org/drawingml/2006/main">
            <a:off x="792000" y="1926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59" name="Fixed-13"/>
          <p:cNvSpPr/>
          <p:nvPr/>
        </p:nvSpPr>
        <p:spPr>
          <a:xfrm xmlns:a="http://schemas.openxmlformats.org/drawingml/2006/main">
            <a:off x="1170000" y="1818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Physical impact and functional safety</a:t>
            </a:r>
          </a:p>
        </p:txBody>
      </p:sp>
      <p:sp>
        <p:nvSpPr>
          <p:cNvPr id="100360" name="Element-14"/>
          <p:cNvSpPr/>
          <p:nvPr/>
        </p:nvSpPr>
        <p:spPr>
          <a:xfrm xmlns:a="http://schemas.openxmlformats.org/drawingml/2006/main">
            <a:off x="792000" y="2520000"/>
            <a:ext cx="5016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61" name="Element-15"/>
          <p:cNvSpPr/>
          <p:nvPr/>
        </p:nvSpPr>
        <p:spPr>
          <a:xfrm xmlns:a="http://schemas.openxmlformats.org/drawingml/2006/main">
            <a:off x="792000" y="2808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62" name="Fixed-16"/>
          <p:cNvSpPr/>
          <p:nvPr/>
        </p:nvSpPr>
        <p:spPr>
          <a:xfrm xmlns:a="http://schemas.openxmlformats.org/drawingml/2006/main">
            <a:off x="1170000" y="2700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Device fragility under probing</a:t>
            </a:r>
          </a:p>
        </p:txBody>
      </p:sp>
      <p:sp>
        <p:nvSpPr>
          <p:cNvPr id="100363" name="Element-17"/>
          <p:cNvSpPr/>
          <p:nvPr/>
        </p:nvSpPr>
        <p:spPr>
          <a:xfrm xmlns:a="http://schemas.openxmlformats.org/drawingml/2006/main">
            <a:off x="792000" y="3402000"/>
            <a:ext cx="5016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64" name="Element-18"/>
          <p:cNvSpPr/>
          <p:nvPr/>
        </p:nvSpPr>
        <p:spPr>
          <a:xfrm xmlns:a="http://schemas.openxmlformats.org/drawingml/2006/main">
            <a:off x="792000" y="3690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65" name="Fixed-19"/>
          <p:cNvSpPr/>
          <p:nvPr/>
        </p:nvSpPr>
        <p:spPr>
          <a:xfrm xmlns:a="http://schemas.openxmlformats.org/drawingml/2006/main">
            <a:off x="1170000" y="3582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Real fleet scale</a:t>
            </a:r>
          </a:p>
        </p:txBody>
      </p:sp>
      <p:sp>
        <p:nvSpPr>
          <p:cNvPr id="100366" name="Element-20"/>
          <p:cNvSpPr/>
          <p:nvPr/>
        </p:nvSpPr>
        <p:spPr>
          <a:xfrm xmlns:a="http://schemas.openxmlformats.org/drawingml/2006/main">
            <a:off x="792000" y="4284000"/>
            <a:ext cx="5016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67" name="Element-21"/>
          <p:cNvSpPr/>
          <p:nvPr/>
        </p:nvSpPr>
        <p:spPr>
          <a:xfrm xmlns:a="http://schemas.openxmlformats.org/drawingml/2006/main">
            <a:off x="792000" y="4572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68" name="Fixed-22"/>
          <p:cNvSpPr/>
          <p:nvPr/>
        </p:nvSpPr>
        <p:spPr>
          <a:xfrm xmlns:a="http://schemas.openxmlformats.org/drawingml/2006/main">
            <a:off x="1170000" y="4464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Proprietary industrial protocols that are not simulated</a:t>
            </a:r>
          </a:p>
        </p:txBody>
      </p:sp>
      <p:sp>
        <p:nvSpPr>
          <p:cNvPr id="100369" name="Element-23"/>
          <p:cNvSpPr/>
          <p:nvPr/>
        </p:nvSpPr>
        <p:spPr>
          <a:xfrm xmlns:a="http://schemas.openxmlformats.org/drawingml/2006/main">
            <a:off x="6384000" y="1926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70" name="Fixed-24"/>
          <p:cNvSpPr/>
          <p:nvPr/>
        </p:nvSpPr>
        <p:spPr>
          <a:xfrm xmlns:a="http://schemas.openxmlformats.org/drawingml/2006/main">
            <a:off x="6762000" y="1818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Complete multi-step exploitation chains</a:t>
            </a:r>
          </a:p>
        </p:txBody>
      </p:sp>
      <p:sp>
        <p:nvSpPr>
          <p:cNvPr id="100371" name="Element-25"/>
          <p:cNvSpPr/>
          <p:nvPr/>
        </p:nvSpPr>
        <p:spPr>
          <a:xfrm xmlns:a="http://schemas.openxmlformats.org/drawingml/2006/main">
            <a:off x="6384000" y="2520000"/>
            <a:ext cx="5016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72" name="Element-26"/>
          <p:cNvSpPr/>
          <p:nvPr/>
        </p:nvSpPr>
        <p:spPr>
          <a:xfrm xmlns:a="http://schemas.openxmlformats.org/drawingml/2006/main">
            <a:off x="6384000" y="3249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73" name="Fixed-27"/>
          <p:cNvSpPr/>
          <p:nvPr/>
        </p:nvSpPr>
        <p:spPr>
          <a:xfrm xmlns:a="http://schemas.openxmlformats.org/drawingml/2006/main">
            <a:off x="6762000" y="3141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Abstention and calibration</a:t>
            </a:r>
          </a:p>
        </p:txBody>
      </p:sp>
      <p:sp>
        <p:nvSpPr>
          <p:cNvPr id="100374" name="Element-28"/>
          <p:cNvSpPr/>
          <p:nvPr/>
        </p:nvSpPr>
        <p:spPr>
          <a:xfrm xmlns:a="http://schemas.openxmlformats.org/drawingml/2006/main">
            <a:off x="6384000" y="3843000"/>
            <a:ext cx="5016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75" name="Element-29"/>
          <p:cNvSpPr/>
          <p:nvPr/>
        </p:nvSpPr>
        <p:spPr>
          <a:xfrm xmlns:a="http://schemas.openxmlformats.org/drawingml/2006/main">
            <a:off x="6384000" y="4572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76" name="Fixed-30"/>
          <p:cNvSpPr/>
          <p:nvPr/>
        </p:nvSpPr>
        <p:spPr>
          <a:xfrm xmlns:a="http://schemas.openxmlformats.org/drawingml/2006/main">
            <a:off x="6762000" y="4464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Generic IT scenarios, deliberately excluded</a:t>
            </a:r>
          </a:p>
        </p:txBody>
      </p:sp>
      <p:sp>
        <p:nvSpPr>
          <p:cNvPr id="100377" name="Element-31"/>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378" name="Caption-13"/>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A benchmark that states its gaps is stronger than one that claims full coverage.</a:t>
            </a:r>
          </a:p>
        </p:txBody>
      </p:sp>
      <p:sp>
        <p:nvSpPr>
          <p:cNvPr id="100379" name="Fixed-33"/>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380" name="Fixed-34"/>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13</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OfficeCLI/1.0.158</ap:Application>
</ap:Properties>
</file>

<file path=docProps/core.xml><?xml version="1.0" encoding="utf-8"?>
<coreProperties xmlns:dc="http://purl.org/dc/elements/1.1/" xmlns:dcterms="http://purl.org/dc/terms/" xmlns:xsi="http://www.w3.org/2001/XMLSchema-instance" xmlns="http://schemas.openxmlformats.org/package/2006/metadata/core-properties">
  <dc:creator>Project LANCE</dc:creator>
  <dcterms:created xsi:type="dcterms:W3CDTF">2026-10-22T09:55:09.0000000Z</dcterms:created>
  <lastModifiedBy>OfficeCLI</lastModifiedBy>
  <dcterms:modified xsi:type="dcterms:W3CDTF">2026-10-22T09:55:10.3058530Z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1.0.158</vt:lpwstr>
  </op:property>
  <op:property fmtid="{D5CDD505-2E9C-101B-9397-08002B2CF9AE}" pid="3" name="OfficeCLI.LastModified">
    <vt:lpwstr xmlns:vt="http://schemas.openxmlformats.org/officeDocument/2006/docPropsVTypes">2026-10-22T09:55:18Z</vt:lpwstr>
  </op:property>
</op:Properties>
</file>