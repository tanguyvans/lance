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jpg" ContentType="image/jpe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670f3e2ffcf4c33" /><Relationship Type="http://schemas.openxmlformats.org/package/2006/relationships/metadata/core-properties" Target="/docProps/core.xml" Id="R9d898d7a2922487c" /><Relationship Type="http://schemas.openxmlformats.org/officeDocument/2006/relationships/extended-properties" Target="/docProps/app.xml" Id="Ra144ac4f66e64dc0" /><Relationship Type="http://schemas.openxmlformats.org/officeDocument/2006/relationships/custom-properties" Target="/docProps/custom.xml" Id="Rc58979c9b51c41e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c48d41e7374046b2"/>
  </p:notesMasterIdLst>
  <p:sldIdLst>
    <p:sldId id="256" r:id="R421a3715fa9b445c"/>
    <p:sldId id="257" r:id="R8becc911129b4557"/>
    <p:sldId id="258" r:id="R904bb352867f43c7"/>
    <p:sldId id="259" r:id="Rab3496e265774f63"/>
    <p:sldId id="260" r:id="Rd7ac4d1373124778"/>
    <p:sldId id="261" r:id="Ra8c3eddf36494ebd"/>
    <p:sldId id="262" r:id="Raf014018a5ca44b3"/>
    <p:sldId id="263" r:id="R2823c45dd16c415f"/>
    <p:sldId id="264" r:id="R72cb0d0d67ff42d0"/>
    <p:sldId id="265" r:id="Rffb2b14e35df458a"/>
    <p:sldId id="266" r:id="Rb2fb5f207f5645b6"/>
  </p:sldIdLst>
  <p:sldSz cx="12192000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21a3715fa9b445c" /><Relationship Type="http://schemas.openxmlformats.org/officeDocument/2006/relationships/notesMaster" Target="/ppt/notesMasters/notesMaster1.xml" Id="Rc48d41e7374046b2" /><Relationship Type="http://schemas.openxmlformats.org/officeDocument/2006/relationships/slide" Target="/ppt/slides/slide2.xml" Id="R8becc911129b4557" /><Relationship Type="http://schemas.openxmlformats.org/officeDocument/2006/relationships/slide" Target="/ppt/slides/slide3.xml" Id="R904bb352867f43c7" /><Relationship Type="http://schemas.openxmlformats.org/officeDocument/2006/relationships/slide" Target="/ppt/slides/slide4.xml" Id="Rab3496e265774f63" /><Relationship Type="http://schemas.openxmlformats.org/officeDocument/2006/relationships/slide" Target="/ppt/slides/slide5.xml" Id="Rd7ac4d1373124778" /><Relationship Type="http://schemas.openxmlformats.org/officeDocument/2006/relationships/slide" Target="/ppt/slides/slide6.xml" Id="Ra8c3eddf36494ebd" /><Relationship Type="http://schemas.openxmlformats.org/officeDocument/2006/relationships/slide" Target="/ppt/slides/slide7.xml" Id="Raf014018a5ca44b3" /><Relationship Type="http://schemas.openxmlformats.org/officeDocument/2006/relationships/slide" Target="/ppt/slides/slide8.xml" Id="R2823c45dd16c415f" /><Relationship Type="http://schemas.openxmlformats.org/officeDocument/2006/relationships/slide" Target="/ppt/slides/slide9.xml" Id="R72cb0d0d67ff42d0" /><Relationship Type="http://schemas.openxmlformats.org/officeDocument/2006/relationships/slide" Target="/ppt/slides/slide10.xml" Id="Rffb2b14e35df458a" /><Relationship Type="http://schemas.openxmlformats.org/officeDocument/2006/relationships/slide" Target="/ppt/slides/slide11.xml" Id="Rb2fb5f207f5645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11ce2e94554423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b79a3fb004d43a1" /><Relationship Type="http://schemas.openxmlformats.org/officeDocument/2006/relationships/slide" Target="/ppt/slides/slide1.xml" Id="R648efe197a0940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fc08e3fb02e4fdc" /><Relationship Type="http://schemas.openxmlformats.org/officeDocument/2006/relationships/slide" Target="/ppt/slides/slide2.xml" Id="R361081c59da84d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f0e30bdd68e44ce" /><Relationship Type="http://schemas.openxmlformats.org/officeDocument/2006/relationships/slide" Target="/ppt/slides/slide3.xml" Id="R43e55244039341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41f04befbe14b04" /><Relationship Type="http://schemas.openxmlformats.org/officeDocument/2006/relationships/slide" Target="/ppt/slides/slide4.xml" Id="R106aefb6590449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f2c0aa4ffbf4601" /><Relationship Type="http://schemas.openxmlformats.org/officeDocument/2006/relationships/slide" Target="/ppt/slides/slide5.xml" Id="Recffd638ac5a43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057ccfbe35c4588" /><Relationship Type="http://schemas.openxmlformats.org/officeDocument/2006/relationships/slide" Target="/ppt/slides/slide6.xml" Id="Rf6a5b3b49d6c42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f78399728e14024" /><Relationship Type="http://schemas.openxmlformats.org/officeDocument/2006/relationships/slide" Target="/ppt/slides/slide7.xml" Id="R05ceea33063949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8f6c70585e2496b" /><Relationship Type="http://schemas.openxmlformats.org/officeDocument/2006/relationships/slide" Target="/ppt/slides/slide8.xml" Id="Rb843807698a445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8baee85f0ff4ee7" /><Relationship Type="http://schemas.openxmlformats.org/officeDocument/2006/relationships/slide" Target="/ppt/slides/slide9.xml" Id="Rc82daf0c1d3447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81acab85cc74ad0" /><Relationship Type="http://schemas.openxmlformats.org/officeDocument/2006/relationships/slide" Target="/ppt/slides/slide10.xml" Id="Rf75f33647bc04d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6afd4f633184568" /><Relationship Type="http://schemas.openxmlformats.org/officeDocument/2006/relationships/slide" Target="/ppt/slides/slide11.xml" Id="Rc71d0bb621fd44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20 seconds.</a:t>
            </a:r>
          </a:p>
          <a:p xmlns:a="http://schemas.openxmlformats.org/drawingml/2006/main">
            <a:r>
              <a:rPr lang="en-US"/>
              <a:t>Cover. Say: this is a progress report, not a results talk.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One sentence on the left, three commitments on the right. Do not read the three rows aloud; they qualify the sentence, they do not repeat it. Close on the last line.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The platform conducts the audit. Left: what it does. Right: the dashboard of a running instance. The platform is one component; the next slides say what its results mean.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50 seconds.</a:t>
            </a:r>
          </a:p>
          <a:p xmlns:a="http://schemas.openxmlformats.org/drawingml/2006/main">
            <a:r>
              <a:rPr lang="en-US"/>
              <a:t>Three pieces, three roles. The model is one piece among them. The last line is the methodological point: a run means nothing without a network whose truth is known.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80 seconds.</a:t>
            </a:r>
          </a:p>
          <a:p xmlns:a="http://schemas.openxmlformats.org/drawingml/2006/main">
            <a:r>
              <a:rPr lang="en-US"/>
              <a:t>Two halves. Left: we recompute from the log, never from the conclusion. Right: the same trial runs on both configurations, so a false positive is visible. The bottom band is the second half of the rule.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The gate is the condition of interpretation for everything else, and it binds both arms. Read the matrix by cells: the only cell that opens the hypotheses is the one where both arms pass — script check and model check.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50 seconds.</a:t>
            </a:r>
          </a:p>
          <a:p xmlns:a="http://schemas.openxmlformats.org/drawingml/2006/main">
            <a:r>
              <a:rPr lang="en-US"/>
              <a:t>Both approaches succeed everywhere. That is a property of the instrument, not a verdict on the model: the scale is saturated, so the bars carry no difference.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75 seconds.</a:t>
            </a:r>
          </a:p>
          <a:p xmlns:a="http://schemas.openxmlformats.org/drawingml/2006/main">
            <a:r>
              <a:rPr lang="en-US"/>
              <a:t>The objective does not change, its form does. Six network properties, six tests. H6 is detached on purpose: it is a risk, not a gain.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Be explicit. This is the slide that buys credibility. Three limits, each stated as a claim we are not making, then the reason.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Order follows conditions, not dates. Then the ask: vendor artifacts and an adversarial review of the register. Close on the deadline.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0 seconds.</a:t>
            </a:r>
          </a:p>
          <a:p xmlns:a="http://schemas.openxmlformats.org/drawingml/2006/main">
            <a:r>
              <a:rPr lang="en-US"/>
              <a:t>A benchmark that states its gaps is stronger than one that claims full coverage. One line each, no discussion unless asked.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e13e696c142d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f1355f6885464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727edd22c54c0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472ed83af547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013151179d475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d304066315147dd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f4db67fba4298" /><Relationship Type="http://schemas.openxmlformats.org/officeDocument/2006/relationships/notesSlide" Target="/ppt/notesSlides/notesSlide1.xml" Id="R0fb638cf5f2c4f96" /><Relationship Type="http://schemas.openxmlformats.org/officeDocument/2006/relationships/image" Target="/ppt/media/image.png" Id="Re18159f218a847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6dbebf1ee4cf1" /><Relationship Type="http://schemas.openxmlformats.org/officeDocument/2006/relationships/notesSlide" Target="/ppt/notesSlides/notesSlide2.xml" Id="R91371b34295b476b" /><Relationship Type="http://schemas.openxmlformats.org/officeDocument/2006/relationships/image" Target="/ppt/media/image2.png" Id="R56c0e4db87144e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a5a0416e2482e" /><Relationship Type="http://schemas.openxmlformats.org/officeDocument/2006/relationships/notesSlide" Target="/ppt/notesSlides/notesSlide3.xml" Id="R100e179eaad5461a" /><Relationship Type="http://schemas.openxmlformats.org/officeDocument/2006/relationships/image" Target="/ppt/media/image3.png" Id="R8903f2eaa17e414e" /><Relationship Type="http://schemas.openxmlformats.org/officeDocument/2006/relationships/image" Target="/ppt/media/image.jpg" Id="R95c557c86c3740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f146daa9144638" /><Relationship Type="http://schemas.openxmlformats.org/officeDocument/2006/relationships/notesSlide" Target="/ppt/notesSlides/notesSlide4.xml" Id="Rf234706885c8478f" /><Relationship Type="http://schemas.openxmlformats.org/officeDocument/2006/relationships/image" Target="/ppt/media/image4.png" Id="R48f2e93956ac41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f28f2a90a469c" /><Relationship Type="http://schemas.openxmlformats.org/officeDocument/2006/relationships/notesSlide" Target="/ppt/notesSlides/notesSlide5.xml" Id="Ra4666825ea414f18" /><Relationship Type="http://schemas.openxmlformats.org/officeDocument/2006/relationships/image" Target="/ppt/media/image5.png" Id="R68932a33dd9943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ff245697e4eba" /><Relationship Type="http://schemas.openxmlformats.org/officeDocument/2006/relationships/notesSlide" Target="/ppt/notesSlides/notesSlide6.xml" Id="Rb62856a66a2d454c" /><Relationship Type="http://schemas.openxmlformats.org/officeDocument/2006/relationships/image" Target="/ppt/media/image6.png" Id="R649fcec3bb0f47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0fb0c78cf4f09" /><Relationship Type="http://schemas.openxmlformats.org/officeDocument/2006/relationships/notesSlide" Target="/ppt/notesSlides/notesSlide7.xml" Id="Racb89ad29d944779" /><Relationship Type="http://schemas.openxmlformats.org/officeDocument/2006/relationships/image" Target="/ppt/media/image7.png" Id="R5a42b045d2a642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a6ae0c1e44c66" /><Relationship Type="http://schemas.openxmlformats.org/officeDocument/2006/relationships/notesSlide" Target="/ppt/notesSlides/notesSlide8.xml" Id="Rbc874dd4eaee4840" /><Relationship Type="http://schemas.openxmlformats.org/officeDocument/2006/relationships/image" Target="/ppt/media/image8.png" Id="Ra191cdf46d1d42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83657f549b4693" /><Relationship Type="http://schemas.openxmlformats.org/officeDocument/2006/relationships/notesSlide" Target="/ppt/notesSlides/notesSlide9.xml" Id="R472e214f2a4c435c" /><Relationship Type="http://schemas.openxmlformats.org/officeDocument/2006/relationships/image" Target="/ppt/media/image9.png" Id="R634b2fa09bf14b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a2dfef0b04a69" /><Relationship Type="http://schemas.openxmlformats.org/officeDocument/2006/relationships/notesSlide" Target="/ppt/notesSlides/notesSlide10.xml" Id="R2aa23155893041e5" /><Relationship Type="http://schemas.openxmlformats.org/officeDocument/2006/relationships/image" Target="/ppt/media/image10.png" Id="R317866073af948d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3c76f4f0a4f64" /><Relationship Type="http://schemas.openxmlformats.org/officeDocument/2006/relationships/notesSlide" Target="/ppt/notesSlides/notesSlide11.xml" Id="R87d539c1331943b3" /><Relationship Type="http://schemas.openxmlformats.org/officeDocument/2006/relationships/image" Target="/ppt/media/image11.png" Id="Rcb9a5ab31d7e4b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Element-3"/>
          <p:cNvSpPr/>
          <p:nvPr/>
        </p:nvSpPr>
        <p:spPr>
          <a:xfrm xmlns:a="http://schemas.openxmlformats.org/drawingml/2006/main">
            <a:off x="792000" y="990000"/>
            <a:ext cx="50400" cy="21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1" name="Fixed-4"/>
          <p:cNvSpPr/>
          <p:nvPr/>
        </p:nvSpPr>
        <p:spPr>
          <a:xfrm xmlns:a="http://schemas.openxmlformats.org/drawingml/2006/main">
            <a:off x="1206000" y="918000"/>
            <a:ext cx="7920000" cy="99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4600" b="1" i="0">
                <a:solidFill>
                  <a:srgbClr val="20252D"/>
                </a:solidFill>
                <a:latin typeface="Arial"/>
                <a:ea typeface="Arial"/>
              </a:rPr>
              <a:t>LANCE</a:t>
            </a:r>
          </a:p>
        </p:txBody>
      </p:sp>
      <p:sp>
        <p:nvSpPr>
          <p:cNvPr id="100002" name="Fixed-5"/>
          <p:cNvSpPr/>
          <p:nvPr/>
        </p:nvSpPr>
        <p:spPr>
          <a:xfrm xmlns:a="http://schemas.openxmlformats.org/drawingml/2006/main">
            <a:off x="1206000" y="1926000"/>
            <a:ext cx="702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500" b="0" i="0">
                <a:solidFill>
                  <a:srgbClr val="5C626C"/>
                </a:solidFill>
                <a:latin typeface="Arial"/>
                <a:ea typeface="Arial"/>
              </a:rPr>
              <a:t>An autonomous and verifiable auditor</a:t>
            </a:r>
          </a:p>
          <a:p xmlns:a="http://schemas.openxmlformats.org/drawingml/2006/main">
            <a:pPr algn="l"/>
            <a:r>
              <a:rPr lang="en-US" sz="2500" b="0" i="0">
                <a:solidFill>
                  <a:srgbClr val="5C626C"/>
                </a:solidFill>
                <a:latin typeface="Arial"/>
                <a:ea typeface="Arial"/>
              </a:rPr>
              <a:t>for IoT/IIoT networks</a:t>
            </a:r>
          </a:p>
        </p:txBody>
      </p:sp>
      <p:sp>
        <p:nvSpPr>
          <p:cNvPr id="100003" name="Element-6"/>
          <p:cNvSpPr/>
          <p:nvPr/>
        </p:nvSpPr>
        <p:spPr>
          <a:xfrm xmlns:a="http://schemas.openxmlformats.org/drawingml/2006/main">
            <a:off x="792000" y="3330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4" name="Fixed-7"/>
          <p:cNvSpPr/>
          <p:nvPr/>
        </p:nvSpPr>
        <p:spPr>
          <a:xfrm xmlns:a="http://schemas.openxmlformats.org/drawingml/2006/main">
            <a:off x="1206000" y="3474000"/>
            <a:ext cx="72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800" b="1" i="0">
                <a:solidFill>
                  <a:srgbClr val="B60036"/>
                </a:solidFill>
                <a:latin typeface="Arial"/>
                <a:ea typeface="Arial"/>
              </a:rPr>
              <a:t>Progress report — NATO SPS G6259</a:t>
            </a:r>
          </a:p>
        </p:txBody>
      </p:sp>
      <p:sp>
        <p:nvSpPr>
          <p:cNvPr id="100005" name="Fixed-8"/>
          <p:cNvSpPr/>
          <p:nvPr/>
        </p:nvSpPr>
        <p:spPr>
          <a:xfrm xmlns:a="http://schemas.openxmlformats.org/drawingml/2006/main">
            <a:off x="1206000" y="3870000"/>
            <a:ext cx="7200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23 October 2026  ·  Université de Mons, ILIA</a:t>
            </a:r>
          </a:p>
        </p:txBody>
      </p:sp>
      <p:sp>
        <p:nvSpPr>
          <p:cNvPr id="100006" name="Element-9"/>
          <p:cNvSpPr/>
          <p:nvPr/>
        </p:nvSpPr>
        <p:spPr>
          <a:xfrm xmlns:a="http://schemas.openxmlformats.org/drawingml/2006/main">
            <a:off x="792000" y="4788000"/>
            <a:ext cx="4536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FCF0F4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7" name="Element-10"/>
          <p:cNvSpPr/>
          <p:nvPr/>
        </p:nvSpPr>
        <p:spPr>
          <a:xfrm xmlns:a="http://schemas.openxmlformats.org/drawingml/2006/main">
            <a:off x="792000" y="4788000"/>
            <a:ext cx="504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8" name="Fixed-11"/>
          <p:cNvSpPr/>
          <p:nvPr/>
        </p:nvSpPr>
        <p:spPr>
          <a:xfrm xmlns:a="http://schemas.openxmlformats.org/drawingml/2006/main">
            <a:off x="1134000" y="4788000"/>
            <a:ext cx="403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1">
                <a:solidFill>
                  <a:srgbClr val="5C626C"/>
                </a:solidFill>
                <a:latin typeface="Arial"/>
                <a:ea typeface="Arial"/>
              </a:rPr>
              <a:t>Status: work in progress.</a:t>
            </a:r>
          </a:p>
        </p:txBody>
      </p:sp>
      <p:pic>
        <p:nvPicPr>
          <p:cNvPr id="100009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8159f218a847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504000"/>
            <a:ext cx="1872000" cy="641551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1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0e4db87144ef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11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12" name="Element-5"/>
          <p:cNvSpPr/>
          <p:nvPr/>
        </p:nvSpPr>
        <p:spPr>
          <a:xfrm xmlns:a="http://schemas.openxmlformats.org/drawingml/2006/main">
            <a:off x="7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3" name="Fixed-6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14" name="Fixed-7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015" name="Fixed-8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16" name="Fixed-9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17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</a:t>
            </a:r>
          </a:p>
        </p:txBody>
      </p:sp>
      <p:sp>
        <p:nvSpPr>
          <p:cNvPr id="100018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9" name="Fixed-12"/>
          <p:cNvSpPr/>
          <p:nvPr/>
        </p:nvSpPr>
        <p:spPr>
          <a:xfrm xmlns:a="http://schemas.openxmlformats.org/drawingml/2006/main">
            <a:off x="792000" y="1944000"/>
            <a:ext cx="4302400" cy="16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500" b="1" i="0">
                <a:solidFill>
                  <a:srgbClr val="20252D"/>
                </a:solidFill>
                <a:latin typeface="Arial"/>
                <a:ea typeface="Arial"/>
              </a:rPr>
              <a:t>An auditor that explores, identifies, verifies and reports.</a:t>
            </a:r>
          </a:p>
        </p:txBody>
      </p:sp>
      <p:sp>
        <p:nvSpPr>
          <p:cNvPr id="100020" name="Element-13"/>
          <p:cNvSpPr/>
          <p:nvPr/>
        </p:nvSpPr>
        <p:spPr>
          <a:xfrm xmlns:a="http://schemas.openxmlformats.org/drawingml/2006/main">
            <a:off x="5296000" y="1764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1" name="Element-14"/>
          <p:cNvSpPr/>
          <p:nvPr/>
        </p:nvSpPr>
        <p:spPr>
          <a:xfrm xmlns:a="http://schemas.openxmlformats.org/drawingml/2006/main">
            <a:off x="5296000" y="1962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2" name="Fixed-15"/>
          <p:cNvSpPr/>
          <p:nvPr/>
        </p:nvSpPr>
        <p:spPr>
          <a:xfrm xmlns:a="http://schemas.openxmlformats.org/drawingml/2006/main">
            <a:off x="5602000" y="1900800"/>
            <a:ext cx="5564000" cy="3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Under which conditions</a:t>
            </a:r>
          </a:p>
        </p:txBody>
      </p:sp>
      <p:sp>
        <p:nvSpPr>
          <p:cNvPr id="100023" name="Fixed-16"/>
          <p:cNvSpPr/>
          <p:nvPr/>
        </p:nvSpPr>
        <p:spPr>
          <a:xfrm xmlns:a="http://schemas.openxmlformats.org/drawingml/2006/main">
            <a:off x="5602000" y="2296800"/>
            <a:ext cx="55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rather than which model prevails</a:t>
            </a:r>
          </a:p>
        </p:txBody>
      </p:sp>
      <p:sp>
        <p:nvSpPr>
          <p:cNvPr id="100024" name="Element-17"/>
          <p:cNvSpPr/>
          <p:nvPr/>
        </p:nvSpPr>
        <p:spPr>
          <a:xfrm xmlns:a="http://schemas.openxmlformats.org/drawingml/2006/main">
            <a:off x="5296000" y="2862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5" name="Element-18"/>
          <p:cNvSpPr/>
          <p:nvPr/>
        </p:nvSpPr>
        <p:spPr>
          <a:xfrm xmlns:a="http://schemas.openxmlformats.org/drawingml/2006/main">
            <a:off x="5296000" y="3060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6" name="Fixed-19"/>
          <p:cNvSpPr/>
          <p:nvPr/>
        </p:nvSpPr>
        <p:spPr>
          <a:xfrm xmlns:a="http://schemas.openxmlformats.org/drawingml/2006/main">
            <a:off x="5602000" y="2998800"/>
            <a:ext cx="5564000" cy="3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Identical tools and budget</a:t>
            </a:r>
          </a:p>
        </p:txBody>
      </p:sp>
      <p:sp>
        <p:nvSpPr>
          <p:cNvPr id="100027" name="Fixed-20"/>
          <p:cNvSpPr/>
          <p:nvPr/>
        </p:nvSpPr>
        <p:spPr>
          <a:xfrm xmlns:a="http://schemas.openxmlformats.org/drawingml/2006/main">
            <a:off x="5602000" y="3394800"/>
            <a:ext cx="55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for both approaches</a:t>
            </a:r>
          </a:p>
        </p:txBody>
      </p:sp>
      <p:sp>
        <p:nvSpPr>
          <p:cNvPr id="100028" name="Element-21"/>
          <p:cNvSpPr/>
          <p:nvPr/>
        </p:nvSpPr>
        <p:spPr>
          <a:xfrm xmlns:a="http://schemas.openxmlformats.org/drawingml/2006/main">
            <a:off x="5296000" y="3960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9" name="Element-22"/>
          <p:cNvSpPr/>
          <p:nvPr/>
        </p:nvSpPr>
        <p:spPr>
          <a:xfrm xmlns:a="http://schemas.openxmlformats.org/drawingml/2006/main">
            <a:off x="5296000" y="4158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0" name="Fixed-23"/>
          <p:cNvSpPr/>
          <p:nvPr/>
        </p:nvSpPr>
        <p:spPr>
          <a:xfrm xmlns:a="http://schemas.openxmlformats.org/drawingml/2006/main">
            <a:off x="5602000" y="4096800"/>
            <a:ext cx="5564000" cy="3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Evidence, not assertion</a:t>
            </a:r>
          </a:p>
        </p:txBody>
      </p:sp>
      <p:sp>
        <p:nvSpPr>
          <p:cNvPr id="100031" name="Fixed-24"/>
          <p:cNvSpPr/>
          <p:nvPr/>
        </p:nvSpPr>
        <p:spPr>
          <a:xfrm xmlns:a="http://schemas.openxmlformats.org/drawingml/2006/main">
            <a:off x="5602000" y="4492800"/>
            <a:ext cx="55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recomputed from the log</a:t>
            </a:r>
          </a:p>
        </p:txBody>
      </p:sp>
      <p:sp>
        <p:nvSpPr>
          <p:cNvPr id="100032" name="Element-25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3" name="Caption-2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Model training is not a current priority.</a:t>
            </a:r>
          </a:p>
        </p:txBody>
      </p:sp>
      <p:sp>
        <p:nvSpPr>
          <p:cNvPr id="100034" name="Fixed-27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35" name="Fixed-28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2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36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3f2eaa17e414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37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38" name="Element-5"/>
          <p:cNvSpPr/>
          <p:nvPr/>
        </p:nvSpPr>
        <p:spPr>
          <a:xfrm xmlns:a="http://schemas.openxmlformats.org/drawingml/2006/main">
            <a:off x="7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9" name="Fixed-6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40" name="Fixed-7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041" name="Fixed-8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42" name="Fixed-9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43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platform in brief</a:t>
            </a:r>
          </a:p>
        </p:txBody>
      </p:sp>
      <p:sp>
        <p:nvSpPr>
          <p:cNvPr id="100044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5" name="Fixed-12"/>
          <p:cNvSpPr/>
          <p:nvPr/>
        </p:nvSpPr>
        <p:spPr>
          <a:xfrm xmlns:a="http://schemas.openxmlformats.org/drawingml/2006/main">
            <a:off x="792000" y="1944000"/>
            <a:ext cx="43024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20252D"/>
                </a:solidFill>
                <a:latin typeface="Arial"/>
                <a:ea typeface="Arial"/>
              </a:rPr>
              <a:t>A platform that runs the audit and keeps every run.</a:t>
            </a:r>
          </a:p>
        </p:txBody>
      </p:sp>
      <p:sp>
        <p:nvSpPr>
          <p:cNvPr id="100046" name="Element-13"/>
          <p:cNvSpPr/>
          <p:nvPr/>
        </p:nvSpPr>
        <p:spPr>
          <a:xfrm xmlns:a="http://schemas.openxmlformats.org/drawingml/2006/main">
            <a:off x="792000" y="2779200"/>
            <a:ext cx="504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7" name="Fixed-14"/>
          <p:cNvSpPr/>
          <p:nvPr/>
        </p:nvSpPr>
        <p:spPr>
          <a:xfrm xmlns:a="http://schemas.openxmlformats.org/drawingml/2006/main">
            <a:off x="990000" y="2736000"/>
            <a:ext cx="4104400" cy="5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Six phases per run, from graph analysis to report.</a:t>
            </a:r>
          </a:p>
        </p:txBody>
      </p:sp>
      <p:sp>
        <p:nvSpPr>
          <p:cNvPr id="100048" name="Element-15"/>
          <p:cNvSpPr/>
          <p:nvPr/>
        </p:nvSpPr>
        <p:spPr>
          <a:xfrm xmlns:a="http://schemas.openxmlformats.org/drawingml/2006/main">
            <a:off x="792000" y="3398400"/>
            <a:ext cx="504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9" name="Fixed-16"/>
          <p:cNvSpPr/>
          <p:nvPr/>
        </p:nvSpPr>
        <p:spPr>
          <a:xfrm xmlns:a="http://schemas.openxmlformats.org/drawingml/2006/main">
            <a:off x="990000" y="3355200"/>
            <a:ext cx="4104400" cy="5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Four execution modes: LANCE pipeline, rule-based audit, agent, script.</a:t>
            </a:r>
          </a:p>
        </p:txBody>
      </p:sp>
      <p:sp>
        <p:nvSpPr>
          <p:cNvPr id="100050" name="Element-17"/>
          <p:cNvSpPr/>
          <p:nvPr/>
        </p:nvSpPr>
        <p:spPr>
          <a:xfrm xmlns:a="http://schemas.openxmlformats.org/drawingml/2006/main">
            <a:off x="792000" y="4017600"/>
            <a:ext cx="504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1" name="Fixed-18"/>
          <p:cNvSpPr/>
          <p:nvPr/>
        </p:nvSpPr>
        <p:spPr>
          <a:xfrm xmlns:a="http://schemas.openxmlformats.org/drawingml/2006/main">
            <a:off x="990000" y="3974400"/>
            <a:ext cx="4104400" cy="5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Each run is recorded with its observations, its evidence and its cost.</a:t>
            </a:r>
          </a:p>
        </p:txBody>
      </p:sp>
      <p:sp>
        <p:nvSpPr>
          <p:cNvPr id="100052" name="Element-19"/>
          <p:cNvSpPr/>
          <p:nvPr/>
        </p:nvSpPr>
        <p:spPr>
          <a:xfrm xmlns:a="http://schemas.openxmlformats.org/drawingml/2006/main">
            <a:off x="792000" y="4636800"/>
            <a:ext cx="504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3" name="Fixed-20"/>
          <p:cNvSpPr/>
          <p:nvPr/>
        </p:nvSpPr>
        <p:spPr>
          <a:xfrm xmlns:a="http://schemas.openxmlformats.org/drawingml/2006/main">
            <a:off x="990000" y="4593600"/>
            <a:ext cx="4104400" cy="5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The Benchmark and Scenario Lab tabs sit beside it, on the same instance.</a:t>
            </a:r>
          </a:p>
        </p:txBody>
      </p:sp>
      <p:pic>
        <p:nvPicPr>
          <p:cNvPr id="100054" name="Picture 2" descr="LANCE platform dashboard: network topology and run contro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557c86c37404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640000" y="1620000"/>
            <a:ext cx="5760000" cy="3600000"/>
          </a:xfrm>
          <a:prstGeom xmlns:a="http://schemas.openxmlformats.org/drawingml/2006/main" prst="rect">
            <a:avLst/>
          </a:prstGeom>
        </p:spPr>
      </p:pic>
      <p:sp>
        <p:nvSpPr>
          <p:cNvPr id="100055" name="Element-22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6" name="Caption-3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platform runs the audit; the laboratory and the benchmark decide what the result means.</a:t>
            </a:r>
          </a:p>
        </p:txBody>
      </p:sp>
      <p:sp>
        <p:nvSpPr>
          <p:cNvPr id="100057" name="Fixed-24"/>
          <p:cNvSpPr/>
          <p:nvPr/>
        </p:nvSpPr>
        <p:spPr>
          <a:xfrm xmlns:a="http://schemas.openxmlformats.org/drawingml/2006/main">
            <a:off x="792000" y="61128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Captures of the running instance, 22 October 2026.</a:t>
            </a:r>
          </a:p>
        </p:txBody>
      </p:sp>
      <p:sp>
        <p:nvSpPr>
          <p:cNvPr id="100058" name="Fixed-25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59" name="Fixed-26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3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6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f2e93956ac41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61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62" name="Fixed-5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63" name="Element-6"/>
          <p:cNvSpPr/>
          <p:nvPr/>
        </p:nvSpPr>
        <p:spPr>
          <a:xfrm xmlns:a="http://schemas.openxmlformats.org/drawingml/2006/main">
            <a:off x="25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64" name="Fixed-7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065" name="Fixed-8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66" name="Fixed-9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67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instrument</a:t>
            </a:r>
          </a:p>
        </p:txBody>
      </p:sp>
      <p:sp>
        <p:nvSpPr>
          <p:cNvPr id="100068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69" name="Element-12"/>
          <p:cNvSpPr/>
          <p:nvPr/>
        </p:nvSpPr>
        <p:spPr>
          <a:xfrm xmlns:a="http://schemas.openxmlformats.org/drawingml/2006/main">
            <a:off x="792000" y="1692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0" name="Element-13"/>
          <p:cNvSpPr/>
          <p:nvPr/>
        </p:nvSpPr>
        <p:spPr>
          <a:xfrm xmlns:a="http://schemas.openxmlformats.org/drawingml/2006/main">
            <a:off x="792000" y="1692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1" name="Fixed-14"/>
          <p:cNvSpPr/>
          <p:nvPr/>
        </p:nvSpPr>
        <p:spPr>
          <a:xfrm xmlns:a="http://schemas.openxmlformats.org/drawingml/2006/main">
            <a:off x="1206000" y="1692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20252D"/>
                </a:solidFill>
                <a:latin typeface="Arial"/>
                <a:ea typeface="Arial"/>
              </a:rPr>
              <a:t>Laboratory</a:t>
            </a:r>
          </a:p>
        </p:txBody>
      </p:sp>
      <p:sp>
        <p:nvSpPr>
          <p:cNvPr id="100072" name="Fixed-15"/>
          <p:cNvSpPr/>
          <p:nvPr/>
        </p:nvSpPr>
        <p:spPr>
          <a:xfrm xmlns:a="http://schemas.openxmlformats.org/drawingml/2006/main">
            <a:off x="3510000" y="1692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networks with known ground truth</a:t>
            </a:r>
          </a:p>
        </p:txBody>
      </p:sp>
      <p:sp>
        <p:nvSpPr>
          <p:cNvPr id="100073" name="Element-16"/>
          <p:cNvSpPr/>
          <p:nvPr/>
        </p:nvSpPr>
        <p:spPr>
          <a:xfrm xmlns:a="http://schemas.openxmlformats.org/drawingml/2006/main">
            <a:off x="855000" y="2728800"/>
            <a:ext cx="25200" cy="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4" name="Element-17"/>
          <p:cNvSpPr/>
          <p:nvPr/>
        </p:nvSpPr>
        <p:spPr>
          <a:xfrm xmlns:a="http://schemas.openxmlformats.org/drawingml/2006/main">
            <a:off x="792000" y="2808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5" name="Element-18"/>
          <p:cNvSpPr/>
          <p:nvPr/>
        </p:nvSpPr>
        <p:spPr>
          <a:xfrm xmlns:a="http://schemas.openxmlformats.org/drawingml/2006/main">
            <a:off x="792000" y="2808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6" name="Fixed-19"/>
          <p:cNvSpPr/>
          <p:nvPr/>
        </p:nvSpPr>
        <p:spPr>
          <a:xfrm xmlns:a="http://schemas.openxmlformats.org/drawingml/2006/main">
            <a:off x="1206000" y="2808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1D5C96"/>
                </a:solidFill>
                <a:latin typeface="Arial"/>
                <a:ea typeface="Arial"/>
              </a:rPr>
              <a:t>Platform</a:t>
            </a:r>
          </a:p>
        </p:txBody>
      </p:sp>
      <p:sp>
        <p:nvSpPr>
          <p:cNvPr id="100077" name="Fixed-20"/>
          <p:cNvSpPr/>
          <p:nvPr/>
        </p:nvSpPr>
        <p:spPr>
          <a:xfrm xmlns:a="http://schemas.openxmlformats.org/drawingml/2006/main">
            <a:off x="3510000" y="2808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conducts the audit</a:t>
            </a:r>
          </a:p>
        </p:txBody>
      </p:sp>
      <p:sp>
        <p:nvSpPr>
          <p:cNvPr id="100078" name="Element-21"/>
          <p:cNvSpPr/>
          <p:nvPr/>
        </p:nvSpPr>
        <p:spPr>
          <a:xfrm xmlns:a="http://schemas.openxmlformats.org/drawingml/2006/main">
            <a:off x="855000" y="3844800"/>
            <a:ext cx="25200" cy="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9" name="Element-22"/>
          <p:cNvSpPr/>
          <p:nvPr/>
        </p:nvSpPr>
        <p:spPr>
          <a:xfrm xmlns:a="http://schemas.openxmlformats.org/drawingml/2006/main">
            <a:off x="792000" y="3924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0" name="Element-23"/>
          <p:cNvSpPr/>
          <p:nvPr/>
        </p:nvSpPr>
        <p:spPr>
          <a:xfrm xmlns:a="http://schemas.openxmlformats.org/drawingml/2006/main">
            <a:off x="792000" y="3924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1" name="Fixed-24"/>
          <p:cNvSpPr/>
          <p:nvPr/>
        </p:nvSpPr>
        <p:spPr>
          <a:xfrm xmlns:a="http://schemas.openxmlformats.org/drawingml/2006/main">
            <a:off x="1206000" y="3924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B60036"/>
                </a:solidFill>
                <a:latin typeface="Arial"/>
                <a:ea typeface="Arial"/>
              </a:rPr>
              <a:t>Benchmark</a:t>
            </a:r>
          </a:p>
        </p:txBody>
      </p:sp>
      <p:sp>
        <p:nvSpPr>
          <p:cNvPr id="100082" name="Fixed-25"/>
          <p:cNvSpPr/>
          <p:nvPr/>
        </p:nvSpPr>
        <p:spPr>
          <a:xfrm xmlns:a="http://schemas.openxmlformats.org/drawingml/2006/main">
            <a:off x="3510000" y="3924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assesses the result</a:t>
            </a:r>
          </a:p>
        </p:txBody>
      </p:sp>
      <p:sp>
        <p:nvSpPr>
          <p:cNvPr id="100083" name="Element-26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4" name="Caption-4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model is one component among them.</a:t>
            </a:r>
          </a:p>
        </p:txBody>
      </p:sp>
      <p:sp>
        <p:nvSpPr>
          <p:cNvPr id="100085" name="Fixed-28"/>
          <p:cNvSpPr/>
          <p:nvPr/>
        </p:nvSpPr>
        <p:spPr>
          <a:xfrm xmlns:a="http://schemas.openxmlformats.org/drawingml/2006/main">
            <a:off x="792000" y="57816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A run constitutes a measurement only against known ground truth.</a:t>
            </a:r>
          </a:p>
        </p:txBody>
      </p:sp>
      <p:sp>
        <p:nvSpPr>
          <p:cNvPr id="100086" name="Fixed-29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87" name="Fixed-30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4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88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32a33dd99438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89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90" name="Fixed-5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91" name="Element-6"/>
          <p:cNvSpPr/>
          <p:nvPr/>
        </p:nvSpPr>
        <p:spPr>
          <a:xfrm xmlns:a="http://schemas.openxmlformats.org/drawingml/2006/main">
            <a:off x="25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2" name="Fixed-7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093" name="Fixed-8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94" name="Fixed-9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95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constitutes a finding</a:t>
            </a:r>
          </a:p>
        </p:txBody>
      </p:sp>
      <p:sp>
        <p:nvSpPr>
          <p:cNvPr id="100096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7" name="Element-12"/>
          <p:cNvSpPr/>
          <p:nvPr/>
        </p:nvSpPr>
        <p:spPr>
          <a:xfrm xmlns:a="http://schemas.openxmlformats.org/drawingml/2006/main">
            <a:off x="792000" y="1710000"/>
            <a:ext cx="5203200" cy="217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8" name="Fixed-13"/>
          <p:cNvSpPr/>
          <p:nvPr/>
        </p:nvSpPr>
        <p:spPr>
          <a:xfrm xmlns:a="http://schemas.openxmlformats.org/drawingml/2006/main">
            <a:off x="1044000" y="1879200"/>
            <a:ext cx="4699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600" b="0" i="1">
                <a:solidFill>
                  <a:srgbClr val="5C626C"/>
                </a:solidFill>
                <a:latin typeface="Arial"/>
                <a:ea typeface="Arial"/>
              </a:rPr>
              <a:t>“I have read another organisation's data.”</a:t>
            </a:r>
          </a:p>
        </p:txBody>
      </p:sp>
      <p:sp>
        <p:nvSpPr>
          <p:cNvPr id="100099" name="Element-14"/>
          <p:cNvSpPr/>
          <p:nvPr/>
        </p:nvSpPr>
        <p:spPr>
          <a:xfrm xmlns:a="http://schemas.openxmlformats.org/drawingml/2006/main">
            <a:off x="3123600" y="2772000"/>
            <a:ext cx="5400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0" name="Fixed-15"/>
          <p:cNvSpPr/>
          <p:nvPr/>
        </p:nvSpPr>
        <p:spPr>
          <a:xfrm xmlns:a="http://schemas.openxmlformats.org/drawingml/2006/main">
            <a:off x="1044000" y="2844000"/>
            <a:ext cx="46992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600" b="1" i="0">
                <a:solidFill>
                  <a:srgbClr val="B60036"/>
                </a:solidFill>
                <a:latin typeface="Arial"/>
                <a:ea typeface="Arial"/>
              </a:rPr>
              <a:t>✕   Not admitted</a:t>
            </a:r>
          </a:p>
        </p:txBody>
      </p:sp>
      <p:sp>
        <p:nvSpPr>
          <p:cNvPr id="100101" name="Element-16"/>
          <p:cNvSpPr/>
          <p:nvPr/>
        </p:nvSpPr>
        <p:spPr>
          <a:xfrm xmlns:a="http://schemas.openxmlformats.org/drawingml/2006/main">
            <a:off x="6196800" y="1710000"/>
            <a:ext cx="5203200" cy="217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2" name="Fixed-17"/>
          <p:cNvSpPr/>
          <p:nvPr/>
        </p:nvSpPr>
        <p:spPr>
          <a:xfrm xmlns:a="http://schemas.openxmlformats.org/drawingml/2006/main">
            <a:off x="6448800" y="1879200"/>
            <a:ext cx="4699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The request and its response</a:t>
            </a:r>
          </a:p>
          <a:p xmlns:a="http://schemas.openxmlformats.org/drawingml/2006/main">
            <a:pPr algn="ctr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contain the data.</a:t>
            </a:r>
          </a:p>
        </p:txBody>
      </p:sp>
      <p:sp>
        <p:nvSpPr>
          <p:cNvPr id="100103" name="Element-18"/>
          <p:cNvSpPr/>
          <p:nvPr/>
        </p:nvSpPr>
        <p:spPr>
          <a:xfrm xmlns:a="http://schemas.openxmlformats.org/drawingml/2006/main">
            <a:off x="8528400" y="2772000"/>
            <a:ext cx="5400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4" name="Fixed-19"/>
          <p:cNvSpPr/>
          <p:nvPr/>
        </p:nvSpPr>
        <p:spPr>
          <a:xfrm xmlns:a="http://schemas.openxmlformats.org/drawingml/2006/main">
            <a:off x="6448800" y="2844000"/>
            <a:ext cx="46992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600" b="1" i="0">
                <a:solidFill>
                  <a:srgbClr val="2E7D5B"/>
                </a:solidFill>
                <a:latin typeface="Arial"/>
                <a:ea typeface="Arial"/>
              </a:rPr>
              <a:t>✓   Admitted</a:t>
            </a:r>
          </a:p>
        </p:txBody>
      </p:sp>
      <p:sp>
        <p:nvSpPr>
          <p:cNvPr id="100105" name="Element-20"/>
          <p:cNvSpPr/>
          <p:nvPr/>
        </p:nvSpPr>
        <p:spPr>
          <a:xfrm xmlns:a="http://schemas.openxmlformats.org/drawingml/2006/main">
            <a:off x="792000" y="4158000"/>
            <a:ext cx="10608000" cy="8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6" name="Element-21"/>
          <p:cNvSpPr/>
          <p:nvPr/>
        </p:nvSpPr>
        <p:spPr>
          <a:xfrm xmlns:a="http://schemas.openxmlformats.org/drawingml/2006/main">
            <a:off x="792000" y="4158000"/>
            <a:ext cx="50400" cy="8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7" name="Fixed-22"/>
          <p:cNvSpPr/>
          <p:nvPr/>
        </p:nvSpPr>
        <p:spPr>
          <a:xfrm xmlns:a="http://schemas.openxmlformats.org/drawingml/2006/main">
            <a:off x="1152000" y="4158000"/>
            <a:ext cx="10032000" cy="88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The same trial is conducted on a healthy and on a vulnerable network.   A finding reported on the healthy one is recorded as an error.</a:t>
            </a:r>
          </a:p>
        </p:txBody>
      </p:sp>
      <p:sp>
        <p:nvSpPr>
          <p:cNvPr id="100108" name="Element-23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9" name="Caption-5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finding is recomputed from the log; the conclusion is never taken on trust.</a:t>
            </a:r>
          </a:p>
        </p:txBody>
      </p:sp>
      <p:sp>
        <p:nvSpPr>
          <p:cNvPr id="100110" name="Fixed-25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11" name="Fixed-26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5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12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fcec3bb0f473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13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14" name="Fixed-5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15" name="Fixed-6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116" name="Element-7"/>
          <p:cNvSpPr/>
          <p:nvPr/>
        </p:nvSpPr>
        <p:spPr>
          <a:xfrm xmlns:a="http://schemas.openxmlformats.org/drawingml/2006/main">
            <a:off x="43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7" name="Fixed-8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18" name="Fixed-9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19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A control task before testing the model</a:t>
            </a:r>
          </a:p>
        </p:txBody>
      </p:sp>
      <p:sp>
        <p:nvSpPr>
          <p:cNvPr id="100120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1" name="Fixed-12"/>
          <p:cNvSpPr/>
          <p:nvPr/>
        </p:nvSpPr>
        <p:spPr>
          <a:xfrm xmlns:a="http://schemas.openxmlformats.org/drawingml/2006/main">
            <a:off x="792000" y="1602000"/>
            <a:ext cx="10608000" cy="5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0" i="0">
                <a:solidFill>
                  <a:srgbClr val="5C626C"/>
                </a:solidFill>
                <a:latin typeface="Arial"/>
                <a:ea typeface="Arial"/>
              </a:rPr>
              <a:t>V0 is a control task, simple enough to be solved without inference. Both approaches are required to pass.</a:t>
            </a:r>
          </a:p>
        </p:txBody>
      </p:sp>
      <p:sp>
        <p:nvSpPr>
          <p:cNvPr id="100122" name="Fixed-13"/>
          <p:cNvSpPr/>
          <p:nvPr/>
        </p:nvSpPr>
        <p:spPr>
          <a:xfrm xmlns:a="http://schemas.openxmlformats.org/drawingml/2006/main">
            <a:off x="2718000" y="2152800"/>
            <a:ext cx="424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5C626C"/>
                </a:solidFill>
                <a:latin typeface="Arial"/>
                <a:ea typeface="Arial"/>
              </a:rPr>
              <a:t>model ✗</a:t>
            </a:r>
          </a:p>
        </p:txBody>
      </p:sp>
      <p:sp>
        <p:nvSpPr>
          <p:cNvPr id="100123" name="Fixed-14"/>
          <p:cNvSpPr/>
          <p:nvPr/>
        </p:nvSpPr>
        <p:spPr>
          <a:xfrm xmlns:a="http://schemas.openxmlformats.org/drawingml/2006/main">
            <a:off x="7158000" y="2152800"/>
            <a:ext cx="424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5C626C"/>
                </a:solidFill>
                <a:latin typeface="Arial"/>
                <a:ea typeface="Arial"/>
              </a:rPr>
              <a:t>model ✓</a:t>
            </a:r>
          </a:p>
        </p:txBody>
      </p:sp>
      <p:sp>
        <p:nvSpPr>
          <p:cNvPr id="100124" name="Element-15"/>
          <p:cNvSpPr/>
          <p:nvPr/>
        </p:nvSpPr>
        <p:spPr>
          <a:xfrm xmlns:a="http://schemas.openxmlformats.org/drawingml/2006/main">
            <a:off x="2718000" y="2484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5" name="Element-16"/>
          <p:cNvSpPr/>
          <p:nvPr/>
        </p:nvSpPr>
        <p:spPr>
          <a:xfrm xmlns:a="http://schemas.openxmlformats.org/drawingml/2006/main">
            <a:off x="2718000" y="2484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6" name="Element-17"/>
          <p:cNvSpPr/>
          <p:nvPr/>
        </p:nvSpPr>
        <p:spPr>
          <a:xfrm xmlns:a="http://schemas.openxmlformats.org/drawingml/2006/main">
            <a:off x="2988000" y="2484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B60036"/>
                </a:solidFill>
                <a:latin typeface="Arial"/>
                <a:ea typeface="Arial"/>
              </a:rPr>
              <a:t>a defect in the instrument</a:t>
            </a:r>
          </a:p>
        </p:txBody>
      </p:sp>
      <p:sp>
        <p:nvSpPr>
          <p:cNvPr id="100127" name="Element-18"/>
          <p:cNvSpPr/>
          <p:nvPr/>
        </p:nvSpPr>
        <p:spPr>
          <a:xfrm xmlns:a="http://schemas.openxmlformats.org/drawingml/2006/main">
            <a:off x="7158000" y="2484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8" name="Element-19"/>
          <p:cNvSpPr/>
          <p:nvPr/>
        </p:nvSpPr>
        <p:spPr>
          <a:xfrm xmlns:a="http://schemas.openxmlformats.org/drawingml/2006/main">
            <a:off x="7158000" y="2484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9" name="Element-20"/>
          <p:cNvSpPr/>
          <p:nvPr/>
        </p:nvSpPr>
        <p:spPr>
          <a:xfrm xmlns:a="http://schemas.openxmlformats.org/drawingml/2006/main">
            <a:off x="7428000" y="2484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E7D5B"/>
                </a:solidFill>
                <a:latin typeface="Arial"/>
                <a:ea typeface="Arial"/>
              </a:rPr>
              <a:t>valid — the hypotheses may be read</a:t>
            </a:r>
          </a:p>
        </p:txBody>
      </p:sp>
      <p:sp>
        <p:nvSpPr>
          <p:cNvPr id="100130" name="Element-21"/>
          <p:cNvSpPr/>
          <p:nvPr/>
        </p:nvSpPr>
        <p:spPr>
          <a:xfrm xmlns:a="http://schemas.openxmlformats.org/drawingml/2006/main">
            <a:off x="2718000" y="3870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1" name="Element-22"/>
          <p:cNvSpPr/>
          <p:nvPr/>
        </p:nvSpPr>
        <p:spPr>
          <a:xfrm xmlns:a="http://schemas.openxmlformats.org/drawingml/2006/main">
            <a:off x="2718000" y="3870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2" name="Element-23"/>
          <p:cNvSpPr/>
          <p:nvPr/>
        </p:nvSpPr>
        <p:spPr>
          <a:xfrm xmlns:a="http://schemas.openxmlformats.org/drawingml/2006/main">
            <a:off x="2988000" y="3870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0" i="0">
                <a:solidFill>
                  <a:srgbClr val="5C626C"/>
                </a:solidFill>
                <a:latin typeface="Arial"/>
                <a:ea typeface="Arial"/>
              </a:rPr>
              <a:t>beyond the reach of this instrument</a:t>
            </a:r>
          </a:p>
        </p:txBody>
      </p:sp>
      <p:sp>
        <p:nvSpPr>
          <p:cNvPr id="100133" name="Element-24"/>
          <p:cNvSpPr/>
          <p:nvPr/>
        </p:nvSpPr>
        <p:spPr>
          <a:xfrm xmlns:a="http://schemas.openxmlformats.org/drawingml/2006/main">
            <a:off x="7158000" y="3870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4" name="Element-25"/>
          <p:cNvSpPr/>
          <p:nvPr/>
        </p:nvSpPr>
        <p:spPr>
          <a:xfrm xmlns:a="http://schemas.openxmlformats.org/drawingml/2006/main">
            <a:off x="7158000" y="3870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5" name="Element-26"/>
          <p:cNvSpPr/>
          <p:nvPr/>
        </p:nvSpPr>
        <p:spPr>
          <a:xfrm xmlns:a="http://schemas.openxmlformats.org/drawingml/2006/main">
            <a:off x="7428000" y="3870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a gain, or a coverage gap</a:t>
            </a:r>
          </a:p>
        </p:txBody>
      </p:sp>
      <p:sp>
        <p:nvSpPr>
          <p:cNvPr id="100136" name="Element-27"/>
          <p:cNvSpPr/>
          <p:nvPr/>
        </p:nvSpPr>
        <p:spPr>
          <a:xfrm xmlns:a="http://schemas.openxmlformats.org/drawingml/2006/main">
            <a:off x="792000" y="2484000"/>
            <a:ext cx="174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700" b="1" i="0">
                <a:solidFill>
                  <a:srgbClr val="5C626C"/>
                </a:solidFill>
                <a:latin typeface="Arial"/>
                <a:ea typeface="Arial"/>
              </a:rPr>
              <a:t>script ✓</a:t>
            </a:r>
          </a:p>
        </p:txBody>
      </p:sp>
      <p:sp>
        <p:nvSpPr>
          <p:cNvPr id="100137" name="Element-28"/>
          <p:cNvSpPr/>
          <p:nvPr/>
        </p:nvSpPr>
        <p:spPr>
          <a:xfrm xmlns:a="http://schemas.openxmlformats.org/drawingml/2006/main">
            <a:off x="792000" y="3870000"/>
            <a:ext cx="174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700" b="1" i="0">
                <a:solidFill>
                  <a:srgbClr val="5C626C"/>
                </a:solidFill>
                <a:latin typeface="Arial"/>
                <a:ea typeface="Arial"/>
              </a:rPr>
              <a:t>script ✗</a:t>
            </a:r>
          </a:p>
        </p:txBody>
      </p:sp>
      <p:sp>
        <p:nvSpPr>
          <p:cNvPr id="100138" name="Element-29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9" name="Caption-6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Only a control that the script and the model both pass permits the hypotheses to be read.</a:t>
            </a:r>
          </a:p>
        </p:txBody>
      </p:sp>
      <p:sp>
        <p:nvSpPr>
          <p:cNvPr id="100140" name="Fixed-31"/>
          <p:cNvSpPr/>
          <p:nvPr/>
        </p:nvSpPr>
        <p:spPr>
          <a:xfrm xmlns:a="http://schemas.openxmlformats.org/drawingml/2006/main">
            <a:off x="792000" y="61128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Implemented and tested offline. The laboratory run remains outstanding.</a:t>
            </a:r>
          </a:p>
        </p:txBody>
      </p:sp>
      <p:sp>
        <p:nvSpPr>
          <p:cNvPr id="100141" name="Fixed-32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42" name="Fixed-33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43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2b045d2a642b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44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45" name="Fixed-5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46" name="Fixed-6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147" name="Element-7"/>
          <p:cNvSpPr/>
          <p:nvPr/>
        </p:nvSpPr>
        <p:spPr>
          <a:xfrm xmlns:a="http://schemas.openxmlformats.org/drawingml/2006/main">
            <a:off x="43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8" name="Fixed-8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49" name="Fixed-9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50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Current status</a:t>
            </a:r>
          </a:p>
        </p:txBody>
      </p:sp>
      <p:sp>
        <p:nvSpPr>
          <p:cNvPr id="100151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2" name="Fixed-12"/>
          <p:cNvSpPr/>
          <p:nvPr/>
        </p:nvSpPr>
        <p:spPr>
          <a:xfrm xmlns:a="http://schemas.openxmlformats.org/drawingml/2006/main">
            <a:off x="792000" y="1602000"/>
            <a:ext cx="9576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600" b="1" i="0">
                <a:solidFill>
                  <a:srgbClr val="20252D"/>
                </a:solidFill>
                <a:latin typeface="Arial"/>
                <a:ea typeface="Arial"/>
              </a:rPr>
              <a:t>Both approaches succeed on every configuration.</a:t>
            </a:r>
          </a:p>
        </p:txBody>
      </p:sp>
      <p:sp>
        <p:nvSpPr>
          <p:cNvPr id="100153" name="Element-13"/>
          <p:cNvSpPr/>
          <p:nvPr/>
        </p:nvSpPr>
        <p:spPr>
          <a:xfrm xmlns:a="http://schemas.openxmlformats.org/drawingml/2006/main">
            <a:off x="792000" y="2167200"/>
            <a:ext cx="93600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4" name="Fixed-14"/>
          <p:cNvSpPr/>
          <p:nvPr/>
        </p:nvSpPr>
        <p:spPr>
          <a:xfrm xmlns:a="http://schemas.openxmlformats.org/drawingml/2006/main">
            <a:off x="792000" y="2538000"/>
            <a:ext cx="504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Rule-based</a:t>
            </a:r>
          </a:p>
        </p:txBody>
      </p:sp>
      <p:sp>
        <p:nvSpPr>
          <p:cNvPr id="100155" name="Fixed-15"/>
          <p:cNvSpPr/>
          <p:nvPr/>
        </p:nvSpPr>
        <p:spPr>
          <a:xfrm xmlns:a="http://schemas.openxmlformats.org/drawingml/2006/main">
            <a:off x="9600000" y="2502000"/>
            <a:ext cx="180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2400" b="1" i="0">
                <a:solidFill>
                  <a:srgbClr val="5C626C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156" name="Element-16"/>
          <p:cNvSpPr/>
          <p:nvPr/>
        </p:nvSpPr>
        <p:spPr>
          <a:xfrm xmlns:a="http://schemas.openxmlformats.org/drawingml/2006/main">
            <a:off x="792000" y="2916000"/>
            <a:ext cx="10608000" cy="59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7" name="Element-17"/>
          <p:cNvSpPr/>
          <p:nvPr/>
        </p:nvSpPr>
        <p:spPr>
          <a:xfrm xmlns:a="http://schemas.openxmlformats.org/drawingml/2006/main">
            <a:off x="792000" y="3510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8" name="Fixed-18"/>
          <p:cNvSpPr/>
          <p:nvPr/>
        </p:nvSpPr>
        <p:spPr>
          <a:xfrm xmlns:a="http://schemas.openxmlformats.org/drawingml/2006/main">
            <a:off x="792000" y="3816000"/>
            <a:ext cx="504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Model-based</a:t>
            </a:r>
          </a:p>
        </p:txBody>
      </p:sp>
      <p:sp>
        <p:nvSpPr>
          <p:cNvPr id="100159" name="Fixed-19"/>
          <p:cNvSpPr/>
          <p:nvPr/>
        </p:nvSpPr>
        <p:spPr>
          <a:xfrm xmlns:a="http://schemas.openxmlformats.org/drawingml/2006/main">
            <a:off x="9600000" y="3780000"/>
            <a:ext cx="180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2400" b="1" i="0">
                <a:solidFill>
                  <a:srgbClr val="B60036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160" name="Element-20"/>
          <p:cNvSpPr/>
          <p:nvPr/>
        </p:nvSpPr>
        <p:spPr>
          <a:xfrm xmlns:a="http://schemas.openxmlformats.org/drawingml/2006/main">
            <a:off x="792000" y="4194000"/>
            <a:ext cx="10608000" cy="59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1" name="Element-21"/>
          <p:cNvSpPr/>
          <p:nvPr/>
        </p:nvSpPr>
        <p:spPr>
          <a:xfrm xmlns:a="http://schemas.openxmlformats.org/drawingml/2006/main">
            <a:off x="792000" y="4788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2" name="Element-22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3" name="Caption-7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instrument does not discriminate between them.</a:t>
            </a:r>
          </a:p>
        </p:txBody>
      </p:sp>
      <p:sp>
        <p:nvSpPr>
          <p:cNvPr id="100164" name="Fixed-24"/>
          <p:cNvSpPr/>
          <p:nvPr/>
        </p:nvSpPr>
        <p:spPr>
          <a:xfrm xmlns:a="http://schemas.openxmlformats.org/drawingml/2006/main">
            <a:off x="792000" y="57816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This is a limitation of the instrument, not of the model.</a:t>
            </a:r>
          </a:p>
        </p:txBody>
      </p:sp>
      <p:sp>
        <p:nvSpPr>
          <p:cNvPr id="100165" name="Fixed-25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66" name="Fixed-26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7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67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1cdf46d1d426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68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69" name="Fixed-5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70" name="Fixed-6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171" name="Fixed-7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72" name="Element-8"/>
          <p:cNvSpPr/>
          <p:nvPr/>
        </p:nvSpPr>
        <p:spPr>
          <a:xfrm xmlns:a="http://schemas.openxmlformats.org/drawingml/2006/main">
            <a:off x="61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3" name="Fixed-9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74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 restated as hypotheses</a:t>
            </a:r>
          </a:p>
        </p:txBody>
      </p:sp>
      <p:sp>
        <p:nvSpPr>
          <p:cNvPr id="100175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6" name="Element-12"/>
          <p:cNvSpPr/>
          <p:nvPr/>
        </p:nvSpPr>
        <p:spPr>
          <a:xfrm xmlns:a="http://schemas.openxmlformats.org/drawingml/2006/main">
            <a:off x="7920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7" name="Fixed-13"/>
          <p:cNvSpPr/>
          <p:nvPr/>
        </p:nvSpPr>
        <p:spPr>
          <a:xfrm xmlns:a="http://schemas.openxmlformats.org/drawingml/2006/main">
            <a:off x="1008000" y="1832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H1</a:t>
            </a:r>
          </a:p>
        </p:txBody>
      </p:sp>
      <p:sp>
        <p:nvSpPr>
          <p:cNvPr id="100178" name="Fixed-14"/>
          <p:cNvSpPr/>
          <p:nvPr/>
        </p:nvSpPr>
        <p:spPr>
          <a:xfrm xmlns:a="http://schemas.openxmlformats.org/drawingml/2006/main">
            <a:off x="1638000" y="1911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Connected devices</a:t>
            </a:r>
          </a:p>
        </p:txBody>
      </p:sp>
      <p:sp>
        <p:nvSpPr>
          <p:cNvPr id="100179" name="Element-15"/>
          <p:cNvSpPr/>
          <p:nvPr/>
        </p:nvSpPr>
        <p:spPr>
          <a:xfrm xmlns:a="http://schemas.openxmlformats.org/drawingml/2006/main">
            <a:off x="1008000" y="2293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0" name="Fixed-16"/>
          <p:cNvSpPr/>
          <p:nvPr/>
        </p:nvSpPr>
        <p:spPr>
          <a:xfrm xmlns:a="http://schemas.openxmlformats.org/drawingml/2006/main">
            <a:off x="1008000" y="2376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link absent from public inputs</a:t>
            </a:r>
          </a:p>
        </p:txBody>
      </p:sp>
      <p:sp>
        <p:nvSpPr>
          <p:cNvPr id="100181" name="Element-17"/>
          <p:cNvSpPr/>
          <p:nvPr/>
        </p:nvSpPr>
        <p:spPr>
          <a:xfrm xmlns:a="http://schemas.openxmlformats.org/drawingml/2006/main">
            <a:off x="44036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2" name="Fixed-18"/>
          <p:cNvSpPr/>
          <p:nvPr/>
        </p:nvSpPr>
        <p:spPr>
          <a:xfrm xmlns:a="http://schemas.openxmlformats.org/drawingml/2006/main">
            <a:off x="4619600" y="1832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H2</a:t>
            </a:r>
          </a:p>
        </p:txBody>
      </p:sp>
      <p:sp>
        <p:nvSpPr>
          <p:cNvPr id="100183" name="Fixed-19"/>
          <p:cNvSpPr/>
          <p:nvPr/>
        </p:nvSpPr>
        <p:spPr>
          <a:xfrm xmlns:a="http://schemas.openxmlformats.org/drawingml/2006/main">
            <a:off x="5249600" y="1911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Heterogeneous formats</a:t>
            </a:r>
          </a:p>
        </p:txBody>
      </p:sp>
      <p:sp>
        <p:nvSpPr>
          <p:cNvPr id="100184" name="Element-20"/>
          <p:cNvSpPr/>
          <p:nvPr/>
        </p:nvSpPr>
        <p:spPr>
          <a:xfrm xmlns:a="http://schemas.openxmlformats.org/drawingml/2006/main">
            <a:off x="4619600" y="2293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5" name="Fixed-21"/>
          <p:cNvSpPr/>
          <p:nvPr/>
        </p:nvSpPr>
        <p:spPr>
          <a:xfrm xmlns:a="http://schemas.openxmlformats.org/drawingml/2006/main">
            <a:off x="4619600" y="2376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representation no parser covers</a:t>
            </a:r>
          </a:p>
        </p:txBody>
      </p:sp>
      <p:sp>
        <p:nvSpPr>
          <p:cNvPr id="100186" name="Element-22"/>
          <p:cNvSpPr/>
          <p:nvPr/>
        </p:nvSpPr>
        <p:spPr>
          <a:xfrm xmlns:a="http://schemas.openxmlformats.org/drawingml/2006/main">
            <a:off x="80152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7" name="Fixed-23"/>
          <p:cNvSpPr/>
          <p:nvPr/>
        </p:nvSpPr>
        <p:spPr>
          <a:xfrm xmlns:a="http://schemas.openxmlformats.org/drawingml/2006/main">
            <a:off x="8231200" y="1832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H3</a:t>
            </a:r>
          </a:p>
        </p:txBody>
      </p:sp>
      <p:sp>
        <p:nvSpPr>
          <p:cNvPr id="100188" name="Fixed-24"/>
          <p:cNvSpPr/>
          <p:nvPr/>
        </p:nvSpPr>
        <p:spPr>
          <a:xfrm xmlns:a="http://schemas.openxmlformats.org/drawingml/2006/main">
            <a:off x="8861200" y="1911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Novel contracts</a:t>
            </a:r>
          </a:p>
        </p:txBody>
      </p:sp>
      <p:sp>
        <p:nvSpPr>
          <p:cNvPr id="100189" name="Element-25"/>
          <p:cNvSpPr/>
          <p:nvPr/>
        </p:nvSpPr>
        <p:spPr>
          <a:xfrm xmlns:a="http://schemas.openxmlformats.org/drawingml/2006/main">
            <a:off x="8231200" y="2293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0" name="Fixed-26"/>
          <p:cNvSpPr/>
          <p:nvPr/>
        </p:nvSpPr>
        <p:spPr>
          <a:xfrm xmlns:a="http://schemas.openxmlformats.org/drawingml/2006/main">
            <a:off x="8231200" y="2376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rights stated in unseen documentation</a:t>
            </a:r>
          </a:p>
        </p:txBody>
      </p:sp>
      <p:sp>
        <p:nvSpPr>
          <p:cNvPr id="100191" name="Element-27"/>
          <p:cNvSpPr/>
          <p:nvPr/>
        </p:nvSpPr>
        <p:spPr>
          <a:xfrm xmlns:a="http://schemas.openxmlformats.org/drawingml/2006/main">
            <a:off x="7920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2" name="Fixed-28"/>
          <p:cNvSpPr/>
          <p:nvPr/>
        </p:nvSpPr>
        <p:spPr>
          <a:xfrm xmlns:a="http://schemas.openxmlformats.org/drawingml/2006/main">
            <a:off x="1008000" y="3398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H4</a:t>
            </a:r>
          </a:p>
        </p:txBody>
      </p:sp>
      <p:sp>
        <p:nvSpPr>
          <p:cNvPr id="100193" name="Fixed-29"/>
          <p:cNvSpPr/>
          <p:nvPr/>
        </p:nvSpPr>
        <p:spPr>
          <a:xfrm xmlns:a="http://schemas.openxmlformats.org/drawingml/2006/main">
            <a:off x="1638000" y="3477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Vendor semantics</a:t>
            </a:r>
          </a:p>
        </p:txBody>
      </p:sp>
      <p:sp>
        <p:nvSpPr>
          <p:cNvPr id="100194" name="Element-30"/>
          <p:cNvSpPr/>
          <p:nvPr/>
        </p:nvSpPr>
        <p:spPr>
          <a:xfrm xmlns:a="http://schemas.openxmlformats.org/drawingml/2006/main">
            <a:off x="1008000" y="3859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5" name="Fixed-31"/>
          <p:cNvSpPr/>
          <p:nvPr/>
        </p:nvSpPr>
        <p:spPr>
          <a:xfrm xmlns:a="http://schemas.openxmlformats.org/drawingml/2006/main">
            <a:off x="1008000" y="3942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field whose meaning is only documented</a:t>
            </a:r>
          </a:p>
        </p:txBody>
      </p:sp>
      <p:sp>
        <p:nvSpPr>
          <p:cNvPr id="100196" name="Element-32"/>
          <p:cNvSpPr/>
          <p:nvPr/>
        </p:nvSpPr>
        <p:spPr>
          <a:xfrm xmlns:a="http://schemas.openxmlformats.org/drawingml/2006/main">
            <a:off x="44036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7" name="Fixed-33"/>
          <p:cNvSpPr/>
          <p:nvPr/>
        </p:nvSpPr>
        <p:spPr>
          <a:xfrm xmlns:a="http://schemas.openxmlformats.org/drawingml/2006/main">
            <a:off x="4619600" y="3398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H5</a:t>
            </a:r>
          </a:p>
        </p:txBody>
      </p:sp>
      <p:sp>
        <p:nvSpPr>
          <p:cNvPr id="100198" name="Fixed-34"/>
          <p:cNvSpPr/>
          <p:nvPr/>
        </p:nvSpPr>
        <p:spPr>
          <a:xfrm xmlns:a="http://schemas.openxmlformats.org/drawingml/2006/main">
            <a:off x="5249600" y="3477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Ambiguous refusals</a:t>
            </a:r>
          </a:p>
        </p:txBody>
      </p:sp>
      <p:sp>
        <p:nvSpPr>
          <p:cNvPr id="100199" name="Element-35"/>
          <p:cNvSpPr/>
          <p:nvPr/>
        </p:nvSpPr>
        <p:spPr>
          <a:xfrm xmlns:a="http://schemas.openxmlformats.org/drawingml/2006/main">
            <a:off x="4619600" y="3859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0" name="Fixed-36"/>
          <p:cNvSpPr/>
          <p:nvPr/>
        </p:nvSpPr>
        <p:spPr>
          <a:xfrm xmlns:a="http://schemas.openxmlformats.org/drawingml/2006/main">
            <a:off x="4619600" y="3942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resuming the audit after a refusal</a:t>
            </a:r>
          </a:p>
        </p:txBody>
      </p:sp>
      <p:sp>
        <p:nvSpPr>
          <p:cNvPr id="100201" name="Element-37"/>
          <p:cNvSpPr/>
          <p:nvPr/>
        </p:nvSpPr>
        <p:spPr>
          <a:xfrm xmlns:a="http://schemas.openxmlformats.org/drawingml/2006/main">
            <a:off x="80152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2" name="Fixed-38"/>
          <p:cNvSpPr/>
          <p:nvPr/>
        </p:nvSpPr>
        <p:spPr>
          <a:xfrm xmlns:a="http://schemas.openxmlformats.org/drawingml/2006/main">
            <a:off x="8231200" y="3398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H6</a:t>
            </a:r>
          </a:p>
        </p:txBody>
      </p:sp>
      <p:sp>
        <p:nvSpPr>
          <p:cNvPr id="100203" name="Fixed-39"/>
          <p:cNvSpPr/>
          <p:nvPr/>
        </p:nvSpPr>
        <p:spPr>
          <a:xfrm xmlns:a="http://schemas.openxmlformats.org/drawingml/2006/main">
            <a:off x="8861200" y="3477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B60036"/>
                </a:solidFill>
                <a:latin typeface="Arial"/>
                <a:ea typeface="Arial"/>
              </a:rPr>
              <a:t>Hostile content</a:t>
            </a:r>
          </a:p>
        </p:txBody>
      </p:sp>
      <p:sp>
        <p:nvSpPr>
          <p:cNvPr id="100204" name="Element-40"/>
          <p:cNvSpPr/>
          <p:nvPr/>
        </p:nvSpPr>
        <p:spPr>
          <a:xfrm xmlns:a="http://schemas.openxmlformats.org/drawingml/2006/main">
            <a:off x="8231200" y="3859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5" name="Fixed-41"/>
          <p:cNvSpPr/>
          <p:nvPr/>
        </p:nvSpPr>
        <p:spPr>
          <a:xfrm xmlns:a="http://schemas.openxmlformats.org/drawingml/2006/main">
            <a:off x="8231200" y="3942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an instruction obeyed from observed content</a:t>
            </a:r>
          </a:p>
        </p:txBody>
      </p:sp>
      <p:sp>
        <p:nvSpPr>
          <p:cNvPr id="100206" name="Element-42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7" name="Caption-8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H1–H5 quantify a possible gain.      H6 quantifies a risk.</a:t>
            </a:r>
          </a:p>
        </p:txBody>
      </p:sp>
      <p:sp>
        <p:nvSpPr>
          <p:cNvPr id="100208" name="Fixed-44"/>
          <p:cNvSpPr/>
          <p:nvPr/>
        </p:nvSpPr>
        <p:spPr>
          <a:xfrm xmlns:a="http://schemas.openxmlformats.org/drawingml/2006/main">
            <a:off x="792000" y="57816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The register is this list of hypotheses and the test of each.</a:t>
            </a:r>
          </a:p>
        </p:txBody>
      </p:sp>
      <p:sp>
        <p:nvSpPr>
          <p:cNvPr id="100209" name="Fixed-45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10" name="Fixed-46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8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11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b2fa09bf14bf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212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13" name="Fixed-5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14" name="Fixed-6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215" name="Fixed-7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16" name="Fixed-8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17" name="Element-9"/>
          <p:cNvSpPr/>
          <p:nvPr/>
        </p:nvSpPr>
        <p:spPr>
          <a:xfrm xmlns:a="http://schemas.openxmlformats.org/drawingml/2006/main">
            <a:off x="79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18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we cannot claim</a:t>
            </a:r>
          </a:p>
        </p:txBody>
      </p:sp>
      <p:sp>
        <p:nvSpPr>
          <p:cNvPr id="100219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0" name="Element-12"/>
          <p:cNvSpPr/>
          <p:nvPr/>
        </p:nvSpPr>
        <p:spPr>
          <a:xfrm xmlns:a="http://schemas.openxmlformats.org/drawingml/2006/main">
            <a:off x="792000" y="1728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1" name="Element-13"/>
          <p:cNvSpPr/>
          <p:nvPr/>
        </p:nvSpPr>
        <p:spPr>
          <a:xfrm xmlns:a="http://schemas.openxmlformats.org/drawingml/2006/main">
            <a:off x="792000" y="1728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2" name="Element-14"/>
          <p:cNvSpPr/>
          <p:nvPr/>
        </p:nvSpPr>
        <p:spPr>
          <a:xfrm xmlns:a="http://schemas.openxmlformats.org/drawingml/2006/main">
            <a:off x="1098000" y="1728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23" name="Element-15"/>
          <p:cNvSpPr/>
          <p:nvPr/>
        </p:nvSpPr>
        <p:spPr>
          <a:xfrm xmlns:a="http://schemas.openxmlformats.org/drawingml/2006/main">
            <a:off x="1620000" y="1728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general advantage</a:t>
            </a:r>
          </a:p>
        </p:txBody>
      </p:sp>
      <p:sp>
        <p:nvSpPr>
          <p:cNvPr id="100224" name="Element-16"/>
          <p:cNvSpPr/>
          <p:nvPr/>
        </p:nvSpPr>
        <p:spPr>
          <a:xfrm xmlns:a="http://schemas.openxmlformats.org/drawingml/2006/main">
            <a:off x="5148000" y="1728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No hypothesis has yet been executed.</a:t>
            </a:r>
          </a:p>
        </p:txBody>
      </p:sp>
      <p:sp>
        <p:nvSpPr>
          <p:cNvPr id="100225" name="Element-17"/>
          <p:cNvSpPr/>
          <p:nvPr/>
        </p:nvSpPr>
        <p:spPr>
          <a:xfrm xmlns:a="http://schemas.openxmlformats.org/drawingml/2006/main">
            <a:off x="792000" y="2826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6" name="Element-18"/>
          <p:cNvSpPr/>
          <p:nvPr/>
        </p:nvSpPr>
        <p:spPr>
          <a:xfrm xmlns:a="http://schemas.openxmlformats.org/drawingml/2006/main">
            <a:off x="792000" y="2826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7" name="Element-19"/>
          <p:cNvSpPr/>
          <p:nvPr/>
        </p:nvSpPr>
        <p:spPr>
          <a:xfrm xmlns:a="http://schemas.openxmlformats.org/drawingml/2006/main">
            <a:off x="1098000" y="2826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28" name="Element-20"/>
          <p:cNvSpPr/>
          <p:nvPr/>
        </p:nvSpPr>
        <p:spPr>
          <a:xfrm xmlns:a="http://schemas.openxmlformats.org/drawingml/2006/main">
            <a:off x="1620000" y="2826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confidence interval</a:t>
            </a:r>
          </a:p>
        </p:txBody>
      </p:sp>
      <p:sp>
        <p:nvSpPr>
          <p:cNvPr id="100229" name="Element-21"/>
          <p:cNvSpPr/>
          <p:nvPr/>
        </p:nvSpPr>
        <p:spPr>
          <a:xfrm xmlns:a="http://schemas.openxmlformats.org/drawingml/2006/main">
            <a:off x="5148000" y="2826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Three repetitions yield a dispersion, not a sample.</a:t>
            </a:r>
          </a:p>
        </p:txBody>
      </p:sp>
      <p:sp>
        <p:nvSpPr>
          <p:cNvPr id="100230" name="Element-22"/>
          <p:cNvSpPr/>
          <p:nvPr/>
        </p:nvSpPr>
        <p:spPr>
          <a:xfrm xmlns:a="http://schemas.openxmlformats.org/drawingml/2006/main">
            <a:off x="792000" y="3924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1" name="Element-23"/>
          <p:cNvSpPr/>
          <p:nvPr/>
        </p:nvSpPr>
        <p:spPr>
          <a:xfrm xmlns:a="http://schemas.openxmlformats.org/drawingml/2006/main">
            <a:off x="792000" y="3924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2" name="Element-24"/>
          <p:cNvSpPr/>
          <p:nvPr/>
        </p:nvSpPr>
        <p:spPr>
          <a:xfrm xmlns:a="http://schemas.openxmlformats.org/drawingml/2006/main">
            <a:off x="1098000" y="3924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33" name="Element-25"/>
          <p:cNvSpPr/>
          <p:nvPr/>
        </p:nvSpPr>
        <p:spPr>
          <a:xfrm xmlns:a="http://schemas.openxmlformats.org/drawingml/2006/main">
            <a:off x="1620000" y="3924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admitted evidence</a:t>
            </a:r>
          </a:p>
        </p:txBody>
      </p:sp>
      <p:sp>
        <p:nvSpPr>
          <p:cNvPr id="100234" name="Element-26"/>
          <p:cNvSpPr/>
          <p:nvPr/>
        </p:nvSpPr>
        <p:spPr>
          <a:xfrm xmlns:a="http://schemas.openxmlformats.org/drawingml/2006/main">
            <a:off x="5148000" y="3924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The metric definition is not frozen.</a:t>
            </a:r>
          </a:p>
        </p:txBody>
      </p:sp>
      <p:sp>
        <p:nvSpPr>
          <p:cNvPr id="100235" name="Element-27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6" name="Caption-9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A successful run is not a measurement: one early run reported success while every model arm had failed.</a:t>
            </a:r>
          </a:p>
        </p:txBody>
      </p:sp>
      <p:sp>
        <p:nvSpPr>
          <p:cNvPr id="100237" name="Fixed-29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38" name="Fixed-30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9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39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7866073af948d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240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41" name="Fixed-5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42" name="Fixed-6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243" name="Fixed-7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44" name="Fixed-8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45" name="Element-9"/>
          <p:cNvSpPr/>
          <p:nvPr/>
        </p:nvSpPr>
        <p:spPr>
          <a:xfrm xmlns:a="http://schemas.openxmlformats.org/drawingml/2006/main">
            <a:off x="79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6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Next steps</a:t>
            </a:r>
          </a:p>
        </p:txBody>
      </p:sp>
      <p:sp>
        <p:nvSpPr>
          <p:cNvPr id="100247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8" name="Fixed-12"/>
          <p:cNvSpPr/>
          <p:nvPr/>
        </p:nvSpPr>
        <p:spPr>
          <a:xfrm xmlns:a="http://schemas.openxmlformats.org/drawingml/2006/main">
            <a:off x="792000" y="1782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249" name="Fixed-13"/>
          <p:cNvSpPr/>
          <p:nvPr/>
        </p:nvSpPr>
        <p:spPr>
          <a:xfrm xmlns:a="http://schemas.openxmlformats.org/drawingml/2006/main">
            <a:off x="1494000" y="1782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Execute V0 on a held-out instance</a:t>
            </a:r>
          </a:p>
        </p:txBody>
      </p:sp>
      <p:sp>
        <p:nvSpPr>
          <p:cNvPr id="100250" name="Element-14"/>
          <p:cNvSpPr/>
          <p:nvPr/>
        </p:nvSpPr>
        <p:spPr>
          <a:xfrm xmlns:a="http://schemas.openxmlformats.org/drawingml/2006/main">
            <a:off x="1494000" y="2430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1" name="Fixed-15"/>
          <p:cNvSpPr/>
          <p:nvPr/>
        </p:nvSpPr>
        <p:spPr>
          <a:xfrm xmlns:a="http://schemas.openxmlformats.org/drawingml/2006/main">
            <a:off x="792000" y="2718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252" name="Fixed-16"/>
          <p:cNvSpPr/>
          <p:nvPr/>
        </p:nvSpPr>
        <p:spPr>
          <a:xfrm xmlns:a="http://schemas.openxmlformats.org/drawingml/2006/main">
            <a:off x="1494000" y="2718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Develop a parameterisable test harness</a:t>
            </a:r>
          </a:p>
        </p:txBody>
      </p:sp>
      <p:sp>
        <p:nvSpPr>
          <p:cNvPr id="100253" name="Element-17"/>
          <p:cNvSpPr/>
          <p:nvPr/>
        </p:nvSpPr>
        <p:spPr>
          <a:xfrm xmlns:a="http://schemas.openxmlformats.org/drawingml/2006/main">
            <a:off x="1494000" y="3366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4" name="Fixed-18"/>
          <p:cNvSpPr/>
          <p:nvPr/>
        </p:nvSpPr>
        <p:spPr>
          <a:xfrm xmlns:a="http://schemas.openxmlformats.org/drawingml/2006/main">
            <a:off x="792000" y="3654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255" name="Fixed-19"/>
          <p:cNvSpPr/>
          <p:nvPr/>
        </p:nvSpPr>
        <p:spPr>
          <a:xfrm xmlns:a="http://schemas.openxmlformats.org/drawingml/2006/main">
            <a:off x="1494000" y="3654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Build the scenario families for H2, H3 and H4</a:t>
            </a:r>
          </a:p>
        </p:txBody>
      </p:sp>
      <p:sp>
        <p:nvSpPr>
          <p:cNvPr id="100256" name="Element-20"/>
          <p:cNvSpPr/>
          <p:nvPr/>
        </p:nvSpPr>
        <p:spPr>
          <a:xfrm xmlns:a="http://schemas.openxmlformats.org/drawingml/2006/main">
            <a:off x="1494000" y="4302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7" name="Fixed-21"/>
          <p:cNvSpPr/>
          <p:nvPr/>
        </p:nvSpPr>
        <p:spPr>
          <a:xfrm xmlns:a="http://schemas.openxmlformats.org/drawingml/2006/main">
            <a:off x="792000" y="4590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258" name="Fixed-22"/>
          <p:cNvSpPr/>
          <p:nvPr/>
        </p:nvSpPr>
        <p:spPr>
          <a:xfrm xmlns:a="http://schemas.openxmlformats.org/drawingml/2006/main">
            <a:off x="1494000" y="4590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Deploy a reproducible platform</a:t>
            </a:r>
          </a:p>
        </p:txBody>
      </p:sp>
      <p:sp>
        <p:nvSpPr>
          <p:cNvPr id="100259" name="Element-23"/>
          <p:cNvSpPr/>
          <p:nvPr/>
        </p:nvSpPr>
        <p:spPr>
          <a:xfrm xmlns:a="http://schemas.openxmlformats.org/drawingml/2006/main">
            <a:off x="7998400" y="1782000"/>
            <a:ext cx="3401600" cy="23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FCF0F4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0" name="Element-24"/>
          <p:cNvSpPr/>
          <p:nvPr/>
        </p:nvSpPr>
        <p:spPr>
          <a:xfrm xmlns:a="http://schemas.openxmlformats.org/drawingml/2006/main">
            <a:off x="7998400" y="1782000"/>
            <a:ext cx="50400" cy="23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1" name="Fixed-25"/>
          <p:cNvSpPr/>
          <p:nvPr/>
        </p:nvSpPr>
        <p:spPr>
          <a:xfrm xmlns:a="http://schemas.openxmlformats.org/drawingml/2006/main">
            <a:off x="8304400" y="1879200"/>
            <a:ext cx="27896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Support requested</a:t>
            </a:r>
          </a:p>
        </p:txBody>
      </p:sp>
      <p:sp>
        <p:nvSpPr>
          <p:cNvPr id="100262" name="Element-26"/>
          <p:cNvSpPr/>
          <p:nvPr/>
        </p:nvSpPr>
        <p:spPr>
          <a:xfrm xmlns:a="http://schemas.openxmlformats.org/drawingml/2006/main">
            <a:off x="8304400" y="2466000"/>
            <a:ext cx="162000" cy="3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3" name="Fixed-27"/>
          <p:cNvSpPr/>
          <p:nvPr/>
        </p:nvSpPr>
        <p:spPr>
          <a:xfrm xmlns:a="http://schemas.openxmlformats.org/drawingml/2006/main">
            <a:off x="8574400" y="2322000"/>
            <a:ext cx="27176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access to real vendor artifacts</a:t>
            </a:r>
          </a:p>
        </p:txBody>
      </p:sp>
      <p:sp>
        <p:nvSpPr>
          <p:cNvPr id="100264" name="Element-28"/>
          <p:cNvSpPr/>
          <p:nvPr/>
        </p:nvSpPr>
        <p:spPr>
          <a:xfrm xmlns:a="http://schemas.openxmlformats.org/drawingml/2006/main">
            <a:off x="8304400" y="3348000"/>
            <a:ext cx="162000" cy="3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5" name="Fixed-29"/>
          <p:cNvSpPr/>
          <p:nvPr/>
        </p:nvSpPr>
        <p:spPr>
          <a:xfrm xmlns:a="http://schemas.openxmlformats.org/drawingml/2006/main">
            <a:off x="8574400" y="3204000"/>
            <a:ext cx="27176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an adversarial review of the register</a:t>
            </a:r>
          </a:p>
        </p:txBody>
      </p:sp>
      <p:sp>
        <p:nvSpPr>
          <p:cNvPr id="100266" name="Element-30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7" name="Caption-10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Order follows conditions, not dates.</a:t>
            </a:r>
          </a:p>
        </p:txBody>
      </p:sp>
      <p:sp>
        <p:nvSpPr>
          <p:cNvPr id="100268" name="Fixed-32"/>
          <p:cNvSpPr/>
          <p:nvPr/>
        </p:nvSpPr>
        <p:spPr>
          <a:xfrm xmlns:a="http://schemas.openxmlformats.org/drawingml/2006/main">
            <a:off x="792000" y="57816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AsiaCCS 2027 — submission deadline 11 December 2026 (AoE).</a:t>
            </a:r>
          </a:p>
        </p:txBody>
      </p:sp>
      <p:sp>
        <p:nvSpPr>
          <p:cNvPr id="100269" name="Fixed-33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70" name="Fixed-34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10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71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a5ab31d7e4b7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272" name="Fixed-4"/>
          <p:cNvSpPr/>
          <p:nvPr/>
        </p:nvSpPr>
        <p:spPr>
          <a:xfrm xmlns:a="http://schemas.openxmlformats.org/drawingml/2006/main">
            <a:off x="7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73" name="Fixed-5"/>
          <p:cNvSpPr/>
          <p:nvPr/>
        </p:nvSpPr>
        <p:spPr>
          <a:xfrm xmlns:a="http://schemas.openxmlformats.org/drawingml/2006/main">
            <a:off x="25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74" name="Fixed-6"/>
          <p:cNvSpPr/>
          <p:nvPr/>
        </p:nvSpPr>
        <p:spPr>
          <a:xfrm xmlns:a="http://schemas.openxmlformats.org/drawingml/2006/main">
            <a:off x="43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275" name="Fixed-7"/>
          <p:cNvSpPr/>
          <p:nvPr/>
        </p:nvSpPr>
        <p:spPr>
          <a:xfrm xmlns:a="http://schemas.openxmlformats.org/drawingml/2006/main">
            <a:off x="61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76" name="Fixed-8"/>
          <p:cNvSpPr/>
          <p:nvPr/>
        </p:nvSpPr>
        <p:spPr>
          <a:xfrm xmlns:a="http://schemas.openxmlformats.org/drawingml/2006/main">
            <a:off x="7992000" y="288000"/>
            <a:ext cx="1656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77" name="Element-9"/>
          <p:cNvSpPr/>
          <p:nvPr/>
        </p:nvSpPr>
        <p:spPr>
          <a:xfrm xmlns:a="http://schemas.openxmlformats.org/drawingml/2006/main">
            <a:off x="7992000" y="529200"/>
            <a:ext cx="1656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78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Reserve — declared coverage gaps</a:t>
            </a:r>
          </a:p>
        </p:txBody>
      </p:sp>
      <p:sp>
        <p:nvSpPr>
          <p:cNvPr id="100279" name="Element-11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0" name="Element-12"/>
          <p:cNvSpPr/>
          <p:nvPr/>
        </p:nvSpPr>
        <p:spPr>
          <a:xfrm xmlns:a="http://schemas.openxmlformats.org/drawingml/2006/main">
            <a:off x="792000" y="1926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1" name="Fixed-13"/>
          <p:cNvSpPr/>
          <p:nvPr/>
        </p:nvSpPr>
        <p:spPr>
          <a:xfrm xmlns:a="http://schemas.openxmlformats.org/drawingml/2006/main">
            <a:off x="1170000" y="1818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Physical impact and functional safety</a:t>
            </a:r>
          </a:p>
        </p:txBody>
      </p:sp>
      <p:sp>
        <p:nvSpPr>
          <p:cNvPr id="100282" name="Element-14"/>
          <p:cNvSpPr/>
          <p:nvPr/>
        </p:nvSpPr>
        <p:spPr>
          <a:xfrm xmlns:a="http://schemas.openxmlformats.org/drawingml/2006/main">
            <a:off x="792000" y="2520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3" name="Element-15"/>
          <p:cNvSpPr/>
          <p:nvPr/>
        </p:nvSpPr>
        <p:spPr>
          <a:xfrm xmlns:a="http://schemas.openxmlformats.org/drawingml/2006/main">
            <a:off x="792000" y="2808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4" name="Fixed-16"/>
          <p:cNvSpPr/>
          <p:nvPr/>
        </p:nvSpPr>
        <p:spPr>
          <a:xfrm xmlns:a="http://schemas.openxmlformats.org/drawingml/2006/main">
            <a:off x="1170000" y="2700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Device fragility under probing</a:t>
            </a:r>
          </a:p>
        </p:txBody>
      </p:sp>
      <p:sp>
        <p:nvSpPr>
          <p:cNvPr id="100285" name="Element-17"/>
          <p:cNvSpPr/>
          <p:nvPr/>
        </p:nvSpPr>
        <p:spPr>
          <a:xfrm xmlns:a="http://schemas.openxmlformats.org/drawingml/2006/main">
            <a:off x="792000" y="3402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6" name="Element-18"/>
          <p:cNvSpPr/>
          <p:nvPr/>
        </p:nvSpPr>
        <p:spPr>
          <a:xfrm xmlns:a="http://schemas.openxmlformats.org/drawingml/2006/main">
            <a:off x="792000" y="3690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7" name="Fixed-19"/>
          <p:cNvSpPr/>
          <p:nvPr/>
        </p:nvSpPr>
        <p:spPr>
          <a:xfrm xmlns:a="http://schemas.openxmlformats.org/drawingml/2006/main">
            <a:off x="1170000" y="3582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Real fleet scale</a:t>
            </a:r>
          </a:p>
        </p:txBody>
      </p:sp>
      <p:sp>
        <p:nvSpPr>
          <p:cNvPr id="100288" name="Element-20"/>
          <p:cNvSpPr/>
          <p:nvPr/>
        </p:nvSpPr>
        <p:spPr>
          <a:xfrm xmlns:a="http://schemas.openxmlformats.org/drawingml/2006/main">
            <a:off x="792000" y="4284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9" name="Element-21"/>
          <p:cNvSpPr/>
          <p:nvPr/>
        </p:nvSpPr>
        <p:spPr>
          <a:xfrm xmlns:a="http://schemas.openxmlformats.org/drawingml/2006/main">
            <a:off x="792000" y="4572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90" name="Fixed-22"/>
          <p:cNvSpPr/>
          <p:nvPr/>
        </p:nvSpPr>
        <p:spPr>
          <a:xfrm xmlns:a="http://schemas.openxmlformats.org/drawingml/2006/main">
            <a:off x="1170000" y="4464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Proprietary industrial protocols that are not simulated</a:t>
            </a:r>
          </a:p>
        </p:txBody>
      </p:sp>
      <p:sp>
        <p:nvSpPr>
          <p:cNvPr id="100291" name="Element-23"/>
          <p:cNvSpPr/>
          <p:nvPr/>
        </p:nvSpPr>
        <p:spPr>
          <a:xfrm xmlns:a="http://schemas.openxmlformats.org/drawingml/2006/main">
            <a:off x="6384000" y="1926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92" name="Fixed-24"/>
          <p:cNvSpPr/>
          <p:nvPr/>
        </p:nvSpPr>
        <p:spPr>
          <a:xfrm xmlns:a="http://schemas.openxmlformats.org/drawingml/2006/main">
            <a:off x="6762000" y="1818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Complete multi-step exploitation chains</a:t>
            </a:r>
          </a:p>
        </p:txBody>
      </p:sp>
      <p:sp>
        <p:nvSpPr>
          <p:cNvPr id="100293" name="Element-25"/>
          <p:cNvSpPr/>
          <p:nvPr/>
        </p:nvSpPr>
        <p:spPr>
          <a:xfrm xmlns:a="http://schemas.openxmlformats.org/drawingml/2006/main">
            <a:off x="6384000" y="2520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94" name="Element-26"/>
          <p:cNvSpPr/>
          <p:nvPr/>
        </p:nvSpPr>
        <p:spPr>
          <a:xfrm xmlns:a="http://schemas.openxmlformats.org/drawingml/2006/main">
            <a:off x="6384000" y="3249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95" name="Fixed-27"/>
          <p:cNvSpPr/>
          <p:nvPr/>
        </p:nvSpPr>
        <p:spPr>
          <a:xfrm xmlns:a="http://schemas.openxmlformats.org/drawingml/2006/main">
            <a:off x="6762000" y="3141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Abstention and calibration</a:t>
            </a:r>
          </a:p>
        </p:txBody>
      </p:sp>
      <p:sp>
        <p:nvSpPr>
          <p:cNvPr id="100296" name="Element-28"/>
          <p:cNvSpPr/>
          <p:nvPr/>
        </p:nvSpPr>
        <p:spPr>
          <a:xfrm xmlns:a="http://schemas.openxmlformats.org/drawingml/2006/main">
            <a:off x="6384000" y="3843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97" name="Element-29"/>
          <p:cNvSpPr/>
          <p:nvPr/>
        </p:nvSpPr>
        <p:spPr>
          <a:xfrm xmlns:a="http://schemas.openxmlformats.org/drawingml/2006/main">
            <a:off x="6384000" y="4572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98" name="Fixed-30"/>
          <p:cNvSpPr/>
          <p:nvPr/>
        </p:nvSpPr>
        <p:spPr>
          <a:xfrm xmlns:a="http://schemas.openxmlformats.org/drawingml/2006/main">
            <a:off x="6762000" y="4464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Generic IT scenarios, deliberately excluded</a:t>
            </a:r>
          </a:p>
        </p:txBody>
      </p:sp>
      <p:sp>
        <p:nvSpPr>
          <p:cNvPr id="100299" name="Element-31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300" name="Caption-11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A benchmark that states its gaps is stronger than one that claims full coverage.</a:t>
            </a:r>
          </a:p>
        </p:txBody>
      </p:sp>
      <p:sp>
        <p:nvSpPr>
          <p:cNvPr id="100301" name="Fixed-33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302" name="Fixed-34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11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OfficeCLI/1.0.158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Project LANCE</dc:creator>
  <dcterms:created xsi:type="dcterms:W3CDTF">2026-10-22T09:50:08.0000000Z</dcterms:created>
  <lastModifiedBy>OfficeCLI</lastModifiedBy>
  <dcterms:modified xsi:type="dcterms:W3CDTF">2026-10-22T09:50:08.5099280Z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2026-10-22T09:50:15Z</vt:lpwstr>
  </op:property>
</op:Properties>
</file>