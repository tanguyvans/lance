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Default Extension="jpg" ContentType="image/jpe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c36139fe44a54e91" /><Relationship Type="http://schemas.openxmlformats.org/package/2006/relationships/metadata/core-properties" Target="/docProps/core.xml" Id="Rbb5c3ec91276496f" /><Relationship Type="http://schemas.openxmlformats.org/officeDocument/2006/relationships/extended-properties" Target="/docProps/app.xml" Id="R8a93c7584d4443e6" /><Relationship Type="http://schemas.openxmlformats.org/officeDocument/2006/relationships/custom-properties" Target="/docProps/custom.xml" Id="R93afb3a1ebc44cc9"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dca3aa69754d406d"/>
  </p:notesMasterIdLst>
  <p:sldIdLst>
    <p:sldId id="256" r:id="Rce56b55e9c584081"/>
    <p:sldId id="257" r:id="Reb28b8d1a34f46de"/>
    <p:sldId id="258" r:id="Rab84c823db4946c6"/>
    <p:sldId id="259" r:id="Re11862ae335848f3"/>
    <p:sldId id="260" r:id="R6ee9ab27763240fc"/>
    <p:sldId id="261" r:id="R8da4575cdd2f489a"/>
    <p:sldId id="262" r:id="R0cf329b8e5234418"/>
    <p:sldId id="263" r:id="R44a172edffb940d7"/>
    <p:sldId id="264" r:id="R00625fd6acdb466b"/>
    <p:sldId id="265" r:id="R4dee1822c02d4f48"/>
  </p:sldIdLst>
  <p:sldSz cx="12192000" cy="6858000" type="custom"/>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ce56b55e9c584081" /><Relationship Type="http://schemas.openxmlformats.org/officeDocument/2006/relationships/notesMaster" Target="/ppt/notesMasters/notesMaster1.xml" Id="Rdca3aa69754d406d" /><Relationship Type="http://schemas.openxmlformats.org/officeDocument/2006/relationships/slide" Target="/ppt/slides/slide2.xml" Id="Reb28b8d1a34f46de" /><Relationship Type="http://schemas.openxmlformats.org/officeDocument/2006/relationships/slide" Target="/ppt/slides/slide3.xml" Id="Rab84c823db4946c6" /><Relationship Type="http://schemas.openxmlformats.org/officeDocument/2006/relationships/slide" Target="/ppt/slides/slide4.xml" Id="Re11862ae335848f3" /><Relationship Type="http://schemas.openxmlformats.org/officeDocument/2006/relationships/slide" Target="/ppt/slides/slide5.xml" Id="R6ee9ab27763240fc" /><Relationship Type="http://schemas.openxmlformats.org/officeDocument/2006/relationships/slide" Target="/ppt/slides/slide6.xml" Id="R8da4575cdd2f489a" /><Relationship Type="http://schemas.openxmlformats.org/officeDocument/2006/relationships/slide" Target="/ppt/slides/slide7.xml" Id="R0cf329b8e5234418" /><Relationship Type="http://schemas.openxmlformats.org/officeDocument/2006/relationships/slide" Target="/ppt/slides/slide8.xml" Id="R44a172edffb940d7" /><Relationship Type="http://schemas.openxmlformats.org/officeDocument/2006/relationships/slide" Target="/ppt/slides/slide9.xml" Id="R00625fd6acdb466b" /><Relationship Type="http://schemas.openxmlformats.org/officeDocument/2006/relationships/slide" Target="/ppt/slides/slide10.xml" Id="R4dee1822c02d4f4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e874df5f0fb24985"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69c183244e5a4c8c" /><Relationship Type="http://schemas.openxmlformats.org/officeDocument/2006/relationships/slide" Target="/ppt/slides/slide1.xml" Id="Rd838d6d830d94b7e"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00b72c9686314305" /><Relationship Type="http://schemas.openxmlformats.org/officeDocument/2006/relationships/slide" Target="/ppt/slides/slide2.xml" Id="R8f97a2eb4ef54da9"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11efa756bf6a4d82" /><Relationship Type="http://schemas.openxmlformats.org/officeDocument/2006/relationships/slide" Target="/ppt/slides/slide3.xml" Id="R298708a2d8a84219"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7d24ba0460db45a2" /><Relationship Type="http://schemas.openxmlformats.org/officeDocument/2006/relationships/slide" Target="/ppt/slides/slide4.xml" Id="R6ac459f4aeb845ce"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6fdd85316e6a498c" /><Relationship Type="http://schemas.openxmlformats.org/officeDocument/2006/relationships/slide" Target="/ppt/slides/slide5.xml" Id="Rd438e9516c44444d" /></Relationships>
</file>

<file path=ppt/notesSlides/_rels/notesSlide6.xml.rels>&#65279;<?xml version="1.0" encoding="utf-8"?><Relationships xmlns="http://schemas.openxmlformats.org/package/2006/relationships"><Relationship Type="http://schemas.openxmlformats.org/officeDocument/2006/relationships/notesMaster" Target="/ppt/notesMasters/notesMaster1.xml" Id="R81d7f74f48cf49bb" /><Relationship Type="http://schemas.openxmlformats.org/officeDocument/2006/relationships/slide" Target="/ppt/slides/slide6.xml" Id="Re9caa5e31c904574" /></Relationships>
</file>

<file path=ppt/notesSlides/_rels/notesSlide7.xml.rels>&#65279;<?xml version="1.0" encoding="utf-8"?><Relationships xmlns="http://schemas.openxmlformats.org/package/2006/relationships"><Relationship Type="http://schemas.openxmlformats.org/officeDocument/2006/relationships/notesMaster" Target="/ppt/notesMasters/notesMaster1.xml" Id="R314d8c4caf4e4b1e" /><Relationship Type="http://schemas.openxmlformats.org/officeDocument/2006/relationships/slide" Target="/ppt/slides/slide7.xml" Id="R02f55cab35084930" /></Relationships>
</file>

<file path=ppt/notesSlides/_rels/notesSlide8.xml.rels>&#65279;<?xml version="1.0" encoding="utf-8"?><Relationships xmlns="http://schemas.openxmlformats.org/package/2006/relationships"><Relationship Type="http://schemas.openxmlformats.org/officeDocument/2006/relationships/notesMaster" Target="/ppt/notesMasters/notesMaster1.xml" Id="Re38fe86d717145b2" /><Relationship Type="http://schemas.openxmlformats.org/officeDocument/2006/relationships/slide" Target="/ppt/slides/slide8.xml" Id="R9ad54394f1294514" /></Relationships>
</file>

<file path=ppt/notesSlides/_rels/notesSlide9.xml.rels>&#65279;<?xml version="1.0" encoding="utf-8"?><Relationships xmlns="http://schemas.openxmlformats.org/package/2006/relationships"><Relationship Type="http://schemas.openxmlformats.org/officeDocument/2006/relationships/notesMaster" Target="/ppt/notesMasters/notesMaster1.xml" Id="R2fb6abc6737749dd" /><Relationship Type="http://schemas.openxmlformats.org/officeDocument/2006/relationships/slide" Target="/ppt/slides/slide9.xml" Id="Rf93c664d13194504" /></Relationships>
</file>

<file path=ppt/notesSlides/_rels/notesSlide10.xml.rels>&#65279;<?xml version="1.0" encoding="utf-8"?><Relationships xmlns="http://schemas.openxmlformats.org/package/2006/relationships"><Relationship Type="http://schemas.openxmlformats.org/officeDocument/2006/relationships/notesMaster" Target="/ppt/notesMasters/notesMaster1.xml" Id="R85e6c23cdc7f40b1" /><Relationship Type="http://schemas.openxmlformats.org/officeDocument/2006/relationships/slide" Target="/ppt/slides/slide10.xml" Id="Ra40e1ade1f884e7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20 seconds.</a:t>
            </a:r>
          </a:p>
          <a:p xmlns:a="http://schemas.openxmlformats.org/drawingml/2006/main">
            <a:r>
              <a:rPr lang="en-US"/>
              <a:t>Cover. Say: this is a progress report.</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60 seconds.</a:t>
            </a:r>
          </a:p>
          <a:p xmlns:a="http://schemas.openxmlformats.org/drawingml/2006/main">
            <a:r>
              <a:rPr lang="en-US"/>
              <a:t>Read the question aloud, then the three points. The question is about conditions, not about which model wins.</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45 seconds.</a:t>
            </a:r>
          </a:p>
          <a:p xmlns:a="http://schemas.openxmlformats.org/drawingml/2006/main">
            <a:r>
              <a:rPr lang="en-US"/>
              <a:t>The platform conducts the audit. Left: three facts. Right: the dashboard of a running instance. What the results mean comes later.</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60 seconds.</a:t>
            </a:r>
          </a:p>
          <a:p xmlns:a="http://schemas.openxmlformats.org/drawingml/2006/main">
            <a:r>
              <a:rPr lang="en-US"/>
              <a:t>The harness is fixed. Only the decision-maker changes: a script or an LLM agent, on the same tools, budget and log.</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60 seconds.</a:t>
            </a:r>
          </a:p>
          <a:p xmlns:a="http://schemas.openxmlformats.org/drawingml/2006/main">
            <a:r>
              <a:rPr lang="en-US"/>
              <a:t>Read left to right. The goal is set before the run. The scenario carries its own answer key. The benchmark compares what the platform reports with that key, never with the model's own conclusion.</a:t>
            </a:r>
          </a:p>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60 seconds.</a:t>
            </a:r>
          </a:p>
          <a:p xmlns:a="http://schemas.openxmlformats.org/drawingml/2006/main">
            <a:r>
              <a:rPr lang="en-US"/>
              <a:t>A finding counts only once it is recomputed from the log. On the healthy network, any finding is an error.</a:t>
            </a:r>
          </a:p>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70 seconds.</a:t>
            </a:r>
          </a:p>
          <a:p xmlns:a="http://schemas.openxmlformats.org/drawingml/2006/main">
            <a:r>
              <a:rPr lang="en-US"/>
              <a:t>V0 is the gate. Both arms face the same control task, and the hypotheses are read only if the script and the model both pass it.</a:t>
            </a:r>
          </a:p>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75 seconds.</a:t>
            </a:r>
          </a:p>
          <a:p xmlns:a="http://schemas.openxmlformats.org/drawingml/2006/main">
            <a:r>
              <a:rPr lang="en-US"/>
              <a:t>Six network properties, six tests. H1 to H5 test a possible gain; H6 is kept apart because it tests a risk.</a:t>
            </a:r>
          </a:p>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70 seconds.</a:t>
            </a:r>
          </a:p>
          <a:p xmlns:a="http://schemas.openxmlformats.org/drawingml/2006/main">
            <a:r>
              <a:rPr lang="en-US"/>
              <a:t>Order follows conditions, not dates. Then the request: vendor artifacts and an adversarial review of the register.</a:t>
            </a:r>
          </a:p>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0 seconds.</a:t>
            </a:r>
          </a:p>
          <a:p xmlns:a="http://schemas.openxmlformats.org/drawingml/2006/main">
            <a:r>
              <a:rPr lang="en-US"/>
              <a:t>A benchmark that states its gaps is stronger than one that claims full coverage. One line each, no discussion unless asked.</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dbcb47cee2b44e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cac8ba3ca394e4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2a9f69038cb454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cf475a3d79e444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a9dd31dd88c4a45"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b458ba0dbe824d88"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c7753642de6a4171" /><Relationship Type="http://schemas.openxmlformats.org/officeDocument/2006/relationships/notesSlide" Target="/ppt/notesSlides/notesSlide1.xml" Id="R920b7078e6ab4495" /><Relationship Type="http://schemas.openxmlformats.org/officeDocument/2006/relationships/image" Target="/ppt/media/image.png" Id="R420726414a8a483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e684d7ddbd9486b" /><Relationship Type="http://schemas.openxmlformats.org/officeDocument/2006/relationships/notesSlide" Target="/ppt/notesSlides/notesSlide2.xml" Id="R51f7f6b47cdb49ba" /><Relationship Type="http://schemas.openxmlformats.org/officeDocument/2006/relationships/image" Target="/ppt/media/image2.png" Id="R4561dfe8f995431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7d51986d3b040fd" /><Relationship Type="http://schemas.openxmlformats.org/officeDocument/2006/relationships/notesSlide" Target="/ppt/notesSlides/notesSlide3.xml" Id="R58ea930a6acf4859" /><Relationship Type="http://schemas.openxmlformats.org/officeDocument/2006/relationships/image" Target="/ppt/media/image3.png" Id="R0c27e933d3844571" /><Relationship Type="http://schemas.openxmlformats.org/officeDocument/2006/relationships/image" Target="/ppt/media/image.jpg" Id="Rf5fc0a29cb8f4f1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74d62cde65646e5" /><Relationship Type="http://schemas.openxmlformats.org/officeDocument/2006/relationships/notesSlide" Target="/ppt/notesSlides/notesSlide4.xml" Id="Rb8aa9949ba2a4a2b" /><Relationship Type="http://schemas.openxmlformats.org/officeDocument/2006/relationships/image" Target="/ppt/media/image4.png" Id="R3d588d6ab205430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1b1fdf4c69f413d" /><Relationship Type="http://schemas.openxmlformats.org/officeDocument/2006/relationships/notesSlide" Target="/ppt/notesSlides/notesSlide5.xml" Id="Rbef66bdf0b29490f" /><Relationship Type="http://schemas.openxmlformats.org/officeDocument/2006/relationships/image" Target="/ppt/media/image5.png" Id="Rf2e96afc4ed2400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2040329248c4f56" /><Relationship Type="http://schemas.openxmlformats.org/officeDocument/2006/relationships/notesSlide" Target="/ppt/notesSlides/notesSlide6.xml" Id="R02f9bca581fb4d7b" /><Relationship Type="http://schemas.openxmlformats.org/officeDocument/2006/relationships/image" Target="/ppt/media/image6.png" Id="Re94dd4ad7e41465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d11c785404e4d29" /><Relationship Type="http://schemas.openxmlformats.org/officeDocument/2006/relationships/notesSlide" Target="/ppt/notesSlides/notesSlide7.xml" Id="R9cad6b5bddf3432c" /><Relationship Type="http://schemas.openxmlformats.org/officeDocument/2006/relationships/image" Target="/ppt/media/image7.png" Id="Ra4d753c0bb93467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5234373021c4029" /><Relationship Type="http://schemas.openxmlformats.org/officeDocument/2006/relationships/notesSlide" Target="/ppt/notesSlides/notesSlide8.xml" Id="Rb374adef04b24e24" /><Relationship Type="http://schemas.openxmlformats.org/officeDocument/2006/relationships/image" Target="/ppt/media/image8.png" Id="Rf75be0fd73aa41a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bb4df1e777e4d61" /><Relationship Type="http://schemas.openxmlformats.org/officeDocument/2006/relationships/notesSlide" Target="/ppt/notesSlides/notesSlide9.xml" Id="Rfab5f9f356c54911" /><Relationship Type="http://schemas.openxmlformats.org/officeDocument/2006/relationships/image" Target="/ppt/media/image9.png" Id="Rddc576ff0b63486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d10201c8552436c" /><Relationship Type="http://schemas.openxmlformats.org/officeDocument/2006/relationships/notesSlide" Target="/ppt/notesSlides/notesSlide10.xml" Id="Rcecb35f7e8344aed" /><Relationship Type="http://schemas.openxmlformats.org/officeDocument/2006/relationships/image" Target="/ppt/media/image10.png" Id="R18f6fe5e21da4ef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00" name="Element-3"/>
          <p:cNvSpPr/>
          <p:nvPr/>
        </p:nvSpPr>
        <p:spPr>
          <a:xfrm xmlns:a="http://schemas.openxmlformats.org/drawingml/2006/main">
            <a:off x="792000" y="990000"/>
            <a:ext cx="50400" cy="2196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01" name="Fixed-4"/>
          <p:cNvSpPr/>
          <p:nvPr/>
        </p:nvSpPr>
        <p:spPr>
          <a:xfrm xmlns:a="http://schemas.openxmlformats.org/drawingml/2006/main">
            <a:off x="1206000" y="918000"/>
            <a:ext cx="7920000" cy="99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4600" b="1" i="0">
                <a:solidFill>
                  <a:srgbClr val="20252D"/>
                </a:solidFill>
                <a:latin typeface="Arial"/>
                <a:ea typeface="Arial"/>
              </a:rPr>
              <a:t>LANCE</a:t>
            </a:r>
          </a:p>
        </p:txBody>
      </p:sp>
      <p:sp>
        <p:nvSpPr>
          <p:cNvPr id="100002" name="Fixed-5"/>
          <p:cNvSpPr/>
          <p:nvPr/>
        </p:nvSpPr>
        <p:spPr>
          <a:xfrm xmlns:a="http://schemas.openxmlformats.org/drawingml/2006/main">
            <a:off x="1206000" y="1926000"/>
            <a:ext cx="7020000" cy="82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500" b="0" i="0">
                <a:solidFill>
                  <a:srgbClr val="5C626C"/>
                </a:solidFill>
                <a:latin typeface="Arial"/>
                <a:ea typeface="Arial"/>
              </a:rPr>
              <a:t>An autonomous and verifiable auditor</a:t>
            </a:r>
          </a:p>
          <a:p xmlns:a="http://schemas.openxmlformats.org/drawingml/2006/main">
            <a:pPr algn="l"/>
            <a:r>
              <a:rPr lang="en-US" sz="2500" b="0" i="0">
                <a:solidFill>
                  <a:srgbClr val="5C626C"/>
                </a:solidFill>
                <a:latin typeface="Arial"/>
                <a:ea typeface="Arial"/>
              </a:rPr>
              <a:t>for IoT/IIoT networks</a:t>
            </a:r>
          </a:p>
        </p:txBody>
      </p:sp>
      <p:sp>
        <p:nvSpPr>
          <p:cNvPr id="100003" name="Element-6"/>
          <p:cNvSpPr/>
          <p:nvPr/>
        </p:nvSpPr>
        <p:spPr>
          <a:xfrm xmlns:a="http://schemas.openxmlformats.org/drawingml/2006/main">
            <a:off x="792000" y="33300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04" name="Fixed-7"/>
          <p:cNvSpPr/>
          <p:nvPr/>
        </p:nvSpPr>
        <p:spPr>
          <a:xfrm xmlns:a="http://schemas.openxmlformats.org/drawingml/2006/main">
            <a:off x="1206000" y="3474000"/>
            <a:ext cx="7200000" cy="30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0" i="0">
                <a:solidFill>
                  <a:srgbClr val="5C626C"/>
                </a:solidFill>
                <a:latin typeface="Arial"/>
                <a:ea typeface="Arial"/>
              </a:rPr>
              <a:t>23 October 2026  ·  Université de Mons, ILIA</a:t>
            </a:r>
          </a:p>
        </p:txBody>
      </p:sp>
      <p:pic>
        <p:nvPicPr>
          <p:cNvPr id="100005"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420726414a8a4835"/>
          <a:stretch xmlns:a="http://schemas.openxmlformats.org/drawingml/2006/main">
            <a:fillRect/>
          </a:stretch>
        </p:blipFill>
        <p:spPr>
          <a:xfrm xmlns:a="http://schemas.openxmlformats.org/drawingml/2006/main">
            <a:off x="9702000" y="504000"/>
            <a:ext cx="1872000" cy="641551"/>
          </a:xfrm>
          <a:prstGeom xmlns:a="http://schemas.openxmlformats.org/drawingml/2006/main" prst="rect">
            <a:avLst/>
          </a:prstGeom>
        </p:spPr>
      </p:pic>
    </p:spTree>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006"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4561dfe8f9954318"/>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007"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Objective</a:t>
            </a:r>
          </a:p>
        </p:txBody>
      </p:sp>
      <p:sp>
        <p:nvSpPr>
          <p:cNvPr id="100008" name="Element-5"/>
          <p:cNvSpPr/>
          <p:nvPr/>
        </p:nvSpPr>
        <p:spPr>
          <a:xfrm xmlns:a="http://schemas.openxmlformats.org/drawingml/2006/main">
            <a:off x="7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09" name="Fixed-6"/>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Method</a:t>
            </a:r>
          </a:p>
        </p:txBody>
      </p:sp>
      <p:sp>
        <p:nvSpPr>
          <p:cNvPr id="100010"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011"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012"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Next steps</a:t>
            </a:r>
          </a:p>
        </p:txBody>
      </p:sp>
      <p:sp>
        <p:nvSpPr>
          <p:cNvPr id="100013"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The objective</a:t>
            </a:r>
          </a:p>
        </p:txBody>
      </p:sp>
      <p:sp>
        <p:nvSpPr>
          <p:cNvPr id="100014"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15" name="Element-12"/>
          <p:cNvSpPr/>
          <p:nvPr/>
        </p:nvSpPr>
        <p:spPr>
          <a:xfrm xmlns:a="http://schemas.openxmlformats.org/drawingml/2006/main">
            <a:off x="792000" y="1764000"/>
            <a:ext cx="10608000" cy="12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550" b="1" i="0">
                <a:solidFill>
                  <a:srgbClr val="20252D"/>
                </a:solidFill>
                <a:latin typeface="Arial"/>
                <a:ea typeface="Arial"/>
              </a:rPr>
              <a:t>Under which conditions does an agentic approach prevail over a scripted one, rather than which model prevails?</a:t>
            </a:r>
          </a:p>
        </p:txBody>
      </p:sp>
      <p:sp>
        <p:nvSpPr>
          <p:cNvPr id="100016" name="Element-13"/>
          <p:cNvSpPr/>
          <p:nvPr/>
        </p:nvSpPr>
        <p:spPr>
          <a:xfrm xmlns:a="http://schemas.openxmlformats.org/drawingml/2006/main">
            <a:off x="792000" y="3420000"/>
            <a:ext cx="50400" cy="324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17" name="Fixed-14"/>
          <p:cNvSpPr/>
          <p:nvPr/>
        </p:nvSpPr>
        <p:spPr>
          <a:xfrm xmlns:a="http://schemas.openxmlformats.org/drawingml/2006/main">
            <a:off x="990000" y="3348000"/>
            <a:ext cx="10410000" cy="46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0" i="0">
                <a:solidFill>
                  <a:srgbClr val="20252D"/>
                </a:solidFill>
                <a:latin typeface="Arial"/>
                <a:ea typeface="Arial"/>
              </a:rPr>
              <a:t>An auditor that explores, identifies, verifies and reports.</a:t>
            </a:r>
          </a:p>
        </p:txBody>
      </p:sp>
      <p:sp>
        <p:nvSpPr>
          <p:cNvPr id="100018" name="Element-15"/>
          <p:cNvSpPr/>
          <p:nvPr/>
        </p:nvSpPr>
        <p:spPr>
          <a:xfrm xmlns:a="http://schemas.openxmlformats.org/drawingml/2006/main">
            <a:off x="792000" y="4014000"/>
            <a:ext cx="50400" cy="324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19" name="Fixed-16"/>
          <p:cNvSpPr/>
          <p:nvPr/>
        </p:nvSpPr>
        <p:spPr>
          <a:xfrm xmlns:a="http://schemas.openxmlformats.org/drawingml/2006/main">
            <a:off x="990000" y="3942000"/>
            <a:ext cx="10410000" cy="46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0" i="0">
                <a:solidFill>
                  <a:srgbClr val="20252D"/>
                </a:solidFill>
                <a:latin typeface="Arial"/>
                <a:ea typeface="Arial"/>
              </a:rPr>
              <a:t>Identical tools and budget for both approaches, within the control harness.</a:t>
            </a:r>
          </a:p>
        </p:txBody>
      </p:sp>
      <p:sp>
        <p:nvSpPr>
          <p:cNvPr id="100020" name="Element-17"/>
          <p:cNvSpPr/>
          <p:nvPr/>
        </p:nvSpPr>
        <p:spPr>
          <a:xfrm xmlns:a="http://schemas.openxmlformats.org/drawingml/2006/main">
            <a:off x="792000" y="4608000"/>
            <a:ext cx="50400" cy="324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21" name="Fixed-18"/>
          <p:cNvSpPr/>
          <p:nvPr/>
        </p:nvSpPr>
        <p:spPr>
          <a:xfrm xmlns:a="http://schemas.openxmlformats.org/drawingml/2006/main">
            <a:off x="990000" y="4536000"/>
            <a:ext cx="10410000" cy="46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0" i="0">
                <a:solidFill>
                  <a:srgbClr val="20252D"/>
                </a:solidFill>
                <a:latin typeface="Arial"/>
                <a:ea typeface="Arial"/>
              </a:rPr>
              <a:t>Evidence recomputed from the log, not asserted.</a:t>
            </a:r>
          </a:p>
        </p:txBody>
      </p:sp>
      <p:sp>
        <p:nvSpPr>
          <p:cNvPr id="100022" name="Element-19"/>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23" name="Caption-2"/>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Model training is not a current priority.</a:t>
            </a:r>
          </a:p>
        </p:txBody>
      </p:sp>
      <p:sp>
        <p:nvSpPr>
          <p:cNvPr id="100024" name="Fixed-21"/>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025" name="Fixed-22"/>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2</a:t>
            </a:r>
          </a:p>
        </p:txBody>
      </p:sp>
    </p:spTree>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026"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0c27e933d3844571"/>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027"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Objective</a:t>
            </a:r>
          </a:p>
        </p:txBody>
      </p:sp>
      <p:sp>
        <p:nvSpPr>
          <p:cNvPr id="100028" name="Element-5"/>
          <p:cNvSpPr/>
          <p:nvPr/>
        </p:nvSpPr>
        <p:spPr>
          <a:xfrm xmlns:a="http://schemas.openxmlformats.org/drawingml/2006/main">
            <a:off x="7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29" name="Fixed-6"/>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Method</a:t>
            </a:r>
          </a:p>
        </p:txBody>
      </p:sp>
      <p:sp>
        <p:nvSpPr>
          <p:cNvPr id="100030"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031"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032"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Next steps</a:t>
            </a:r>
          </a:p>
        </p:txBody>
      </p:sp>
      <p:sp>
        <p:nvSpPr>
          <p:cNvPr id="100033"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The platform in brief</a:t>
            </a:r>
          </a:p>
        </p:txBody>
      </p:sp>
      <p:sp>
        <p:nvSpPr>
          <p:cNvPr id="100034"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35" name="Element-12"/>
          <p:cNvSpPr/>
          <p:nvPr/>
        </p:nvSpPr>
        <p:spPr>
          <a:xfrm xmlns:a="http://schemas.openxmlformats.org/drawingml/2006/main">
            <a:off x="792000" y="2034000"/>
            <a:ext cx="50400" cy="43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36" name="Fixed-13"/>
          <p:cNvSpPr/>
          <p:nvPr/>
        </p:nvSpPr>
        <p:spPr>
          <a:xfrm xmlns:a="http://schemas.openxmlformats.org/drawingml/2006/main">
            <a:off x="990000" y="1944000"/>
            <a:ext cx="410440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Runs the audit in six phases</a:t>
            </a:r>
          </a:p>
        </p:txBody>
      </p:sp>
      <p:sp>
        <p:nvSpPr>
          <p:cNvPr id="100037" name="Element-14"/>
          <p:cNvSpPr/>
          <p:nvPr/>
        </p:nvSpPr>
        <p:spPr>
          <a:xfrm xmlns:a="http://schemas.openxmlformats.org/drawingml/2006/main">
            <a:off x="792000" y="2862000"/>
            <a:ext cx="50400" cy="43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38" name="Fixed-15"/>
          <p:cNvSpPr/>
          <p:nvPr/>
        </p:nvSpPr>
        <p:spPr>
          <a:xfrm xmlns:a="http://schemas.openxmlformats.org/drawingml/2006/main">
            <a:off x="990000" y="2772000"/>
            <a:ext cx="410440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Four execution modes</a:t>
            </a:r>
          </a:p>
        </p:txBody>
      </p:sp>
      <p:sp>
        <p:nvSpPr>
          <p:cNvPr id="100039" name="Element-16"/>
          <p:cNvSpPr/>
          <p:nvPr/>
        </p:nvSpPr>
        <p:spPr>
          <a:xfrm xmlns:a="http://schemas.openxmlformats.org/drawingml/2006/main">
            <a:off x="792000" y="3690000"/>
            <a:ext cx="50400" cy="43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40" name="Fixed-17"/>
          <p:cNvSpPr/>
          <p:nvPr/>
        </p:nvSpPr>
        <p:spPr>
          <a:xfrm xmlns:a="http://schemas.openxmlformats.org/drawingml/2006/main">
            <a:off x="990000" y="3600000"/>
            <a:ext cx="410440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Every run kept as evidence</a:t>
            </a:r>
          </a:p>
        </p:txBody>
      </p:sp>
      <p:pic>
        <p:nvPicPr>
          <p:cNvPr id="100041" name="Picture 2" descr="LANCE platform dashboard: network topology and run controls"/>
          <p:cNvPicPr>
            <a:picLocks xmlns:a="http://schemas.openxmlformats.org/drawingml/2006/main" noChangeAspect="1"/>
          </p:cNvPicPr>
          <p:nvPr/>
        </p:nvPicPr>
        <p:blipFill>
          <a:blip xmlns:r="http://schemas.openxmlformats.org/officeDocument/2006/relationships" xmlns:a="http://schemas.openxmlformats.org/drawingml/2006/main" r:embed="Rf5fc0a29cb8f4f14"/>
          <a:stretch xmlns:a="http://schemas.openxmlformats.org/drawingml/2006/main">
            <a:fillRect/>
          </a:stretch>
        </p:blipFill>
        <p:spPr>
          <a:xfrm xmlns:a="http://schemas.openxmlformats.org/drawingml/2006/main">
            <a:off x="5640000" y="1620000"/>
            <a:ext cx="5760000" cy="3600000"/>
          </a:xfrm>
          <a:prstGeom xmlns:a="http://schemas.openxmlformats.org/drawingml/2006/main" prst="rect">
            <a:avLst/>
          </a:prstGeom>
        </p:spPr>
      </p:pic>
      <p:sp>
        <p:nvSpPr>
          <p:cNvPr id="100042" name="Element-19"/>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43" name="Caption-3"/>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The platform runs the audit; the benchmark judges it.</a:t>
            </a:r>
          </a:p>
        </p:txBody>
      </p:sp>
      <p:sp>
        <p:nvSpPr>
          <p:cNvPr id="100044" name="Fixed-21"/>
          <p:cNvSpPr/>
          <p:nvPr/>
        </p:nvSpPr>
        <p:spPr>
          <a:xfrm xmlns:a="http://schemas.openxmlformats.org/drawingml/2006/main">
            <a:off x="792000" y="57816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Captures of the running instance, 22 October 2026.</a:t>
            </a:r>
          </a:p>
        </p:txBody>
      </p:sp>
      <p:sp>
        <p:nvSpPr>
          <p:cNvPr id="100045" name="Fixed-22"/>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046" name="Fixed-23"/>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3</a:t>
            </a:r>
          </a:p>
        </p:txBody>
      </p:sp>
    </p:spTree>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047"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3d588d6ab2054301"/>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048"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049"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Method</a:t>
            </a:r>
          </a:p>
        </p:txBody>
      </p:sp>
      <p:sp>
        <p:nvSpPr>
          <p:cNvPr id="100050" name="Element-6"/>
          <p:cNvSpPr/>
          <p:nvPr/>
        </p:nvSpPr>
        <p:spPr>
          <a:xfrm xmlns:a="http://schemas.openxmlformats.org/drawingml/2006/main">
            <a:off x="25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51"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052"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053"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Next steps</a:t>
            </a:r>
          </a:p>
        </p:txBody>
      </p:sp>
      <p:sp>
        <p:nvSpPr>
          <p:cNvPr id="100054"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Script, LLM agent and harness</a:t>
            </a:r>
          </a:p>
        </p:txBody>
      </p:sp>
      <p:sp>
        <p:nvSpPr>
          <p:cNvPr id="100055"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56" name="Element-12"/>
          <p:cNvSpPr/>
          <p:nvPr/>
        </p:nvSpPr>
        <p:spPr>
          <a:xfrm xmlns:a="http://schemas.openxmlformats.org/drawingml/2006/main">
            <a:off x="792000" y="1656000"/>
            <a:ext cx="10608000" cy="3492000"/>
          </a:xfrm>
          <a:prstGeom xmlns:a="http://schemas.openxmlformats.org/drawingml/2006/main" prst="rect">
            <a:avLst/>
          </a:prstGeom>
          <a:solidFill xmlns:a="http://schemas.openxmlformats.org/drawingml/2006/main">
            <a:srgbClr val="EFF6FC"/>
          </a:solidFill>
          <a:ln xmlns:a="http://schemas.openxmlformats.org/drawingml/2006/main" w="12700">
            <a:solidFill>
              <a:srgbClr val="1D5C9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57" name="Fixed-13"/>
          <p:cNvSpPr/>
          <p:nvPr/>
        </p:nvSpPr>
        <p:spPr>
          <a:xfrm xmlns:a="http://schemas.openxmlformats.org/drawingml/2006/main">
            <a:off x="1008000" y="1782000"/>
            <a:ext cx="10176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1D5C96"/>
                </a:solidFill>
                <a:latin typeface="Arial"/>
                <a:ea typeface="Arial"/>
              </a:rPr>
              <a:t>HARNESS  ·  same tools, budget, log and scoring for both</a:t>
            </a:r>
          </a:p>
        </p:txBody>
      </p:sp>
      <p:sp>
        <p:nvSpPr>
          <p:cNvPr id="100058" name="Element-14"/>
          <p:cNvSpPr/>
          <p:nvPr/>
        </p:nvSpPr>
        <p:spPr>
          <a:xfrm xmlns:a="http://schemas.openxmlformats.org/drawingml/2006/main">
            <a:off x="1008000" y="2232000"/>
            <a:ext cx="4980000" cy="936000"/>
          </a:xfrm>
          <a:prstGeom xmlns:a="http://schemas.openxmlformats.org/drawingml/2006/main" prst="rect">
            <a:avLst/>
          </a:prstGeom>
          <a:solidFill xmlns:a="http://schemas.openxmlformats.org/drawingml/2006/main">
            <a:srgbClr val="FFFFFF"/>
          </a:solidFill>
          <a:ln xmlns:a="http://schemas.openxmlformats.org/drawingml/2006/main" w="12700">
            <a:solidFill>
              <a:srgbClr val="5C626C"/>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59" name="Element-15"/>
          <p:cNvSpPr/>
          <p:nvPr/>
        </p:nvSpPr>
        <p:spPr>
          <a:xfrm xmlns:a="http://schemas.openxmlformats.org/drawingml/2006/main">
            <a:off x="1008000" y="2232000"/>
            <a:ext cx="49800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60" name="Fixed-16"/>
          <p:cNvSpPr/>
          <p:nvPr/>
        </p:nvSpPr>
        <p:spPr>
          <a:xfrm xmlns:a="http://schemas.openxmlformats.org/drawingml/2006/main">
            <a:off x="1224000" y="2412000"/>
            <a:ext cx="4548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20252D"/>
                </a:solidFill>
                <a:latin typeface="Arial"/>
                <a:ea typeface="Arial"/>
              </a:rPr>
              <a:t>Script</a:t>
            </a:r>
          </a:p>
        </p:txBody>
      </p:sp>
      <p:sp>
        <p:nvSpPr>
          <p:cNvPr id="100061" name="Fixed-17"/>
          <p:cNvSpPr/>
          <p:nvPr/>
        </p:nvSpPr>
        <p:spPr>
          <a:xfrm xmlns:a="http://schemas.openxmlformats.org/drawingml/2006/main">
            <a:off x="1224000" y="2772000"/>
            <a:ext cx="4548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Fixed steps. No model.</a:t>
            </a:r>
          </a:p>
        </p:txBody>
      </p:sp>
      <p:sp>
        <p:nvSpPr>
          <p:cNvPr id="100062" name="Element-18"/>
          <p:cNvSpPr/>
          <p:nvPr/>
        </p:nvSpPr>
        <p:spPr>
          <a:xfrm xmlns:a="http://schemas.openxmlformats.org/drawingml/2006/main">
            <a:off x="3489000" y="3168000"/>
            <a:ext cx="18000" cy="2520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63" name="Element-19"/>
          <p:cNvSpPr/>
          <p:nvPr/>
        </p:nvSpPr>
        <p:spPr>
          <a:xfrm xmlns:a="http://schemas.openxmlformats.org/drawingml/2006/main">
            <a:off x="6204000" y="2232000"/>
            <a:ext cx="4980000" cy="936000"/>
          </a:xfrm>
          <a:prstGeom xmlns:a="http://schemas.openxmlformats.org/drawingml/2006/main" prst="rect">
            <a:avLst/>
          </a:prstGeom>
          <a:solidFill xmlns:a="http://schemas.openxmlformats.org/drawingml/2006/main">
            <a:srgbClr val="FFFFFF"/>
          </a:solidFill>
          <a:ln xmlns:a="http://schemas.openxmlformats.org/drawingml/2006/main" w="12700">
            <a:solidFill>
              <a:srgbClr val="B6003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64" name="Element-20"/>
          <p:cNvSpPr/>
          <p:nvPr/>
        </p:nvSpPr>
        <p:spPr>
          <a:xfrm xmlns:a="http://schemas.openxmlformats.org/drawingml/2006/main">
            <a:off x="6204000" y="2232000"/>
            <a:ext cx="4980000" cy="504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65" name="Fixed-21"/>
          <p:cNvSpPr/>
          <p:nvPr/>
        </p:nvSpPr>
        <p:spPr>
          <a:xfrm xmlns:a="http://schemas.openxmlformats.org/drawingml/2006/main">
            <a:off x="6420000" y="2412000"/>
            <a:ext cx="4548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LLM agent</a:t>
            </a:r>
          </a:p>
        </p:txBody>
      </p:sp>
      <p:sp>
        <p:nvSpPr>
          <p:cNvPr id="100066" name="Fixed-22"/>
          <p:cNvSpPr/>
          <p:nvPr/>
        </p:nvSpPr>
        <p:spPr>
          <a:xfrm xmlns:a="http://schemas.openxmlformats.org/drawingml/2006/main">
            <a:off x="6420000" y="2772000"/>
            <a:ext cx="4548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A model picks each next step.</a:t>
            </a:r>
          </a:p>
        </p:txBody>
      </p:sp>
      <p:sp>
        <p:nvSpPr>
          <p:cNvPr id="100067" name="Element-23"/>
          <p:cNvSpPr/>
          <p:nvPr/>
        </p:nvSpPr>
        <p:spPr>
          <a:xfrm xmlns:a="http://schemas.openxmlformats.org/drawingml/2006/main">
            <a:off x="8685000" y="3168000"/>
            <a:ext cx="18000" cy="25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68" name="Element-24"/>
          <p:cNvSpPr/>
          <p:nvPr/>
        </p:nvSpPr>
        <p:spPr>
          <a:xfrm xmlns:a="http://schemas.openxmlformats.org/drawingml/2006/main">
            <a:off x="1008000" y="3420000"/>
            <a:ext cx="10176000" cy="43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69" name="Fixed-25"/>
          <p:cNvSpPr/>
          <p:nvPr/>
        </p:nvSpPr>
        <p:spPr>
          <a:xfrm xmlns:a="http://schemas.openxmlformats.org/drawingml/2006/main">
            <a:off x="1152000" y="3420000"/>
            <a:ext cx="9888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800" b="0" i="0">
                <a:solidFill>
                  <a:srgbClr val="20252D"/>
                </a:solidFill>
                <a:latin typeface="Arial"/>
                <a:ea typeface="Arial"/>
              </a:rPr>
              <a:t>Same tools for both</a:t>
            </a:r>
          </a:p>
        </p:txBody>
      </p:sp>
      <p:sp>
        <p:nvSpPr>
          <p:cNvPr id="100070" name="Element-26"/>
          <p:cNvSpPr/>
          <p:nvPr/>
        </p:nvSpPr>
        <p:spPr>
          <a:xfrm xmlns:a="http://schemas.openxmlformats.org/drawingml/2006/main">
            <a:off x="6087000" y="3852000"/>
            <a:ext cx="18000" cy="180000"/>
          </a:xfrm>
          <a:prstGeom xmlns:a="http://schemas.openxmlformats.org/drawingml/2006/main" prst="rect">
            <a:avLst/>
          </a:prstGeom>
          <a:solidFill xmlns:a="http://schemas.openxmlformats.org/drawingml/2006/main">
            <a:srgbClr val="1D5C9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71" name="Element-27"/>
          <p:cNvSpPr/>
          <p:nvPr/>
        </p:nvSpPr>
        <p:spPr>
          <a:xfrm xmlns:a="http://schemas.openxmlformats.org/drawingml/2006/main">
            <a:off x="1008000" y="4032000"/>
            <a:ext cx="10176000" cy="432000"/>
          </a:xfrm>
          <a:prstGeom xmlns:a="http://schemas.openxmlformats.org/drawingml/2006/main" prst="rect">
            <a:avLst/>
          </a:prstGeom>
          <a:solidFill xmlns:a="http://schemas.openxmlformats.org/drawingml/2006/main">
            <a:srgbClr val="FFFFFF"/>
          </a:solidFill>
          <a:ln xmlns:a="http://schemas.openxmlformats.org/drawingml/2006/main" w="12700">
            <a:solidFill>
              <a:srgbClr val="1D5C9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72" name="Fixed-28"/>
          <p:cNvSpPr/>
          <p:nvPr/>
        </p:nvSpPr>
        <p:spPr>
          <a:xfrm xmlns:a="http://schemas.openxmlformats.org/drawingml/2006/main">
            <a:off x="1152000" y="4032000"/>
            <a:ext cx="9888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800" b="0" i="0">
                <a:solidFill>
                  <a:srgbClr val="20252D"/>
                </a:solidFill>
                <a:latin typeface="Arial"/>
                <a:ea typeface="Arial"/>
              </a:rPr>
              <a:t>Same log, same scoring</a:t>
            </a:r>
          </a:p>
        </p:txBody>
      </p:sp>
      <p:sp>
        <p:nvSpPr>
          <p:cNvPr id="100073" name="Element-29"/>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74" name="Caption-4"/>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Only the decision-maker changes.</a:t>
            </a:r>
          </a:p>
        </p:txBody>
      </p:sp>
      <p:sp>
        <p:nvSpPr>
          <p:cNvPr id="100075" name="Fixed-31"/>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076" name="Fixed-32"/>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4</a:t>
            </a:r>
          </a:p>
        </p:txBody>
      </p:sp>
    </p:spTree>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077"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f2e96afc4ed24003"/>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078"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079"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Method</a:t>
            </a:r>
          </a:p>
        </p:txBody>
      </p:sp>
      <p:sp>
        <p:nvSpPr>
          <p:cNvPr id="100080" name="Element-6"/>
          <p:cNvSpPr/>
          <p:nvPr/>
        </p:nvSpPr>
        <p:spPr>
          <a:xfrm xmlns:a="http://schemas.openxmlformats.org/drawingml/2006/main">
            <a:off x="25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81"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082"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083"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Next steps</a:t>
            </a:r>
          </a:p>
        </p:txBody>
      </p:sp>
      <p:sp>
        <p:nvSpPr>
          <p:cNvPr id="100084"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How a run is judged against the goal</a:t>
            </a:r>
          </a:p>
        </p:txBody>
      </p:sp>
      <p:sp>
        <p:nvSpPr>
          <p:cNvPr id="100085"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86" name="Element-12"/>
          <p:cNvSpPr/>
          <p:nvPr/>
        </p:nvSpPr>
        <p:spPr>
          <a:xfrm xmlns:a="http://schemas.openxmlformats.org/drawingml/2006/main">
            <a:off x="792000" y="1908000"/>
            <a:ext cx="1862400" cy="1800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87" name="Element-13"/>
          <p:cNvSpPr/>
          <p:nvPr/>
        </p:nvSpPr>
        <p:spPr>
          <a:xfrm xmlns:a="http://schemas.openxmlformats.org/drawingml/2006/main">
            <a:off x="792000" y="1908000"/>
            <a:ext cx="18624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88" name="Fixed-14"/>
          <p:cNvSpPr/>
          <p:nvPr/>
        </p:nvSpPr>
        <p:spPr>
          <a:xfrm xmlns:a="http://schemas.openxmlformats.org/drawingml/2006/main">
            <a:off x="9720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5C626C"/>
                </a:solidFill>
                <a:latin typeface="Arial"/>
                <a:ea typeface="Arial"/>
              </a:rPr>
              <a:t>1</a:t>
            </a:r>
          </a:p>
        </p:txBody>
      </p:sp>
      <p:sp>
        <p:nvSpPr>
          <p:cNvPr id="100089" name="Fixed-15"/>
          <p:cNvSpPr/>
          <p:nvPr/>
        </p:nvSpPr>
        <p:spPr>
          <a:xfrm xmlns:a="http://schemas.openxmlformats.org/drawingml/2006/main">
            <a:off x="9720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Goal</a:t>
            </a:r>
          </a:p>
        </p:txBody>
      </p:sp>
      <p:sp>
        <p:nvSpPr>
          <p:cNvPr id="100090" name="Fixed-16"/>
          <p:cNvSpPr/>
          <p:nvPr/>
        </p:nvSpPr>
        <p:spPr>
          <a:xfrm xmlns:a="http://schemas.openxmlformats.org/drawingml/2006/main">
            <a:off x="9720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Find the weaknesses of a network, and only those</a:t>
            </a:r>
          </a:p>
        </p:txBody>
      </p:sp>
      <p:sp>
        <p:nvSpPr>
          <p:cNvPr id="100091" name="Element-17"/>
          <p:cNvSpPr/>
          <p:nvPr/>
        </p:nvSpPr>
        <p:spPr>
          <a:xfrm xmlns:a="http://schemas.openxmlformats.org/drawingml/2006/main">
            <a:off x="2683200" y="2797200"/>
            <a:ext cx="266400" cy="216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92" name="Element-18"/>
          <p:cNvSpPr/>
          <p:nvPr/>
        </p:nvSpPr>
        <p:spPr>
          <a:xfrm xmlns:a="http://schemas.openxmlformats.org/drawingml/2006/main">
            <a:off x="2978400" y="1908000"/>
            <a:ext cx="1862400" cy="1800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93" name="Element-19"/>
          <p:cNvSpPr/>
          <p:nvPr/>
        </p:nvSpPr>
        <p:spPr>
          <a:xfrm xmlns:a="http://schemas.openxmlformats.org/drawingml/2006/main">
            <a:off x="2978400" y="1908000"/>
            <a:ext cx="18624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94" name="Fixed-20"/>
          <p:cNvSpPr/>
          <p:nvPr/>
        </p:nvSpPr>
        <p:spPr>
          <a:xfrm xmlns:a="http://schemas.openxmlformats.org/drawingml/2006/main">
            <a:off x="31584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5C626C"/>
                </a:solidFill>
                <a:latin typeface="Arial"/>
                <a:ea typeface="Arial"/>
              </a:rPr>
              <a:t>2</a:t>
            </a:r>
          </a:p>
        </p:txBody>
      </p:sp>
      <p:sp>
        <p:nvSpPr>
          <p:cNvPr id="100095" name="Fixed-21"/>
          <p:cNvSpPr/>
          <p:nvPr/>
        </p:nvSpPr>
        <p:spPr>
          <a:xfrm xmlns:a="http://schemas.openxmlformats.org/drawingml/2006/main">
            <a:off x="31584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Laboratory</a:t>
            </a:r>
          </a:p>
        </p:txBody>
      </p:sp>
      <p:sp>
        <p:nvSpPr>
          <p:cNvPr id="100096" name="Fixed-22"/>
          <p:cNvSpPr/>
          <p:nvPr/>
        </p:nvSpPr>
        <p:spPr>
          <a:xfrm xmlns:a="http://schemas.openxmlformats.org/drawingml/2006/main">
            <a:off x="31584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A scenario with planted weaknesses, listed in a ground-truth file</a:t>
            </a:r>
          </a:p>
        </p:txBody>
      </p:sp>
      <p:sp>
        <p:nvSpPr>
          <p:cNvPr id="100097" name="Element-23"/>
          <p:cNvSpPr/>
          <p:nvPr/>
        </p:nvSpPr>
        <p:spPr>
          <a:xfrm xmlns:a="http://schemas.openxmlformats.org/drawingml/2006/main">
            <a:off x="4869600" y="2797200"/>
            <a:ext cx="266400" cy="216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98" name="Element-24"/>
          <p:cNvSpPr/>
          <p:nvPr/>
        </p:nvSpPr>
        <p:spPr>
          <a:xfrm xmlns:a="http://schemas.openxmlformats.org/drawingml/2006/main">
            <a:off x="5164800" y="1908000"/>
            <a:ext cx="1862400" cy="1800000"/>
          </a:xfrm>
          <a:prstGeom xmlns:a="http://schemas.openxmlformats.org/drawingml/2006/main" prst="rect">
            <a:avLst/>
          </a:prstGeom>
          <a:solidFill xmlns:a="http://schemas.openxmlformats.org/drawingml/2006/main">
            <a:srgbClr val="EFF6FC"/>
          </a:solidFill>
          <a:ln xmlns:a="http://schemas.openxmlformats.org/drawingml/2006/main" w="12700">
            <a:solidFill>
              <a:srgbClr val="1D5C9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99" name="Element-25"/>
          <p:cNvSpPr/>
          <p:nvPr/>
        </p:nvSpPr>
        <p:spPr>
          <a:xfrm xmlns:a="http://schemas.openxmlformats.org/drawingml/2006/main">
            <a:off x="5164800" y="1908000"/>
            <a:ext cx="1862400" cy="50400"/>
          </a:xfrm>
          <a:prstGeom xmlns:a="http://schemas.openxmlformats.org/drawingml/2006/main" prst="rect">
            <a:avLst/>
          </a:prstGeom>
          <a:solidFill xmlns:a="http://schemas.openxmlformats.org/drawingml/2006/main">
            <a:srgbClr val="1D5C9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0" name="Fixed-26"/>
          <p:cNvSpPr/>
          <p:nvPr/>
        </p:nvSpPr>
        <p:spPr>
          <a:xfrm xmlns:a="http://schemas.openxmlformats.org/drawingml/2006/main">
            <a:off x="53448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1D5C96"/>
                </a:solidFill>
                <a:latin typeface="Arial"/>
                <a:ea typeface="Arial"/>
              </a:rPr>
              <a:t>3</a:t>
            </a:r>
          </a:p>
        </p:txBody>
      </p:sp>
      <p:sp>
        <p:nvSpPr>
          <p:cNvPr id="100101" name="Fixed-27"/>
          <p:cNvSpPr/>
          <p:nvPr/>
        </p:nvSpPr>
        <p:spPr>
          <a:xfrm xmlns:a="http://schemas.openxmlformats.org/drawingml/2006/main">
            <a:off x="53448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1D5C96"/>
                </a:solidFill>
                <a:latin typeface="Arial"/>
                <a:ea typeface="Arial"/>
              </a:rPr>
              <a:t>Platform</a:t>
            </a:r>
          </a:p>
        </p:txBody>
      </p:sp>
      <p:sp>
        <p:nvSpPr>
          <p:cNvPr id="100102" name="Fixed-28"/>
          <p:cNvSpPr/>
          <p:nvPr/>
        </p:nvSpPr>
        <p:spPr>
          <a:xfrm xmlns:a="http://schemas.openxmlformats.org/drawingml/2006/main">
            <a:off x="53448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Audits the scenario: six phases, one log per run</a:t>
            </a:r>
          </a:p>
        </p:txBody>
      </p:sp>
      <p:sp>
        <p:nvSpPr>
          <p:cNvPr id="100103" name="Element-29"/>
          <p:cNvSpPr/>
          <p:nvPr/>
        </p:nvSpPr>
        <p:spPr>
          <a:xfrm xmlns:a="http://schemas.openxmlformats.org/drawingml/2006/main">
            <a:off x="7056000" y="2797200"/>
            <a:ext cx="266400" cy="21600"/>
          </a:xfrm>
          <a:prstGeom xmlns:a="http://schemas.openxmlformats.org/drawingml/2006/main" prst="rect">
            <a:avLst/>
          </a:prstGeom>
          <a:solidFill xmlns:a="http://schemas.openxmlformats.org/drawingml/2006/main">
            <a:srgbClr val="1D5C9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4" name="Element-30"/>
          <p:cNvSpPr/>
          <p:nvPr/>
        </p:nvSpPr>
        <p:spPr>
          <a:xfrm xmlns:a="http://schemas.openxmlformats.org/drawingml/2006/main">
            <a:off x="7351200" y="1908000"/>
            <a:ext cx="1862400" cy="1800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5" name="Element-31"/>
          <p:cNvSpPr/>
          <p:nvPr/>
        </p:nvSpPr>
        <p:spPr>
          <a:xfrm xmlns:a="http://schemas.openxmlformats.org/drawingml/2006/main">
            <a:off x="7351200" y="1908000"/>
            <a:ext cx="18624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6" name="Fixed-32"/>
          <p:cNvSpPr/>
          <p:nvPr/>
        </p:nvSpPr>
        <p:spPr>
          <a:xfrm xmlns:a="http://schemas.openxmlformats.org/drawingml/2006/main">
            <a:off x="75312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5C626C"/>
                </a:solidFill>
                <a:latin typeface="Arial"/>
                <a:ea typeface="Arial"/>
              </a:rPr>
              <a:t>4</a:t>
            </a:r>
          </a:p>
        </p:txBody>
      </p:sp>
      <p:sp>
        <p:nvSpPr>
          <p:cNvPr id="100107" name="Fixed-33"/>
          <p:cNvSpPr/>
          <p:nvPr/>
        </p:nvSpPr>
        <p:spPr>
          <a:xfrm xmlns:a="http://schemas.openxmlformats.org/drawingml/2006/main">
            <a:off x="75312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Evidence</a:t>
            </a:r>
          </a:p>
        </p:txBody>
      </p:sp>
      <p:sp>
        <p:nvSpPr>
          <p:cNvPr id="100108" name="Fixed-34"/>
          <p:cNvSpPr/>
          <p:nvPr/>
        </p:nvSpPr>
        <p:spPr>
          <a:xfrm xmlns:a="http://schemas.openxmlformats.org/drawingml/2006/main">
            <a:off x="75312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Observations and proofs saved as files for each run</a:t>
            </a:r>
          </a:p>
        </p:txBody>
      </p:sp>
      <p:sp>
        <p:nvSpPr>
          <p:cNvPr id="100109" name="Element-35"/>
          <p:cNvSpPr/>
          <p:nvPr/>
        </p:nvSpPr>
        <p:spPr>
          <a:xfrm xmlns:a="http://schemas.openxmlformats.org/drawingml/2006/main">
            <a:off x="9242400" y="2797200"/>
            <a:ext cx="266400" cy="216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0" name="Element-36"/>
          <p:cNvSpPr/>
          <p:nvPr/>
        </p:nvSpPr>
        <p:spPr>
          <a:xfrm xmlns:a="http://schemas.openxmlformats.org/drawingml/2006/main">
            <a:off x="9537600" y="1908000"/>
            <a:ext cx="1862400" cy="1800000"/>
          </a:xfrm>
          <a:prstGeom xmlns:a="http://schemas.openxmlformats.org/drawingml/2006/main" prst="rect">
            <a:avLst/>
          </a:prstGeom>
          <a:solidFill xmlns:a="http://schemas.openxmlformats.org/drawingml/2006/main">
            <a:srgbClr val="FCF0F4"/>
          </a:solidFill>
          <a:ln xmlns:a="http://schemas.openxmlformats.org/drawingml/2006/main" w="12700">
            <a:solidFill>
              <a:srgbClr val="B6003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1" name="Element-37"/>
          <p:cNvSpPr/>
          <p:nvPr/>
        </p:nvSpPr>
        <p:spPr>
          <a:xfrm xmlns:a="http://schemas.openxmlformats.org/drawingml/2006/main">
            <a:off x="9537600" y="1908000"/>
            <a:ext cx="1862400" cy="504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2" name="Fixed-38"/>
          <p:cNvSpPr/>
          <p:nvPr/>
        </p:nvSpPr>
        <p:spPr>
          <a:xfrm xmlns:a="http://schemas.openxmlformats.org/drawingml/2006/main">
            <a:off x="97176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B60036"/>
                </a:solidFill>
                <a:latin typeface="Arial"/>
                <a:ea typeface="Arial"/>
              </a:rPr>
              <a:t>5</a:t>
            </a:r>
          </a:p>
        </p:txBody>
      </p:sp>
      <p:sp>
        <p:nvSpPr>
          <p:cNvPr id="100113" name="Fixed-39"/>
          <p:cNvSpPr/>
          <p:nvPr/>
        </p:nvSpPr>
        <p:spPr>
          <a:xfrm xmlns:a="http://schemas.openxmlformats.org/drawingml/2006/main">
            <a:off x="97176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B60036"/>
                </a:solidFill>
                <a:latin typeface="Arial"/>
                <a:ea typeface="Arial"/>
              </a:rPr>
              <a:t>Benchmark</a:t>
            </a:r>
          </a:p>
        </p:txBody>
      </p:sp>
      <p:sp>
        <p:nvSpPr>
          <p:cNvPr id="100114" name="Fixed-40"/>
          <p:cNvSpPr/>
          <p:nvPr/>
        </p:nvSpPr>
        <p:spPr>
          <a:xfrm xmlns:a="http://schemas.openxmlformats.org/drawingml/2006/main">
            <a:off x="97176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Compares findings with the truth: precision, recall, F1</a:t>
            </a:r>
          </a:p>
        </p:txBody>
      </p:sp>
      <p:sp>
        <p:nvSpPr>
          <p:cNvPr id="100115" name="Element-41"/>
          <p:cNvSpPr/>
          <p:nvPr/>
        </p:nvSpPr>
        <p:spPr>
          <a:xfrm xmlns:a="http://schemas.openxmlformats.org/drawingml/2006/main">
            <a:off x="1714200" y="3726000"/>
            <a:ext cx="18000" cy="28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6" name="Element-42"/>
          <p:cNvSpPr/>
          <p:nvPr/>
        </p:nvSpPr>
        <p:spPr>
          <a:xfrm xmlns:a="http://schemas.openxmlformats.org/drawingml/2006/main">
            <a:off x="10459800" y="3726000"/>
            <a:ext cx="18000" cy="28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7" name="Element-43"/>
          <p:cNvSpPr/>
          <p:nvPr/>
        </p:nvSpPr>
        <p:spPr>
          <a:xfrm xmlns:a="http://schemas.openxmlformats.org/drawingml/2006/main">
            <a:off x="1723200" y="4014000"/>
            <a:ext cx="8745600" cy="1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8" name="Fixed-44"/>
          <p:cNvSpPr/>
          <p:nvPr/>
        </p:nvSpPr>
        <p:spPr>
          <a:xfrm xmlns:a="http://schemas.openxmlformats.org/drawingml/2006/main">
            <a:off x="792000" y="4104000"/>
            <a:ext cx="10608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600" b="1" i="0">
                <a:solidFill>
                  <a:srgbClr val="B60036"/>
                </a:solidFill>
                <a:latin typeface="Arial"/>
                <a:ea typeface="Arial"/>
              </a:rPr>
              <a:t>A result counts only against the planted truth; it never confirms the model's own conclusion.</a:t>
            </a:r>
          </a:p>
        </p:txBody>
      </p:sp>
      <p:sp>
        <p:nvSpPr>
          <p:cNvPr id="100119" name="Element-45"/>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20" name="Caption-5"/>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The score is computed against the planted truth, not against the platform's own conclusion.</a:t>
            </a:r>
          </a:p>
        </p:txBody>
      </p:sp>
      <p:sp>
        <p:nvSpPr>
          <p:cNvPr id="100121" name="Fixed-47"/>
          <p:cNvSpPr/>
          <p:nvPr/>
        </p:nvSpPr>
        <p:spPr>
          <a:xfrm xmlns:a="http://schemas.openxmlformats.org/drawingml/2006/main">
            <a:off x="792000" y="61128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Precision, recall and F1 are recomputed from each run's log.</a:t>
            </a:r>
          </a:p>
        </p:txBody>
      </p:sp>
      <p:sp>
        <p:nvSpPr>
          <p:cNvPr id="100122" name="Fixed-48"/>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123" name="Fixed-49"/>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5</a:t>
            </a:r>
          </a:p>
        </p:txBody>
      </p:sp>
    </p:spTree>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124"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e94dd4ad7e414654"/>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125"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126"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Method</a:t>
            </a:r>
          </a:p>
        </p:txBody>
      </p:sp>
      <p:sp>
        <p:nvSpPr>
          <p:cNvPr id="100127" name="Element-6"/>
          <p:cNvSpPr/>
          <p:nvPr/>
        </p:nvSpPr>
        <p:spPr>
          <a:xfrm xmlns:a="http://schemas.openxmlformats.org/drawingml/2006/main">
            <a:off x="25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28"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129"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130"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Next steps</a:t>
            </a:r>
          </a:p>
        </p:txBody>
      </p:sp>
      <p:sp>
        <p:nvSpPr>
          <p:cNvPr id="100131"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What constitutes a finding</a:t>
            </a:r>
          </a:p>
        </p:txBody>
      </p:sp>
      <p:sp>
        <p:nvSpPr>
          <p:cNvPr id="100132"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33" name="Element-12"/>
          <p:cNvSpPr/>
          <p:nvPr/>
        </p:nvSpPr>
        <p:spPr>
          <a:xfrm xmlns:a="http://schemas.openxmlformats.org/drawingml/2006/main">
            <a:off x="792000" y="1746000"/>
            <a:ext cx="5203200" cy="259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34" name="Element-13"/>
          <p:cNvSpPr/>
          <p:nvPr/>
        </p:nvSpPr>
        <p:spPr>
          <a:xfrm xmlns:a="http://schemas.openxmlformats.org/drawingml/2006/main">
            <a:off x="792000" y="1746000"/>
            <a:ext cx="5203200" cy="504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35" name="Fixed-14"/>
          <p:cNvSpPr/>
          <p:nvPr/>
        </p:nvSpPr>
        <p:spPr>
          <a:xfrm xmlns:a="http://schemas.openxmlformats.org/drawingml/2006/main">
            <a:off x="1080000" y="1998000"/>
            <a:ext cx="46272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1" i="0">
                <a:solidFill>
                  <a:srgbClr val="5C626C"/>
                </a:solidFill>
                <a:latin typeface="Arial"/>
                <a:ea typeface="Arial"/>
              </a:rPr>
              <a:t>Healthy network</a:t>
            </a:r>
          </a:p>
        </p:txBody>
      </p:sp>
      <p:sp>
        <p:nvSpPr>
          <p:cNvPr id="100136" name="Fixed-15"/>
          <p:cNvSpPr/>
          <p:nvPr/>
        </p:nvSpPr>
        <p:spPr>
          <a:xfrm xmlns:a="http://schemas.openxmlformats.org/drawingml/2006/main">
            <a:off x="1080000" y="2358000"/>
            <a:ext cx="462720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800" b="1" i="0">
                <a:solidFill>
                  <a:srgbClr val="B60036"/>
                </a:solidFill>
                <a:latin typeface="Arial"/>
                <a:ea typeface="Arial"/>
              </a:rPr>
              <a:t>✕  Error</a:t>
            </a:r>
          </a:p>
        </p:txBody>
      </p:sp>
      <p:sp>
        <p:nvSpPr>
          <p:cNvPr id="100137" name="Element-16"/>
          <p:cNvSpPr/>
          <p:nvPr/>
        </p:nvSpPr>
        <p:spPr>
          <a:xfrm xmlns:a="http://schemas.openxmlformats.org/drawingml/2006/main">
            <a:off x="1080000" y="2934000"/>
            <a:ext cx="46272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5C626C"/>
                </a:solidFill>
                <a:latin typeface="Arial"/>
                <a:ea typeface="Arial"/>
              </a:rPr>
              <a:t>Any finding reported here is an error.</a:t>
            </a:r>
          </a:p>
        </p:txBody>
      </p:sp>
      <p:sp>
        <p:nvSpPr>
          <p:cNvPr id="100138" name="Element-17"/>
          <p:cNvSpPr/>
          <p:nvPr/>
        </p:nvSpPr>
        <p:spPr>
          <a:xfrm xmlns:a="http://schemas.openxmlformats.org/drawingml/2006/main">
            <a:off x="6196800" y="1746000"/>
            <a:ext cx="5203200" cy="2592000"/>
          </a:xfrm>
          <a:prstGeom xmlns:a="http://schemas.openxmlformats.org/drawingml/2006/main" prst="rect">
            <a:avLst/>
          </a:prstGeom>
          <a:solidFill xmlns:a="http://schemas.openxmlformats.org/drawingml/2006/main">
            <a:srgbClr val="EFF6FC"/>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39" name="Element-18"/>
          <p:cNvSpPr/>
          <p:nvPr/>
        </p:nvSpPr>
        <p:spPr>
          <a:xfrm xmlns:a="http://schemas.openxmlformats.org/drawingml/2006/main">
            <a:off x="6196800" y="1746000"/>
            <a:ext cx="5203200" cy="50400"/>
          </a:xfrm>
          <a:prstGeom xmlns:a="http://schemas.openxmlformats.org/drawingml/2006/main" prst="rect">
            <a:avLst/>
          </a:prstGeom>
          <a:solidFill xmlns:a="http://schemas.openxmlformats.org/drawingml/2006/main">
            <a:srgbClr val="2E7D5B"/>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40" name="Fixed-19"/>
          <p:cNvSpPr/>
          <p:nvPr/>
        </p:nvSpPr>
        <p:spPr>
          <a:xfrm xmlns:a="http://schemas.openxmlformats.org/drawingml/2006/main">
            <a:off x="6484800" y="1998000"/>
            <a:ext cx="46272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1" i="0">
                <a:solidFill>
                  <a:srgbClr val="5C626C"/>
                </a:solidFill>
                <a:latin typeface="Arial"/>
                <a:ea typeface="Arial"/>
              </a:rPr>
              <a:t>Vulnerable network</a:t>
            </a:r>
          </a:p>
        </p:txBody>
      </p:sp>
      <p:sp>
        <p:nvSpPr>
          <p:cNvPr id="100141" name="Fixed-20"/>
          <p:cNvSpPr/>
          <p:nvPr/>
        </p:nvSpPr>
        <p:spPr>
          <a:xfrm xmlns:a="http://schemas.openxmlformats.org/drawingml/2006/main">
            <a:off x="6484800" y="2358000"/>
            <a:ext cx="462720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800" b="1" i="0">
                <a:solidFill>
                  <a:srgbClr val="2E7D5B"/>
                </a:solidFill>
                <a:latin typeface="Arial"/>
                <a:ea typeface="Arial"/>
              </a:rPr>
              <a:t>✓  Finding</a:t>
            </a:r>
          </a:p>
        </p:txBody>
      </p:sp>
      <p:sp>
        <p:nvSpPr>
          <p:cNvPr id="100142" name="Element-21"/>
          <p:cNvSpPr/>
          <p:nvPr/>
        </p:nvSpPr>
        <p:spPr>
          <a:xfrm xmlns:a="http://schemas.openxmlformats.org/drawingml/2006/main">
            <a:off x="6484800" y="2934000"/>
            <a:ext cx="46272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5C626C"/>
                </a:solidFill>
                <a:latin typeface="Arial"/>
                <a:ea typeface="Arial"/>
              </a:rPr>
              <a:t>Recomputed from the log before it counts.</a:t>
            </a:r>
          </a:p>
        </p:txBody>
      </p:sp>
      <p:sp>
        <p:nvSpPr>
          <p:cNvPr id="100143" name="Element-22"/>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44" name="Caption-6"/>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The finding is recomputed from the log; the conclusion is never taken on trust.</a:t>
            </a:r>
          </a:p>
        </p:txBody>
      </p:sp>
      <p:sp>
        <p:nvSpPr>
          <p:cNvPr id="100145" name="Fixed-24"/>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146" name="Fixed-25"/>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6</a:t>
            </a:r>
          </a:p>
        </p:txBody>
      </p:sp>
    </p:spTree>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147"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a4d753c0bb93467a"/>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148"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149"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Method</a:t>
            </a:r>
          </a:p>
        </p:txBody>
      </p:sp>
      <p:sp>
        <p:nvSpPr>
          <p:cNvPr id="100150"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Control</a:t>
            </a:r>
          </a:p>
        </p:txBody>
      </p:sp>
      <p:sp>
        <p:nvSpPr>
          <p:cNvPr id="100151" name="Element-7"/>
          <p:cNvSpPr/>
          <p:nvPr/>
        </p:nvSpPr>
        <p:spPr>
          <a:xfrm xmlns:a="http://schemas.openxmlformats.org/drawingml/2006/main">
            <a:off x="43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52"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153"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Next steps</a:t>
            </a:r>
          </a:p>
        </p:txBody>
      </p:sp>
      <p:sp>
        <p:nvSpPr>
          <p:cNvPr id="100154"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A control task before testing the model</a:t>
            </a:r>
          </a:p>
        </p:txBody>
      </p:sp>
      <p:sp>
        <p:nvSpPr>
          <p:cNvPr id="100155"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56" name="Fixed-12"/>
          <p:cNvSpPr/>
          <p:nvPr/>
        </p:nvSpPr>
        <p:spPr>
          <a:xfrm xmlns:a="http://schemas.openxmlformats.org/drawingml/2006/main">
            <a:off x="792000" y="1602000"/>
            <a:ext cx="10608000" cy="52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700" b="0" i="0">
                <a:solidFill>
                  <a:srgbClr val="5C626C"/>
                </a:solidFill>
                <a:latin typeface="Arial"/>
                <a:ea typeface="Arial"/>
              </a:rPr>
              <a:t>V0 is a control task, simple enough to be solved without inference. Both approaches must pass it.</a:t>
            </a:r>
          </a:p>
        </p:txBody>
      </p:sp>
      <p:sp>
        <p:nvSpPr>
          <p:cNvPr id="100157" name="Element-13"/>
          <p:cNvSpPr/>
          <p:nvPr/>
        </p:nvSpPr>
        <p:spPr>
          <a:xfrm xmlns:a="http://schemas.openxmlformats.org/drawingml/2006/main">
            <a:off x="792000" y="2592000"/>
            <a:ext cx="2500800" cy="187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58" name="Element-14"/>
          <p:cNvSpPr/>
          <p:nvPr/>
        </p:nvSpPr>
        <p:spPr>
          <a:xfrm xmlns:a="http://schemas.openxmlformats.org/drawingml/2006/main">
            <a:off x="792000" y="2592000"/>
            <a:ext cx="25008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59" name="Fixed-15"/>
          <p:cNvSpPr/>
          <p:nvPr/>
        </p:nvSpPr>
        <p:spPr>
          <a:xfrm xmlns:a="http://schemas.openxmlformats.org/drawingml/2006/main">
            <a:off x="1008000" y="2808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5C626C"/>
                </a:solidFill>
                <a:latin typeface="Arial"/>
                <a:ea typeface="Arial"/>
              </a:rPr>
              <a:t>1</a:t>
            </a:r>
          </a:p>
        </p:txBody>
      </p:sp>
      <p:sp>
        <p:nvSpPr>
          <p:cNvPr id="100160" name="Element-16"/>
          <p:cNvSpPr/>
          <p:nvPr/>
        </p:nvSpPr>
        <p:spPr>
          <a:xfrm xmlns:a="http://schemas.openxmlformats.org/drawingml/2006/main">
            <a:off x="1008000" y="3204000"/>
            <a:ext cx="20688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1" i="0">
                <a:solidFill>
                  <a:srgbClr val="20252D"/>
                </a:solidFill>
                <a:latin typeface="Arial"/>
                <a:ea typeface="Arial"/>
              </a:rPr>
              <a:t>Script passes</a:t>
            </a:r>
          </a:p>
        </p:txBody>
      </p:sp>
      <p:sp>
        <p:nvSpPr>
          <p:cNvPr id="100161" name="Element-17"/>
          <p:cNvSpPr/>
          <p:nvPr/>
        </p:nvSpPr>
        <p:spPr>
          <a:xfrm xmlns:a="http://schemas.openxmlformats.org/drawingml/2006/main">
            <a:off x="3494400" y="2592000"/>
            <a:ext cx="2500800" cy="187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62" name="Element-18"/>
          <p:cNvSpPr/>
          <p:nvPr/>
        </p:nvSpPr>
        <p:spPr>
          <a:xfrm xmlns:a="http://schemas.openxmlformats.org/drawingml/2006/main">
            <a:off x="3494400" y="2592000"/>
            <a:ext cx="25008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63" name="Fixed-19"/>
          <p:cNvSpPr/>
          <p:nvPr/>
        </p:nvSpPr>
        <p:spPr>
          <a:xfrm xmlns:a="http://schemas.openxmlformats.org/drawingml/2006/main">
            <a:off x="3710400" y="2808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5C626C"/>
                </a:solidFill>
                <a:latin typeface="Arial"/>
                <a:ea typeface="Arial"/>
              </a:rPr>
              <a:t>2</a:t>
            </a:r>
          </a:p>
        </p:txBody>
      </p:sp>
      <p:sp>
        <p:nvSpPr>
          <p:cNvPr id="100164" name="Element-20"/>
          <p:cNvSpPr/>
          <p:nvPr/>
        </p:nvSpPr>
        <p:spPr>
          <a:xfrm xmlns:a="http://schemas.openxmlformats.org/drawingml/2006/main">
            <a:off x="3710400" y="3204000"/>
            <a:ext cx="20688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1" i="0">
                <a:solidFill>
                  <a:srgbClr val="20252D"/>
                </a:solidFill>
                <a:latin typeface="Arial"/>
                <a:ea typeface="Arial"/>
              </a:rPr>
              <a:t>Model passes</a:t>
            </a:r>
          </a:p>
        </p:txBody>
      </p:sp>
      <p:sp>
        <p:nvSpPr>
          <p:cNvPr id="100165" name="Element-21"/>
          <p:cNvSpPr/>
          <p:nvPr/>
        </p:nvSpPr>
        <p:spPr>
          <a:xfrm xmlns:a="http://schemas.openxmlformats.org/drawingml/2006/main">
            <a:off x="6196800" y="2592000"/>
            <a:ext cx="5203200" cy="1872000"/>
          </a:xfrm>
          <a:prstGeom xmlns:a="http://schemas.openxmlformats.org/drawingml/2006/main" prst="rect">
            <a:avLst/>
          </a:prstGeom>
          <a:solidFill xmlns:a="http://schemas.openxmlformats.org/drawingml/2006/main">
            <a:srgbClr val="EFF6FC"/>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66" name="Element-22"/>
          <p:cNvSpPr/>
          <p:nvPr/>
        </p:nvSpPr>
        <p:spPr>
          <a:xfrm xmlns:a="http://schemas.openxmlformats.org/drawingml/2006/main">
            <a:off x="6196800" y="2592000"/>
            <a:ext cx="5203200" cy="50400"/>
          </a:xfrm>
          <a:prstGeom xmlns:a="http://schemas.openxmlformats.org/drawingml/2006/main" prst="rect">
            <a:avLst/>
          </a:prstGeom>
          <a:solidFill xmlns:a="http://schemas.openxmlformats.org/drawingml/2006/main">
            <a:srgbClr val="2E7D5B"/>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67" name="Fixed-23"/>
          <p:cNvSpPr/>
          <p:nvPr/>
        </p:nvSpPr>
        <p:spPr>
          <a:xfrm xmlns:a="http://schemas.openxmlformats.org/drawingml/2006/main">
            <a:off x="6484800" y="2808000"/>
            <a:ext cx="46272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5C626C"/>
                </a:solidFill>
                <a:latin typeface="Arial"/>
                <a:ea typeface="Arial"/>
              </a:rPr>
              <a:t>Both checks pass</a:t>
            </a:r>
          </a:p>
        </p:txBody>
      </p:sp>
      <p:sp>
        <p:nvSpPr>
          <p:cNvPr id="100168" name="Element-24"/>
          <p:cNvSpPr/>
          <p:nvPr/>
        </p:nvSpPr>
        <p:spPr>
          <a:xfrm xmlns:a="http://schemas.openxmlformats.org/drawingml/2006/main">
            <a:off x="6484800" y="3204000"/>
            <a:ext cx="46272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750" b="1" i="0">
                <a:solidFill>
                  <a:srgbClr val="2E7D5B"/>
                </a:solidFill>
                <a:latin typeface="Arial"/>
                <a:ea typeface="Arial"/>
              </a:rPr>
              <a:t>Both pass: the hypotheses may be read.</a:t>
            </a:r>
          </a:p>
        </p:txBody>
      </p:sp>
      <p:sp>
        <p:nvSpPr>
          <p:cNvPr id="100169" name="Element-25"/>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70" name="Caption-7"/>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Only a control that both approaches pass permits the hypotheses to be read.</a:t>
            </a:r>
          </a:p>
        </p:txBody>
      </p:sp>
      <p:sp>
        <p:nvSpPr>
          <p:cNvPr id="100171" name="Fixed-27"/>
          <p:cNvSpPr/>
          <p:nvPr/>
        </p:nvSpPr>
        <p:spPr>
          <a:xfrm xmlns:a="http://schemas.openxmlformats.org/drawingml/2006/main">
            <a:off x="792000" y="61128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Calibration passed on the lab network (3 of 3 runs per arm). The held-out instance remains outstanding.</a:t>
            </a:r>
          </a:p>
        </p:txBody>
      </p:sp>
      <p:sp>
        <p:nvSpPr>
          <p:cNvPr id="100172" name="Fixed-28"/>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173" name="Fixed-29"/>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7</a:t>
            </a:r>
          </a:p>
        </p:txBody>
      </p:sp>
    </p:spTree>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174"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f75be0fd73aa41ab"/>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175"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176"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Method</a:t>
            </a:r>
          </a:p>
        </p:txBody>
      </p:sp>
      <p:sp>
        <p:nvSpPr>
          <p:cNvPr id="100177"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178" name="Fixed-7"/>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Hypotheses</a:t>
            </a:r>
          </a:p>
        </p:txBody>
      </p:sp>
      <p:sp>
        <p:nvSpPr>
          <p:cNvPr id="100179" name="Element-8"/>
          <p:cNvSpPr/>
          <p:nvPr/>
        </p:nvSpPr>
        <p:spPr>
          <a:xfrm xmlns:a="http://schemas.openxmlformats.org/drawingml/2006/main">
            <a:off x="61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80"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Next steps</a:t>
            </a:r>
          </a:p>
        </p:txBody>
      </p:sp>
      <p:sp>
        <p:nvSpPr>
          <p:cNvPr id="100181"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The objective restated as hypotheses</a:t>
            </a:r>
          </a:p>
        </p:txBody>
      </p:sp>
      <p:sp>
        <p:nvSpPr>
          <p:cNvPr id="100182"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83" name="Fixed-12"/>
          <p:cNvSpPr/>
          <p:nvPr/>
        </p:nvSpPr>
        <p:spPr>
          <a:xfrm xmlns:a="http://schemas.openxmlformats.org/drawingml/2006/main">
            <a:off x="792000" y="1602000"/>
            <a:ext cx="10608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5C626C"/>
                </a:solidFill>
                <a:latin typeface="Arial"/>
                <a:ea typeface="Arial"/>
              </a:rPr>
              <a:t>The register is this list: each hypothesis, with the test that decides it.</a:t>
            </a:r>
          </a:p>
        </p:txBody>
      </p:sp>
      <p:sp>
        <p:nvSpPr>
          <p:cNvPr id="100184" name="Fixed-13"/>
          <p:cNvSpPr/>
          <p:nvPr/>
        </p:nvSpPr>
        <p:spPr>
          <a:xfrm xmlns:a="http://schemas.openxmlformats.org/drawingml/2006/main">
            <a:off x="792000" y="20880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H1</a:t>
            </a:r>
          </a:p>
        </p:txBody>
      </p:sp>
      <p:sp>
        <p:nvSpPr>
          <p:cNvPr id="100185" name="Fixed-14"/>
          <p:cNvSpPr/>
          <p:nvPr/>
        </p:nvSpPr>
        <p:spPr>
          <a:xfrm xmlns:a="http://schemas.openxmlformats.org/drawingml/2006/main">
            <a:off x="1512000" y="2088000"/>
            <a:ext cx="3204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Connected devices</a:t>
            </a:r>
          </a:p>
        </p:txBody>
      </p:sp>
      <p:sp>
        <p:nvSpPr>
          <p:cNvPr id="100186" name="Fixed-15"/>
          <p:cNvSpPr/>
          <p:nvPr/>
        </p:nvSpPr>
        <p:spPr>
          <a:xfrm xmlns:a="http://schemas.openxmlformats.org/drawingml/2006/main">
            <a:off x="4824000" y="2088000"/>
            <a:ext cx="6576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0" i="0">
                <a:solidFill>
                  <a:srgbClr val="5C626C"/>
                </a:solidFill>
                <a:latin typeface="Arial"/>
                <a:ea typeface="Arial"/>
              </a:rPr>
              <a:t>a link absent from public inputs</a:t>
            </a:r>
          </a:p>
        </p:txBody>
      </p:sp>
      <p:sp>
        <p:nvSpPr>
          <p:cNvPr id="100187" name="Element-16"/>
          <p:cNvSpPr/>
          <p:nvPr/>
        </p:nvSpPr>
        <p:spPr>
          <a:xfrm xmlns:a="http://schemas.openxmlformats.org/drawingml/2006/main">
            <a:off x="792000" y="25488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88" name="Fixed-17"/>
          <p:cNvSpPr/>
          <p:nvPr/>
        </p:nvSpPr>
        <p:spPr>
          <a:xfrm xmlns:a="http://schemas.openxmlformats.org/drawingml/2006/main">
            <a:off x="792000" y="25920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H2</a:t>
            </a:r>
          </a:p>
        </p:txBody>
      </p:sp>
      <p:sp>
        <p:nvSpPr>
          <p:cNvPr id="100189" name="Fixed-18"/>
          <p:cNvSpPr/>
          <p:nvPr/>
        </p:nvSpPr>
        <p:spPr>
          <a:xfrm xmlns:a="http://schemas.openxmlformats.org/drawingml/2006/main">
            <a:off x="1512000" y="2592000"/>
            <a:ext cx="3204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Heterogeneous formats</a:t>
            </a:r>
          </a:p>
        </p:txBody>
      </p:sp>
      <p:sp>
        <p:nvSpPr>
          <p:cNvPr id="100190" name="Fixed-19"/>
          <p:cNvSpPr/>
          <p:nvPr/>
        </p:nvSpPr>
        <p:spPr>
          <a:xfrm xmlns:a="http://schemas.openxmlformats.org/drawingml/2006/main">
            <a:off x="4824000" y="2592000"/>
            <a:ext cx="6576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0" i="0">
                <a:solidFill>
                  <a:srgbClr val="5C626C"/>
                </a:solidFill>
                <a:latin typeface="Arial"/>
                <a:ea typeface="Arial"/>
              </a:rPr>
              <a:t>a representation no parser covers</a:t>
            </a:r>
          </a:p>
        </p:txBody>
      </p:sp>
      <p:sp>
        <p:nvSpPr>
          <p:cNvPr id="100191" name="Element-20"/>
          <p:cNvSpPr/>
          <p:nvPr/>
        </p:nvSpPr>
        <p:spPr>
          <a:xfrm xmlns:a="http://schemas.openxmlformats.org/drawingml/2006/main">
            <a:off x="792000" y="30528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92" name="Fixed-21"/>
          <p:cNvSpPr/>
          <p:nvPr/>
        </p:nvSpPr>
        <p:spPr>
          <a:xfrm xmlns:a="http://schemas.openxmlformats.org/drawingml/2006/main">
            <a:off x="792000" y="30960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H3</a:t>
            </a:r>
          </a:p>
        </p:txBody>
      </p:sp>
      <p:sp>
        <p:nvSpPr>
          <p:cNvPr id="100193" name="Fixed-22"/>
          <p:cNvSpPr/>
          <p:nvPr/>
        </p:nvSpPr>
        <p:spPr>
          <a:xfrm xmlns:a="http://schemas.openxmlformats.org/drawingml/2006/main">
            <a:off x="1512000" y="3096000"/>
            <a:ext cx="3204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Novel contracts</a:t>
            </a:r>
          </a:p>
        </p:txBody>
      </p:sp>
      <p:sp>
        <p:nvSpPr>
          <p:cNvPr id="100194" name="Fixed-23"/>
          <p:cNvSpPr/>
          <p:nvPr/>
        </p:nvSpPr>
        <p:spPr>
          <a:xfrm xmlns:a="http://schemas.openxmlformats.org/drawingml/2006/main">
            <a:off x="4824000" y="3096000"/>
            <a:ext cx="6576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0" i="0">
                <a:solidFill>
                  <a:srgbClr val="5C626C"/>
                </a:solidFill>
                <a:latin typeface="Arial"/>
                <a:ea typeface="Arial"/>
              </a:rPr>
              <a:t>rights stated in unseen documentation</a:t>
            </a:r>
          </a:p>
        </p:txBody>
      </p:sp>
      <p:sp>
        <p:nvSpPr>
          <p:cNvPr id="100195" name="Element-24"/>
          <p:cNvSpPr/>
          <p:nvPr/>
        </p:nvSpPr>
        <p:spPr>
          <a:xfrm xmlns:a="http://schemas.openxmlformats.org/drawingml/2006/main">
            <a:off x="792000" y="35568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96" name="Fixed-25"/>
          <p:cNvSpPr/>
          <p:nvPr/>
        </p:nvSpPr>
        <p:spPr>
          <a:xfrm xmlns:a="http://schemas.openxmlformats.org/drawingml/2006/main">
            <a:off x="792000" y="36000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H4</a:t>
            </a:r>
          </a:p>
        </p:txBody>
      </p:sp>
      <p:sp>
        <p:nvSpPr>
          <p:cNvPr id="100197" name="Fixed-26"/>
          <p:cNvSpPr/>
          <p:nvPr/>
        </p:nvSpPr>
        <p:spPr>
          <a:xfrm xmlns:a="http://schemas.openxmlformats.org/drawingml/2006/main">
            <a:off x="1512000" y="3600000"/>
            <a:ext cx="3204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Vendor semantics</a:t>
            </a:r>
          </a:p>
        </p:txBody>
      </p:sp>
      <p:sp>
        <p:nvSpPr>
          <p:cNvPr id="100198" name="Fixed-27"/>
          <p:cNvSpPr/>
          <p:nvPr/>
        </p:nvSpPr>
        <p:spPr>
          <a:xfrm xmlns:a="http://schemas.openxmlformats.org/drawingml/2006/main">
            <a:off x="4824000" y="3600000"/>
            <a:ext cx="6576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0" i="0">
                <a:solidFill>
                  <a:srgbClr val="5C626C"/>
                </a:solidFill>
                <a:latin typeface="Arial"/>
                <a:ea typeface="Arial"/>
              </a:rPr>
              <a:t>a field whose meaning is only documented</a:t>
            </a:r>
          </a:p>
        </p:txBody>
      </p:sp>
      <p:sp>
        <p:nvSpPr>
          <p:cNvPr id="100199" name="Element-28"/>
          <p:cNvSpPr/>
          <p:nvPr/>
        </p:nvSpPr>
        <p:spPr>
          <a:xfrm xmlns:a="http://schemas.openxmlformats.org/drawingml/2006/main">
            <a:off x="792000" y="40608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00" name="Fixed-29"/>
          <p:cNvSpPr/>
          <p:nvPr/>
        </p:nvSpPr>
        <p:spPr>
          <a:xfrm xmlns:a="http://schemas.openxmlformats.org/drawingml/2006/main">
            <a:off x="792000" y="41040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H5</a:t>
            </a:r>
          </a:p>
        </p:txBody>
      </p:sp>
      <p:sp>
        <p:nvSpPr>
          <p:cNvPr id="100201" name="Fixed-30"/>
          <p:cNvSpPr/>
          <p:nvPr/>
        </p:nvSpPr>
        <p:spPr>
          <a:xfrm xmlns:a="http://schemas.openxmlformats.org/drawingml/2006/main">
            <a:off x="1512000" y="4104000"/>
            <a:ext cx="3204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Ambiguous refusals</a:t>
            </a:r>
          </a:p>
        </p:txBody>
      </p:sp>
      <p:sp>
        <p:nvSpPr>
          <p:cNvPr id="100202" name="Fixed-31"/>
          <p:cNvSpPr/>
          <p:nvPr/>
        </p:nvSpPr>
        <p:spPr>
          <a:xfrm xmlns:a="http://schemas.openxmlformats.org/drawingml/2006/main">
            <a:off x="4824000" y="4104000"/>
            <a:ext cx="6576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0" i="0">
                <a:solidFill>
                  <a:srgbClr val="5C626C"/>
                </a:solidFill>
                <a:latin typeface="Arial"/>
                <a:ea typeface="Arial"/>
              </a:rPr>
              <a:t>resuming the audit after a refusal</a:t>
            </a:r>
          </a:p>
        </p:txBody>
      </p:sp>
      <p:sp>
        <p:nvSpPr>
          <p:cNvPr id="100203" name="Element-32"/>
          <p:cNvSpPr/>
          <p:nvPr/>
        </p:nvSpPr>
        <p:spPr>
          <a:xfrm xmlns:a="http://schemas.openxmlformats.org/drawingml/2006/main">
            <a:off x="792000" y="45648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04" name="Fixed-33"/>
          <p:cNvSpPr/>
          <p:nvPr/>
        </p:nvSpPr>
        <p:spPr>
          <a:xfrm xmlns:a="http://schemas.openxmlformats.org/drawingml/2006/main">
            <a:off x="792000" y="46080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B60036"/>
                </a:solidFill>
                <a:latin typeface="Arial"/>
                <a:ea typeface="Arial"/>
              </a:rPr>
              <a:t>H6</a:t>
            </a:r>
          </a:p>
        </p:txBody>
      </p:sp>
      <p:sp>
        <p:nvSpPr>
          <p:cNvPr id="100205" name="Fixed-34"/>
          <p:cNvSpPr/>
          <p:nvPr/>
        </p:nvSpPr>
        <p:spPr>
          <a:xfrm xmlns:a="http://schemas.openxmlformats.org/drawingml/2006/main">
            <a:off x="1512000" y="4608000"/>
            <a:ext cx="3204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B60036"/>
                </a:solidFill>
                <a:latin typeface="Arial"/>
                <a:ea typeface="Arial"/>
              </a:rPr>
              <a:t>Hostile content</a:t>
            </a:r>
          </a:p>
        </p:txBody>
      </p:sp>
      <p:sp>
        <p:nvSpPr>
          <p:cNvPr id="100206" name="Fixed-35"/>
          <p:cNvSpPr/>
          <p:nvPr/>
        </p:nvSpPr>
        <p:spPr>
          <a:xfrm xmlns:a="http://schemas.openxmlformats.org/drawingml/2006/main">
            <a:off x="4824000" y="4608000"/>
            <a:ext cx="6576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0" i="0">
                <a:solidFill>
                  <a:srgbClr val="5C626C"/>
                </a:solidFill>
                <a:latin typeface="Arial"/>
                <a:ea typeface="Arial"/>
              </a:rPr>
              <a:t>an instruction obeyed from observed content</a:t>
            </a:r>
          </a:p>
        </p:txBody>
      </p:sp>
      <p:sp>
        <p:nvSpPr>
          <p:cNvPr id="100207" name="Element-36"/>
          <p:cNvSpPr/>
          <p:nvPr/>
        </p:nvSpPr>
        <p:spPr>
          <a:xfrm xmlns:a="http://schemas.openxmlformats.org/drawingml/2006/main">
            <a:off x="792000" y="50688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08" name="Element-37"/>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09" name="Caption-8"/>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H1–H5 quantify a possible gain. H6 quantifies a risk.</a:t>
            </a:r>
          </a:p>
        </p:txBody>
      </p:sp>
      <p:sp>
        <p:nvSpPr>
          <p:cNvPr id="100210" name="Fixed-39"/>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211" name="Fixed-40"/>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8</a:t>
            </a:r>
          </a:p>
        </p:txBody>
      </p:sp>
    </p:spTree>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212"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ddc576ff0b634863"/>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213"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214"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Method</a:t>
            </a:r>
          </a:p>
        </p:txBody>
      </p:sp>
      <p:sp>
        <p:nvSpPr>
          <p:cNvPr id="100215"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216" name="Fixed-7"/>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217" name="Fixed-8"/>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Next steps</a:t>
            </a:r>
          </a:p>
        </p:txBody>
      </p:sp>
      <p:sp>
        <p:nvSpPr>
          <p:cNvPr id="100218" name="Element-9"/>
          <p:cNvSpPr/>
          <p:nvPr/>
        </p:nvSpPr>
        <p:spPr>
          <a:xfrm xmlns:a="http://schemas.openxmlformats.org/drawingml/2006/main">
            <a:off x="79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19"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Next steps</a:t>
            </a:r>
          </a:p>
        </p:txBody>
      </p:sp>
      <p:sp>
        <p:nvSpPr>
          <p:cNvPr id="100220"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21" name="Fixed-12"/>
          <p:cNvSpPr/>
          <p:nvPr/>
        </p:nvSpPr>
        <p:spPr>
          <a:xfrm xmlns:a="http://schemas.openxmlformats.org/drawingml/2006/main">
            <a:off x="792000" y="1782000"/>
            <a:ext cx="43200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1</a:t>
            </a:r>
          </a:p>
        </p:txBody>
      </p:sp>
      <p:sp>
        <p:nvSpPr>
          <p:cNvPr id="100222" name="Fixed-13"/>
          <p:cNvSpPr/>
          <p:nvPr/>
        </p:nvSpPr>
        <p:spPr>
          <a:xfrm xmlns:a="http://schemas.openxmlformats.org/drawingml/2006/main">
            <a:off x="1494000" y="1782000"/>
            <a:ext cx="625240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0" i="0">
                <a:solidFill>
                  <a:srgbClr val="20252D"/>
                </a:solidFill>
                <a:latin typeface="Arial"/>
                <a:ea typeface="Arial"/>
              </a:rPr>
              <a:t>Execute V0 on a held-out instance</a:t>
            </a:r>
          </a:p>
        </p:txBody>
      </p:sp>
      <p:sp>
        <p:nvSpPr>
          <p:cNvPr id="100223" name="Fixed-14"/>
          <p:cNvSpPr/>
          <p:nvPr/>
        </p:nvSpPr>
        <p:spPr>
          <a:xfrm xmlns:a="http://schemas.openxmlformats.org/drawingml/2006/main">
            <a:off x="792000" y="2646000"/>
            <a:ext cx="43200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2</a:t>
            </a:r>
          </a:p>
        </p:txBody>
      </p:sp>
      <p:sp>
        <p:nvSpPr>
          <p:cNvPr id="100224" name="Fixed-15"/>
          <p:cNvSpPr/>
          <p:nvPr/>
        </p:nvSpPr>
        <p:spPr>
          <a:xfrm xmlns:a="http://schemas.openxmlformats.org/drawingml/2006/main">
            <a:off x="1494000" y="2646000"/>
            <a:ext cx="625240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0" i="0">
                <a:solidFill>
                  <a:srgbClr val="20252D"/>
                </a:solidFill>
                <a:latin typeface="Arial"/>
                <a:ea typeface="Arial"/>
              </a:rPr>
              <a:t>Develop a parameterisable test harness</a:t>
            </a:r>
          </a:p>
        </p:txBody>
      </p:sp>
      <p:sp>
        <p:nvSpPr>
          <p:cNvPr id="100225" name="Fixed-16"/>
          <p:cNvSpPr/>
          <p:nvPr/>
        </p:nvSpPr>
        <p:spPr>
          <a:xfrm xmlns:a="http://schemas.openxmlformats.org/drawingml/2006/main">
            <a:off x="792000" y="3510000"/>
            <a:ext cx="43200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3</a:t>
            </a:r>
          </a:p>
        </p:txBody>
      </p:sp>
      <p:sp>
        <p:nvSpPr>
          <p:cNvPr id="100226" name="Fixed-17"/>
          <p:cNvSpPr/>
          <p:nvPr/>
        </p:nvSpPr>
        <p:spPr>
          <a:xfrm xmlns:a="http://schemas.openxmlformats.org/drawingml/2006/main">
            <a:off x="1494000" y="3510000"/>
            <a:ext cx="625240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0" i="0">
                <a:solidFill>
                  <a:srgbClr val="20252D"/>
                </a:solidFill>
                <a:latin typeface="Arial"/>
                <a:ea typeface="Arial"/>
              </a:rPr>
              <a:t>Build the scenario families for H2, H3 and H4</a:t>
            </a:r>
          </a:p>
        </p:txBody>
      </p:sp>
      <p:sp>
        <p:nvSpPr>
          <p:cNvPr id="100227" name="Fixed-18"/>
          <p:cNvSpPr/>
          <p:nvPr/>
        </p:nvSpPr>
        <p:spPr>
          <a:xfrm xmlns:a="http://schemas.openxmlformats.org/drawingml/2006/main">
            <a:off x="792000" y="4374000"/>
            <a:ext cx="43200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4</a:t>
            </a:r>
          </a:p>
        </p:txBody>
      </p:sp>
      <p:sp>
        <p:nvSpPr>
          <p:cNvPr id="100228" name="Fixed-19"/>
          <p:cNvSpPr/>
          <p:nvPr/>
        </p:nvSpPr>
        <p:spPr>
          <a:xfrm xmlns:a="http://schemas.openxmlformats.org/drawingml/2006/main">
            <a:off x="1494000" y="4374000"/>
            <a:ext cx="625240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0" i="0">
                <a:solidFill>
                  <a:srgbClr val="20252D"/>
                </a:solidFill>
                <a:latin typeface="Arial"/>
                <a:ea typeface="Arial"/>
              </a:rPr>
              <a:t>Deploy a reproducible platform</a:t>
            </a:r>
          </a:p>
        </p:txBody>
      </p:sp>
      <p:sp>
        <p:nvSpPr>
          <p:cNvPr id="100229" name="Element-20"/>
          <p:cNvSpPr/>
          <p:nvPr/>
        </p:nvSpPr>
        <p:spPr>
          <a:xfrm xmlns:a="http://schemas.openxmlformats.org/drawingml/2006/main">
            <a:off x="7998400" y="1782000"/>
            <a:ext cx="3401600" cy="2322000"/>
          </a:xfrm>
          <a:prstGeom xmlns:a="http://schemas.openxmlformats.org/drawingml/2006/main" prst="rect">
            <a:avLst/>
          </a:prstGeom>
          <a:solidFill xmlns:a="http://schemas.openxmlformats.org/drawingml/2006/main">
            <a:srgbClr val="FCF0F4"/>
          </a:solidFill>
          <a:ln xmlns:a="http://schemas.openxmlformats.org/drawingml/2006/main" w="12700">
            <a:solidFill>
              <a:srgbClr val="FCF0F4"/>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0" name="Element-21"/>
          <p:cNvSpPr/>
          <p:nvPr/>
        </p:nvSpPr>
        <p:spPr>
          <a:xfrm xmlns:a="http://schemas.openxmlformats.org/drawingml/2006/main">
            <a:off x="7998400" y="1782000"/>
            <a:ext cx="50400" cy="232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1" name="Fixed-22"/>
          <p:cNvSpPr/>
          <p:nvPr/>
        </p:nvSpPr>
        <p:spPr>
          <a:xfrm xmlns:a="http://schemas.openxmlformats.org/drawingml/2006/main">
            <a:off x="8304400" y="1879200"/>
            <a:ext cx="27896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700" b="1" i="0">
                <a:solidFill>
                  <a:srgbClr val="B60036"/>
                </a:solidFill>
                <a:latin typeface="Arial"/>
                <a:ea typeface="Arial"/>
              </a:rPr>
              <a:t>Support requested</a:t>
            </a:r>
          </a:p>
        </p:txBody>
      </p:sp>
      <p:sp>
        <p:nvSpPr>
          <p:cNvPr id="100232" name="Element-23"/>
          <p:cNvSpPr/>
          <p:nvPr/>
        </p:nvSpPr>
        <p:spPr>
          <a:xfrm xmlns:a="http://schemas.openxmlformats.org/drawingml/2006/main">
            <a:off x="8304400" y="2466000"/>
            <a:ext cx="162000" cy="396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3" name="Fixed-24"/>
          <p:cNvSpPr/>
          <p:nvPr/>
        </p:nvSpPr>
        <p:spPr>
          <a:xfrm xmlns:a="http://schemas.openxmlformats.org/drawingml/2006/main">
            <a:off x="8574400" y="2322000"/>
            <a:ext cx="271760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Access to real vendor artifacts</a:t>
            </a:r>
          </a:p>
        </p:txBody>
      </p:sp>
      <p:sp>
        <p:nvSpPr>
          <p:cNvPr id="100234" name="Element-25"/>
          <p:cNvSpPr/>
          <p:nvPr/>
        </p:nvSpPr>
        <p:spPr>
          <a:xfrm xmlns:a="http://schemas.openxmlformats.org/drawingml/2006/main">
            <a:off x="8304400" y="3348000"/>
            <a:ext cx="162000" cy="396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5" name="Fixed-26"/>
          <p:cNvSpPr/>
          <p:nvPr/>
        </p:nvSpPr>
        <p:spPr>
          <a:xfrm xmlns:a="http://schemas.openxmlformats.org/drawingml/2006/main">
            <a:off x="8574400" y="3204000"/>
            <a:ext cx="271760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An adversarial review of the register</a:t>
            </a:r>
          </a:p>
        </p:txBody>
      </p:sp>
      <p:sp>
        <p:nvSpPr>
          <p:cNvPr id="100236" name="Element-27"/>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7" name="Caption-9"/>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Order follows conditions, not dates.</a:t>
            </a:r>
          </a:p>
        </p:txBody>
      </p:sp>
      <p:sp>
        <p:nvSpPr>
          <p:cNvPr id="100238" name="Fixed-29"/>
          <p:cNvSpPr/>
          <p:nvPr/>
        </p:nvSpPr>
        <p:spPr>
          <a:xfrm xmlns:a="http://schemas.openxmlformats.org/drawingml/2006/main">
            <a:off x="792000" y="57816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Support line: AsiaCCS 2027 submission, 11 December 2026 (AoE).</a:t>
            </a:r>
          </a:p>
        </p:txBody>
      </p:sp>
      <p:sp>
        <p:nvSpPr>
          <p:cNvPr id="100239" name="Fixed-30"/>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240" name="Fixed-31"/>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9</a:t>
            </a:r>
          </a:p>
        </p:txBody>
      </p:sp>
    </p:spTree>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241"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18f6fe5e21da4efc"/>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242"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243"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Method</a:t>
            </a:r>
          </a:p>
        </p:txBody>
      </p:sp>
      <p:sp>
        <p:nvSpPr>
          <p:cNvPr id="100244"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245" name="Fixed-7"/>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246" name="Fixed-8"/>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Next steps</a:t>
            </a:r>
          </a:p>
        </p:txBody>
      </p:sp>
      <p:sp>
        <p:nvSpPr>
          <p:cNvPr id="100247" name="Element-9"/>
          <p:cNvSpPr/>
          <p:nvPr/>
        </p:nvSpPr>
        <p:spPr>
          <a:xfrm xmlns:a="http://schemas.openxmlformats.org/drawingml/2006/main">
            <a:off x="79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48"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Reserve — declared coverage gaps</a:t>
            </a:r>
          </a:p>
        </p:txBody>
      </p:sp>
      <p:sp>
        <p:nvSpPr>
          <p:cNvPr id="100249"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0" name="Element-12"/>
          <p:cNvSpPr/>
          <p:nvPr/>
        </p:nvSpPr>
        <p:spPr>
          <a:xfrm xmlns:a="http://schemas.openxmlformats.org/drawingml/2006/main">
            <a:off x="792000" y="1926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1" name="Fixed-13"/>
          <p:cNvSpPr/>
          <p:nvPr/>
        </p:nvSpPr>
        <p:spPr>
          <a:xfrm xmlns:a="http://schemas.openxmlformats.org/drawingml/2006/main">
            <a:off x="1170000" y="1818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Physical impact and functional safety</a:t>
            </a:r>
          </a:p>
        </p:txBody>
      </p:sp>
      <p:sp>
        <p:nvSpPr>
          <p:cNvPr id="100252" name="Element-14"/>
          <p:cNvSpPr/>
          <p:nvPr/>
        </p:nvSpPr>
        <p:spPr>
          <a:xfrm xmlns:a="http://schemas.openxmlformats.org/drawingml/2006/main">
            <a:off x="792000" y="2520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3" name="Element-15"/>
          <p:cNvSpPr/>
          <p:nvPr/>
        </p:nvSpPr>
        <p:spPr>
          <a:xfrm xmlns:a="http://schemas.openxmlformats.org/drawingml/2006/main">
            <a:off x="792000" y="2808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4" name="Fixed-16"/>
          <p:cNvSpPr/>
          <p:nvPr/>
        </p:nvSpPr>
        <p:spPr>
          <a:xfrm xmlns:a="http://schemas.openxmlformats.org/drawingml/2006/main">
            <a:off x="1170000" y="2700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Device fragility under probing</a:t>
            </a:r>
          </a:p>
        </p:txBody>
      </p:sp>
      <p:sp>
        <p:nvSpPr>
          <p:cNvPr id="100255" name="Element-17"/>
          <p:cNvSpPr/>
          <p:nvPr/>
        </p:nvSpPr>
        <p:spPr>
          <a:xfrm xmlns:a="http://schemas.openxmlformats.org/drawingml/2006/main">
            <a:off x="792000" y="3402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6" name="Element-18"/>
          <p:cNvSpPr/>
          <p:nvPr/>
        </p:nvSpPr>
        <p:spPr>
          <a:xfrm xmlns:a="http://schemas.openxmlformats.org/drawingml/2006/main">
            <a:off x="792000" y="3690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7" name="Fixed-19"/>
          <p:cNvSpPr/>
          <p:nvPr/>
        </p:nvSpPr>
        <p:spPr>
          <a:xfrm xmlns:a="http://schemas.openxmlformats.org/drawingml/2006/main">
            <a:off x="1170000" y="3582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Real fleet scale</a:t>
            </a:r>
          </a:p>
        </p:txBody>
      </p:sp>
      <p:sp>
        <p:nvSpPr>
          <p:cNvPr id="100258" name="Element-20"/>
          <p:cNvSpPr/>
          <p:nvPr/>
        </p:nvSpPr>
        <p:spPr>
          <a:xfrm xmlns:a="http://schemas.openxmlformats.org/drawingml/2006/main">
            <a:off x="792000" y="4284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9" name="Element-21"/>
          <p:cNvSpPr/>
          <p:nvPr/>
        </p:nvSpPr>
        <p:spPr>
          <a:xfrm xmlns:a="http://schemas.openxmlformats.org/drawingml/2006/main">
            <a:off x="792000" y="4572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0" name="Fixed-22"/>
          <p:cNvSpPr/>
          <p:nvPr/>
        </p:nvSpPr>
        <p:spPr>
          <a:xfrm xmlns:a="http://schemas.openxmlformats.org/drawingml/2006/main">
            <a:off x="1170000" y="4464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Proprietary industrial protocols that are not simulated</a:t>
            </a:r>
          </a:p>
        </p:txBody>
      </p:sp>
      <p:sp>
        <p:nvSpPr>
          <p:cNvPr id="100261" name="Element-23"/>
          <p:cNvSpPr/>
          <p:nvPr/>
        </p:nvSpPr>
        <p:spPr>
          <a:xfrm xmlns:a="http://schemas.openxmlformats.org/drawingml/2006/main">
            <a:off x="6384000" y="1926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2" name="Fixed-24"/>
          <p:cNvSpPr/>
          <p:nvPr/>
        </p:nvSpPr>
        <p:spPr>
          <a:xfrm xmlns:a="http://schemas.openxmlformats.org/drawingml/2006/main">
            <a:off x="6762000" y="1818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Complete multi-step exploitation chains</a:t>
            </a:r>
          </a:p>
        </p:txBody>
      </p:sp>
      <p:sp>
        <p:nvSpPr>
          <p:cNvPr id="100263" name="Element-25"/>
          <p:cNvSpPr/>
          <p:nvPr/>
        </p:nvSpPr>
        <p:spPr>
          <a:xfrm xmlns:a="http://schemas.openxmlformats.org/drawingml/2006/main">
            <a:off x="6384000" y="2520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4" name="Element-26"/>
          <p:cNvSpPr/>
          <p:nvPr/>
        </p:nvSpPr>
        <p:spPr>
          <a:xfrm xmlns:a="http://schemas.openxmlformats.org/drawingml/2006/main">
            <a:off x="6384000" y="3249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5" name="Fixed-27"/>
          <p:cNvSpPr/>
          <p:nvPr/>
        </p:nvSpPr>
        <p:spPr>
          <a:xfrm xmlns:a="http://schemas.openxmlformats.org/drawingml/2006/main">
            <a:off x="6762000" y="3141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Abstention and calibration</a:t>
            </a:r>
          </a:p>
        </p:txBody>
      </p:sp>
      <p:sp>
        <p:nvSpPr>
          <p:cNvPr id="100266" name="Element-28"/>
          <p:cNvSpPr/>
          <p:nvPr/>
        </p:nvSpPr>
        <p:spPr>
          <a:xfrm xmlns:a="http://schemas.openxmlformats.org/drawingml/2006/main">
            <a:off x="6384000" y="3843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7" name="Element-29"/>
          <p:cNvSpPr/>
          <p:nvPr/>
        </p:nvSpPr>
        <p:spPr>
          <a:xfrm xmlns:a="http://schemas.openxmlformats.org/drawingml/2006/main">
            <a:off x="6384000" y="4572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8" name="Fixed-30"/>
          <p:cNvSpPr/>
          <p:nvPr/>
        </p:nvSpPr>
        <p:spPr>
          <a:xfrm xmlns:a="http://schemas.openxmlformats.org/drawingml/2006/main">
            <a:off x="6762000" y="4464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Generic IT scenarios, deliberately excluded</a:t>
            </a:r>
          </a:p>
        </p:txBody>
      </p:sp>
      <p:sp>
        <p:nvSpPr>
          <p:cNvPr id="100269" name="Element-31"/>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70" name="Caption-10"/>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A benchmark that states its gaps is stronger than one that claims full coverage.</a:t>
            </a:r>
          </a:p>
        </p:txBody>
      </p:sp>
      <p:sp>
        <p:nvSpPr>
          <p:cNvPr id="100271" name="Fixed-33"/>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272" name="Fixed-34"/>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10</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OfficeCLI/1.0.158</ap:Application>
</ap:Properties>
</file>

<file path=docProps/core.xml><?xml version="1.0" encoding="utf-8"?>
<coreProperties xmlns:dc="http://purl.org/dc/elements/1.1/" xmlns:dcterms="http://purl.org/dc/terms/" xmlns:xsi="http://www.w3.org/2001/XMLSchema-instance" xmlns="http://schemas.openxmlformats.org/package/2006/metadata/core-properties">
  <dc:creator>Project LANCE</dc:creator>
  <dcterms:created xsi:type="dcterms:W3CDTF">2026-10-22T10:01:50.0000000Z</dcterms:created>
  <lastModifiedBy>OfficeCLI</lastModifiedBy>
  <dcterms:modified xsi:type="dcterms:W3CDTF">2026-10-22T10:01:50.8654710Z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1.0.158</vt:lpwstr>
  </op:property>
  <op:property fmtid="{D5CDD505-2E9C-101B-9397-08002B2CF9AE}" pid="3" name="OfficeCLI.LastModified">
    <vt:lpwstr xmlns:vt="http://schemas.openxmlformats.org/officeDocument/2006/docPropsVTypes">2026-10-22T10:01:57Z</vt:lpwstr>
  </op:property>
</op:Properties>
</file>